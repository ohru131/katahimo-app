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50" b="1" i="0">
                <a:solidFill>
                  <a:srgbClr val="7DD3FC"/>
                </a:solidFill>
                <a:latin typeface="Meiryo"/>
                <a:cs typeface="Meiryo"/>
                <a:ea typeface="Meiryo"/>
              </a:rPr>
              <a:t>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241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buNone/>
            </a:pPr>
            <a:r>
              <a:rPr sz="3800" b="1" i="0">
                <a:solidFill>
                  <a:srgbClr val="FFFFFF"/>
                </a:solidFill>
                <a:latin typeface="Meiryo"/>
                <a:cs typeface="Meiryo"/>
                <a:ea typeface="Meiryo"/>
              </a:rPr>
              <a:t>katahimo-app
アーキテクチャ説明資料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600" b="0" i="0">
                <a:solidFill>
                  <a:srgbClr val="CBD5E1"/>
                </a:solidFill>
                <a:latin typeface="Meiryo"/>
                <a:cs typeface="Meiryo"/>
                <a:ea typeface="Meiryo"/>
              </a:rPr>
              <a:t>訪問保育(ベビーシッター法人)向け業務SaaS — TypeScript / 9パッケージ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4681728"/>
            <a:ext cx="3749040" cy="0"/>
          </a:xfrm>
          <a:prstGeom prst="line">
            <a:avLst/>
          </a:prstGeom>
          <a:ln w="15240">
            <a:solidFill>
              <a:srgbClr val="4755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4864608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buNone/>
            </a:pPr>
            <a:r>
              <a:rPr sz="1250" b="0" i="0">
                <a:solidFill>
                  <a:srgbClr val="94A3B8"/>
                </a:solidFill>
                <a:latin typeface="Meiryo"/>
                <a:cs typeface="Meiryo"/>
                <a:ea typeface="Meiryo"/>
              </a:rPr>
              <a:t>アプリ全体の構成 ・ 判断の理由 ・ いまできていないこと
データベース設計は doc/slides/db-review.pptx を参照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この資料の目的と、基本の4語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はじめに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用語は本資料での説明を優先し、正確な定義はコードに委ねます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548640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8580" cy="132588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5272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この資料で説明すること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54480"/>
            <a:ext cx="5111496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どこに何が書いてあるか、なぜその置き方にしたか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現行のGoogle Apps Script版と、どう共存させているか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実装済み / コードはあるが未検証 / 未着手</a:t>
            </a: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の区別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143000"/>
            <a:ext cx="548640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143000"/>
            <a:ext cx="68580" cy="132588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25272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この資料で扱わないこと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554480"/>
            <a:ext cx="5111496" cy="822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テーブル設計の詳細(doc/slides/db-review.pptx のデータベース構造レビュー資料が担当)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1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画面のデザイン・操作手順(実物は公開デモで確認できます)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5176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本資料で使う4語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971800"/>
            <a:ext cx="2724912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971800"/>
            <a:ext cx="2724912" cy="41148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モノレポ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47472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1つのリポジトリに複数の部品を入れる作り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792" y="4041648"/>
            <a:ext cx="2395728" cy="0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1792" y="4133087"/>
            <a:ext cx="23957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9つの部品(パッケージ)が同じリポジトリに入っている。共通の型やロジックを、コピーせずに共有できる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0128" y="2971800"/>
            <a:ext cx="2724912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10128" y="2971800"/>
            <a:ext cx="2724912" cy="4114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ポート / アダプタ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47472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1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窓口と、外とつなぐ部品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474720" y="4041648"/>
            <a:ext cx="2395728" cy="0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474720" y="4133087"/>
            <a:ext cx="23957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業務ロジックはメールを送る窓口だけを知り、SendGridかGmailかは知らない。差し替えとテストがしやすくなる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3056" y="2971800"/>
            <a:ext cx="2724912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63056" y="2971800"/>
            <a:ext cx="2724912" cy="4114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ヘキサゴナル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347472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業務ロジックを中心に置き、外側を差し替え可能にする設計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327648" y="4041648"/>
            <a:ext cx="2395728" cy="0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327648" y="4133087"/>
            <a:ext cx="23957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データベースも外部APIも画面も、中心から見れば外側。依存の矢印は中心へ向かう一方通行になる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15984" y="2971800"/>
            <a:ext cx="2724912" cy="2377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15984" y="2971800"/>
            <a:ext cx="2724912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Outbox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0576" y="347472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10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送信予定をデータベースに書いておき、後で送る方式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180576" y="4041648"/>
            <a:ext cx="2395728" cy="0"/>
          </a:xfrm>
          <a:prstGeom prst="line">
            <a:avLst/>
          </a:prstGeom>
          <a:ln w="1270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180576" y="4133087"/>
            <a:ext cx="239572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スプレッドシートへの書き戻しに使う。送信が失敗しても、業務データの保存は完了できる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569204"/>
            <a:ext cx="11277295" cy="813307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569204"/>
            <a:ext cx="68580" cy="813307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660644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ポート / アダプタが中心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916676"/>
            <a:ext cx="1092982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ポート / アダプタは本資料の中心にある考え方です。この作りにした理由は、同じ業務ロジックを本番(Node.js + PostgreSQL)とブラウザ内デモ(ブラウザ内DB)でそのまま動かせるようにするためです(P16)。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 1 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全体像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何を作っているのか、いま何が動いているのか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何を、なぜ作り直しているか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背景と現在地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doc/proposal/tech-stack.md / doc/proposal/gas-bridge.md / README「実装状況」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3657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8580" cy="2286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52728"/>
            <a:ext cx="33284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現行:Google Apps Script 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54480"/>
            <a:ext cx="3282696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データはスプレッドシート / Drive / カレンダーに置く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1法人・1Googleアカウント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に強く依存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認証は共有ソルトのSHA-256。セッショントークンをシートに直書き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顧客CSVの取り込みが全置換(欠損時に丸ごと消えるリスク)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現場で本番稼働中。機能追加は凍結し、不具合修正のみ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68580" cy="22860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62272" y="1252728"/>
            <a:ext cx="33284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目指す先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1554480"/>
            <a:ext cx="3282696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マルチテナントSaaS化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。複数法人を1つの基盤に収容する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PostgreSQLを唯一の正データ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にし、スプレッドシートは互換維持のための「写し」として残す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将来の訪問看護事業への展開(カルテ・保存年限の管理)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一斉切り替えを避ける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:GAS版と併存しながら段階的に移す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143000"/>
            <a:ext cx="3685032" cy="2286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143000"/>
            <a:ext cx="68580" cy="22860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1252728"/>
            <a:ext cx="33558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規模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1554480"/>
            <a:ext cx="3310128" cy="17830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9パッケージ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(pnpm workspace)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TypeScript 248ファイル / 約32,900行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(テストを除く)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テスト 63ファイル / 842件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。CIで毎回実行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 44テーブル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/ マイグレーション6本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6118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実装の現状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886200"/>
            <a:ext cx="11277295" cy="530352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68580" cy="53035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0233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実装済み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950208"/>
            <a:ext cx="8351215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認証 / 顧客 / 日報・事故報告 / 領収書 / 勤怠(月次集計・カレンダー反映) / スタッフ管理 / RESERVA取込 / 割引クーポン / AIプロンプト文面の編集(版管理)・日報AIの3軸(年齢帯×教育関心度×ストレス度)まで接続 / 公開デモ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71416"/>
            <a:ext cx="11277295" cy="530352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471416"/>
            <a:ext cx="68580" cy="5303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6085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コードはあるが未検証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4535424"/>
            <a:ext cx="8351215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スプレッドシートへの書き戻し、メール送信(GASブリッジが未デプロイのため動作未確認)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056631"/>
            <a:ext cx="11277295" cy="530352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056631"/>
            <a:ext cx="68580" cy="53035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1937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スキーマのみ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5120640"/>
            <a:ext cx="8351215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予約 / 請求・決済 / 顧客カルテ / 訪問割当の最適化 / 移動手当は表と制約のみ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41847"/>
            <a:ext cx="11277295" cy="530352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641847"/>
            <a:ext cx="68580" cy="530352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5779007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未着手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5705855"/>
            <a:ext cx="8351215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本番デプロイ(Cloud Run) / Cloud KMS / 再暗号化バッチ / 実データでの並行運用の照合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未検証・未着手と書いたものは、提案書では実現済みのように読める部分です。ここで区別しておきます。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実行時の全体像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本番想定の配置。実線=リクエストを待つ呼び出し、破線=待たない処理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本番(Cloud Run + Cloud SQL)は未配備。現在はローカル開発と公開デモのみ稼働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22860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ブラウザ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React + Vite / PWA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スマホ主体 / HTTPS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188720"/>
            <a:ext cx="2651760" cy="91440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905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API サーバー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Hono / Node.js 22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Cloud Run(未配備)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188720"/>
            <a:ext cx="2560320" cy="914400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PostgreSQL</a:t>
            </a:r>
          </a:p>
          <a:p>
            <a:pPr algn="ctr">
              <a:lnSpc>
                <a:spcPct val="116000"/>
              </a:lnSpc>
              <a:buNone/>
            </a:pPr>
            <a:r>
              <a:rPr sz="100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唯一の正データ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Cloud SQL(未配備)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188720"/>
            <a:ext cx="2679192" cy="914400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Gemini API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日報の文章生成 / 領収書のOCR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2377440"/>
            <a:ext cx="2651760" cy="914400"/>
          </a:xfrm>
          <a:prstGeom prst="roundRect">
            <a:avLst>
              <a:gd name="adj" fmla="val 14000"/>
            </a:avLst>
          </a:prstGeom>
          <a:solidFill>
            <a:srgbClr val="FFEDD5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ミラーワーカー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outbox_jobs を定期的に処理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Cloud Run Job 想定(未配備)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377440"/>
            <a:ext cx="256032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GAS ブリッジ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既存のGAS Web App 1本</a:t>
            </a:r>
          </a:p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まだデプロイしていない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2377440"/>
            <a:ext cx="2679192" cy="9144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2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Drive / カレンダー / Gmail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566160"/>
            <a:ext cx="2560320" cy="566928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Google Chat(通知)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88920" y="1645920"/>
            <a:ext cx="274320" cy="0"/>
          </a:xfrm>
          <a:prstGeom prst="line">
            <a:avLst/>
          </a:prstGeom>
          <a:ln w="25400">
            <a:solidFill>
              <a:srgbClr val="0369A1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806440" y="1645920"/>
            <a:ext cx="274320" cy="0"/>
          </a:xfrm>
          <a:prstGeom prst="line">
            <a:avLst/>
          </a:prstGeom>
          <a:ln w="25400">
            <a:solidFill>
              <a:srgbClr val="047857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434840" y="1024128"/>
            <a:ext cx="0" cy="146304"/>
          </a:xfrm>
          <a:prstGeom prst="line">
            <a:avLst/>
          </a:prstGeom>
          <a:ln w="19050">
            <a:solidFill>
              <a:srgbClr val="6D28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434840" y="1024128"/>
            <a:ext cx="5943600" cy="0"/>
          </a:xfrm>
          <a:prstGeom prst="line">
            <a:avLst/>
          </a:prstGeom>
          <a:ln w="19050">
            <a:solidFill>
              <a:srgbClr val="6D28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378440" y="1024128"/>
            <a:ext cx="0" cy="128016"/>
          </a:xfrm>
          <a:prstGeom prst="line">
            <a:avLst/>
          </a:prstGeom>
          <a:ln w="19050">
            <a:solidFill>
              <a:srgbClr val="6D28D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06640" y="2139696"/>
            <a:ext cx="0" cy="109728"/>
          </a:xfrm>
          <a:prstGeom prst="line">
            <a:avLst/>
          </a:prstGeom>
          <a:ln w="19050">
            <a:solidFill>
              <a:srgbClr val="C2410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434840" y="2249424"/>
            <a:ext cx="2971800" cy="0"/>
          </a:xfrm>
          <a:prstGeom prst="line">
            <a:avLst/>
          </a:prstGeom>
          <a:ln w="19050">
            <a:solidFill>
              <a:srgbClr val="C2410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434840" y="2249424"/>
            <a:ext cx="0" cy="91440"/>
          </a:xfrm>
          <a:prstGeom prst="line">
            <a:avLst/>
          </a:prstGeom>
          <a:ln w="19050">
            <a:solidFill>
              <a:srgbClr val="C2410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806440" y="2834640"/>
            <a:ext cx="274320" cy="0"/>
          </a:xfrm>
          <a:prstGeom prst="line">
            <a:avLst/>
          </a:prstGeom>
          <a:ln w="20320">
            <a:solidFill>
              <a:srgbClr val="B45309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732520" y="2834640"/>
            <a:ext cx="274320" cy="0"/>
          </a:xfrm>
          <a:prstGeom prst="line">
            <a:avLst/>
          </a:prstGeom>
          <a:ln w="20320">
            <a:solidFill>
              <a:srgbClr val="B45309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23560" y="2121408"/>
            <a:ext cx="0" cy="1728216"/>
          </a:xfrm>
          <a:prstGeom prst="line">
            <a:avLst/>
          </a:prstGeom>
          <a:ln w="17780">
            <a:solidFill>
              <a:srgbClr val="64748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623560" y="3849624"/>
            <a:ext cx="457200" cy="0"/>
          </a:xfrm>
          <a:prstGeom prst="line">
            <a:avLst/>
          </a:prstGeom>
          <a:ln w="17780">
            <a:solidFill>
              <a:srgbClr val="64748B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08960" y="370332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  <a:buNone/>
            </a:pPr>
            <a:r>
              <a:rPr sz="9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APIから直接通知
(トランザクションの外)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43484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434840"/>
            <a:ext cx="68580" cy="12344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54456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この配置の狙い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4846320"/>
            <a:ext cx="5111496" cy="731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PostgreSQLが唯一の正データ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. スプレッドシートは写しで、止めるときはミラーの部品を外す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Google系の外部連携は既存のGASブリッジ1本に集約した(新規の課金・認証情報の準備を避けるため)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434840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5352" y="4434840"/>
            <a:ext cx="68580" cy="12344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28232" y="4526279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この配置の弱点(第4章の判断事項①)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2" y="4782312"/>
            <a:ext cx="5138928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メール・地図・予定・スプレッドシートの4系統がGASブリッジ1本に集中しています。実行時間制限とクォータがあり、SLAはなく、単一障害点です。まだデプロイしていません。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806440"/>
            <a:ext cx="11277295" cy="4572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888736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赤い注記はまだ存在しないもの。破線はリクエストの完了を待たずに後から動く処理。オレンジの破線がスプレッドシートへの書き戻し経路です。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採用した技術と、その理由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提案書から変更した点も併記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packages/*/package.json / doc/proposal/tech-stack.md 第2〜3章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70432"/>
          <a:ext cx="11277293" cy="4727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3930"/>
                <a:gridCol w="2977205"/>
                <a:gridCol w="4781573"/>
                <a:gridCol w="1894585"/>
              </a:tblGrid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領域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採用したもの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選んだ理由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備考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言語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TypeScript 5.7 / Node.js 22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画面もサーバーも同じ言語。型定義を共有できる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データベース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PostgreSQL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行レベルセキュリティ・排他制約など、必要な制約をDB側で強制できる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ORM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Drizzle ORM 0.45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テーブル定義をTypeScriptで書き、SQLとの型の食い違いを防ぐ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APIフレームワーク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Hono 4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軽量。Node.jsでもブラウザ内でも同じアプリを動かせる(デモで活用)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画面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React 18 + Vite + Tailwind CSS + PWA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スマホでの現場利用が主。ホーム画面に追加して使える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認証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自前実装(argon2id + Cookie)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GAS版の既存パスワードを移行できるようにするため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提案書のFirebase Authから変更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Gemini API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日報の文章生成・領収書のOCR。GAS版から継続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外部連携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既存のGAS Web App 経由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新規のGCP課金・認証情報を避け、実証済みロジックを再利用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本来はGoogle APIを直接呼ぶ想定だった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公開デモ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PGlite(ブラウザ内PostgreSQL)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本番と同一のスキーマ・業務ロジックをブラウザだけで動かす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実行基盤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Google Cloud(Cloud Run + Cloud SQL)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既存連携先がGoogle系のため単一クラウドに統合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未配備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検証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Vitest / Biome / GitHub Actions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毎pushで静的検査・型検査・テスト・本番ビルドまで実行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0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/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764911"/>
            <a:ext cx="11277295" cy="617601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764911"/>
            <a:ext cx="68580" cy="617601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56351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備考欄について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12383"/>
            <a:ext cx="10929823" cy="196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提案書に書いた方針から変更した箇所と、未配備のものだけを記載しています。変更の理由は各章で説明します。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 2 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コードの構造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9つの部品と、その間の依存の向き。業務ロジックをどこに置いたか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9つの部品と依存の向き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矢印は依存の方向。逆方向の依存はない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packages/*/package.json で確認。pnpm workspace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188720"/>
            <a:ext cx="2377440" cy="54864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web  画面(React)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188720"/>
            <a:ext cx="2743200" cy="548640"/>
          </a:xfrm>
          <a:prstGeom prst="roundRect">
            <a:avLst>
              <a:gd name="adj" fmla="val 14000"/>
            </a:avLst>
          </a:prstGeom>
          <a:solidFill>
            <a:srgbClr val="FFEDD5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C2410C"/>
                </a:solidFill>
                <a:latin typeface="Meiryo"/>
                <a:cs typeface="Meiryo"/>
                <a:ea typeface="Meiryo"/>
              </a:rPr>
              <a:t>demo  ブラウザ内で全部動かす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2377440" cy="548640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api  HTTPの入口(Hono)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057400"/>
            <a:ext cx="2377440" cy="548640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worker  非同期処理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57400"/>
            <a:ext cx="2377440" cy="548640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ingestion  CSV取込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3017520"/>
            <a:ext cx="4206240" cy="868680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254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30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core  業務ロジック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usecases / domain / ports。外部SDKを知らない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251960"/>
            <a:ext cx="2377440" cy="658368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db  PostgreSQL実装
(Drizzle)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4251960"/>
            <a:ext cx="2743200" cy="658368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integrations  外部連携実装
(GAS / Gemini / 暗号)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5212080"/>
            <a:ext cx="4206240" cy="502920"/>
          </a:xfrm>
          <a:prstGeom prst="roundRect">
            <a:avLst>
              <a:gd name="adj" fmla="val 14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shared  型・定数の共有(最下層。どこにも依存しない)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1755648"/>
            <a:ext cx="0" cy="283464"/>
          </a:xfrm>
          <a:prstGeom prst="line">
            <a:avLst/>
          </a:prstGeom>
          <a:ln w="17780">
            <a:solidFill>
              <a:srgbClr val="64748B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148840" y="177393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HTTPで呼ぶ(コード依存は無い)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11680" y="2624328"/>
            <a:ext cx="1920240" cy="374904"/>
          </a:xfrm>
          <a:prstGeom prst="line">
            <a:avLst/>
          </a:prstGeom>
          <a:ln w="2032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754880" y="2624328"/>
            <a:ext cx="0" cy="374904"/>
          </a:xfrm>
          <a:prstGeom prst="line">
            <a:avLst/>
          </a:prstGeom>
          <a:ln w="2032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766560" y="2624328"/>
            <a:ext cx="731519" cy="374904"/>
          </a:xfrm>
          <a:prstGeom prst="line">
            <a:avLst/>
          </a:prstGeom>
          <a:ln w="2032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09760" y="1755648"/>
            <a:ext cx="0" cy="1691640"/>
          </a:xfrm>
          <a:prstGeom prst="line">
            <a:avLst/>
          </a:prstGeom>
          <a:ln w="19050">
            <a:solidFill>
              <a:srgbClr val="C2410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543800" y="3447288"/>
            <a:ext cx="1965960" cy="0"/>
          </a:xfrm>
          <a:prstGeom prst="line">
            <a:avLst/>
          </a:prstGeom>
          <a:ln w="19050">
            <a:solidFill>
              <a:srgbClr val="C2410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011680" y="3913632"/>
            <a:ext cx="1645920" cy="320040"/>
          </a:xfrm>
          <a:prstGeom prst="line">
            <a:avLst/>
          </a:prstGeom>
          <a:ln w="1905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4937760" y="3913632"/>
            <a:ext cx="0" cy="320040"/>
          </a:xfrm>
          <a:prstGeom prst="line">
            <a:avLst/>
          </a:prstGeom>
          <a:ln w="19050">
            <a:solidFill>
              <a:srgbClr val="04785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011680" y="4937760"/>
            <a:ext cx="1463040" cy="34747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937760" y="4937760"/>
            <a:ext cx="0" cy="25603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02920" y="3063240"/>
            <a:ext cx="2651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buNone/>
            </a:pPr>
            <a:r>
              <a:rPr sz="1050" b="0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api / worker / ingestion は
いずれも core に依存する。
web のコード上の依存は shared
と(開発時のみ)demo だけ。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29768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buNone/>
            </a:pPr>
            <a:r>
              <a:rPr sz="10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db と integrations は、core が定義した
窓口(ポート)を実装する側。
core はどれが実装しているか知らない。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2044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50" b="0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demo は api / core / db / integrations を
束ねてブラウザ内で動かす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897880"/>
            <a:ext cx="11277295" cy="457200"/>
          </a:xfrm>
          <a:prstGeom prst="roundRect">
            <a:avLst>
              <a:gd name="adj" fmla="val 12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97103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デモ用コードは本番ビルドに混ざらない。入口を空の実装に差し替え、CIが成果物を検査する。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業務ロジックと外側の実装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ポートとアダプタ(ヘキサゴナルアーキテクチャ)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packages/core/src/{ports,usecases,domain} / packages/api/src/container.ts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1417320"/>
            <a:ext cx="4114800" cy="32004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254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15087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buNone/>
            </a:pPr>
            <a:r>
              <a:rPr sz="13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core(中心)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874519"/>
            <a:ext cx="3657600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usecases  業務の手順
(日報を保存する、ログインする…)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2560320"/>
            <a:ext cx="3657600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domain  純粋な計算・規則
(勤怠計算、氏名分割、重複判定…)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3246120"/>
            <a:ext cx="3657600" cy="1234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ports  外に対する窓口の定義</a:t>
            </a:r>
          </a:p>
          <a:p>
            <a:pPr algn="ctr">
              <a:lnSpc>
                <a:spcPct val="116000"/>
              </a:lnSpc>
              <a:buNone/>
            </a:pPr>
            <a:r>
              <a:rPr sz="10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保存する・送る・暗号化するといった
形(インターフェース)を33本定義する。
中身は書かない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00200"/>
            <a:ext cx="3063240" cy="566928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api  HTTPルート</a:t>
            </a:r>
            <a:r>
              <a:rPr sz="9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8ファイル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66160" y="1883664"/>
            <a:ext cx="411479" cy="0"/>
          </a:xfrm>
          <a:prstGeom prst="line">
            <a:avLst/>
          </a:prstGeom>
          <a:ln w="20320">
            <a:solidFill>
              <a:srgbClr val="6D28D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200" y="2377440"/>
            <a:ext cx="3063240" cy="566928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worker  定期実行</a:t>
            </a:r>
            <a:r>
              <a:rPr sz="9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6160" y="2660904"/>
            <a:ext cx="411479" cy="0"/>
          </a:xfrm>
          <a:prstGeom prst="line">
            <a:avLst/>
          </a:prstGeom>
          <a:ln w="20320">
            <a:solidFill>
              <a:srgbClr val="6D28D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" y="3154680"/>
            <a:ext cx="3063240" cy="566928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ingestion  CSV取込</a:t>
            </a:r>
            <a:r>
              <a:rPr sz="95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66160" y="3438144"/>
            <a:ext cx="411479" cy="0"/>
          </a:xfrm>
          <a:prstGeom prst="line">
            <a:avLst/>
          </a:prstGeom>
          <a:ln w="20320">
            <a:solidFill>
              <a:srgbClr val="6D28D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3977639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入口側:usecase を呼ぶ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224528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usecase は必要なポートだけを引数で受け取るため、テストでは偽の実装を渡せる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41080" y="1600200"/>
            <a:ext cx="3090672" cy="566928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db  リポジトリ実装</a:t>
            </a:r>
          </a:p>
          <a:p>
            <a:pPr algn="ctr">
              <a:lnSpc>
                <a:spcPct val="116000"/>
              </a:lnSpc>
              <a:buNone/>
            </a:pPr>
            <a:r>
              <a:rPr sz="90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PostgreSQL / Drizzle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8183879" y="1883664"/>
            <a:ext cx="411481" cy="0"/>
          </a:xfrm>
          <a:prstGeom prst="line">
            <a:avLst/>
          </a:prstGeom>
          <a:ln w="20320">
            <a:solidFill>
              <a:srgbClr val="0369A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641080" y="2377440"/>
            <a:ext cx="3090672" cy="566928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integrations  外部連携</a:t>
            </a:r>
          </a:p>
          <a:p>
            <a:pPr algn="ctr">
              <a:lnSpc>
                <a:spcPct val="116000"/>
              </a:lnSpc>
              <a:buNone/>
            </a:pPr>
            <a:r>
              <a:rPr sz="90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GAS / Gemini / 暗号化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8183879" y="2660904"/>
            <a:ext cx="411481" cy="0"/>
          </a:xfrm>
          <a:prstGeom prst="line">
            <a:avLst/>
          </a:prstGeom>
          <a:ln w="20320">
            <a:solidFill>
              <a:srgbClr val="0369A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641080" y="3154680"/>
            <a:ext cx="3090672" cy="566928"/>
          </a:xfrm>
          <a:prstGeom prst="roundRect">
            <a:avLst>
              <a:gd name="adj" fmla="val 14000"/>
            </a:avLst>
          </a:prstGeom>
          <a:solidFill>
            <a:srgbClr val="FFEDD5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demo  ブラウザ内実装</a:t>
            </a:r>
          </a:p>
          <a:p>
            <a:pPr algn="ctr">
              <a:lnSpc>
                <a:spcPct val="116000"/>
              </a:lnSpc>
              <a:buNone/>
            </a:pPr>
            <a:r>
              <a:rPr sz="90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PGlite / WebCrypto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8183879" y="3438144"/>
            <a:ext cx="411481" cy="0"/>
          </a:xfrm>
          <a:prstGeom prst="line">
            <a:avLst/>
          </a:prstGeom>
          <a:ln w="20320">
            <a:solidFill>
              <a:srgbClr val="C2410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641080" y="3931920"/>
            <a:ext cx="3090672" cy="566928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Noop 実装</a:t>
            </a:r>
          </a:p>
          <a:p>
            <a:pPr algn="ctr">
              <a:lnSpc>
                <a:spcPct val="116000"/>
              </a:lnSpc>
              <a:buNone/>
            </a:pPr>
            <a:r>
              <a:rPr sz="900" b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外部が無い環境用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8183879" y="4215383"/>
            <a:ext cx="411481" cy="0"/>
          </a:xfrm>
          <a:prstGeom prst="line">
            <a:avLst/>
          </a:prstGeom>
          <a:ln w="2032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641080" y="4754880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実装側:ポートを満たす形で外部とつなぐ。
core はどの実装かを知らない。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25780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257800"/>
            <a:ext cx="68580" cy="10515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34924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この構造の利点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605272"/>
            <a:ext cx="5138928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外部サービスが無い環境では、エラーにせず何もしない実装で動く(地図・予定・AI・ミラー)。同じ業務ロジックが、本番でもブラウザ内デモでもそのまま動く。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45352" y="525780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45352" y="5257800"/>
            <a:ext cx="68580" cy="1051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534924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ポート定義の例外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605272"/>
            <a:ext cx="5138928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パスワードのハッシュ化の窓口は、ports ではなく usecases 側に定義しています。動作に影響はありませんが、置き場所の一貫性は崩れています。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窓口(ポート)の一覧 — 33本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core が外部に求める処理を宣言したもの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packages/core/src/ports/*.ts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70432"/>
            <a:ext cx="3657600" cy="397763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657600" cy="402336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データの読み書き(19本)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32918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2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Tenant テナント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Staff スタッフ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Session セッション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PasswordResetCode 再設定コード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Customer 顧客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FamilyMember 世帯構成員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DailyReport 日報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AccidentReport 事故報告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Receipt 領収書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AttendanceDay 勤怠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Coupon クーポン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CustomerCoupon 顧客へのクーポン配布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CouponRedemption クーポン適用記録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AppSettings 管理者設定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PromptTemplate AIプロンプト文面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TenantKey 暗号鍵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ReportAiConfig 日報AIの3軸設定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CustomerReportProfile 家庭ごとの★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ReportAiGeneration AI生成の記録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42816" y="1170432"/>
            <a:ext cx="3703320" cy="397763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170432"/>
            <a:ext cx="3703320" cy="402336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外部サービス(9本)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5696" y="1691640"/>
            <a:ext cx="333756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20000"/>
              </a:lnSpc>
              <a:spcBef>
                <a:spcPts val="0"/>
              </a:spcBef>
              <a:buClr>
                <a:srgbClr val="6D28D9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ReportAi 日報の文章生成(Gemini)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6D28D9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Notifier 通知(Google Chat)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6D28D9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Mailer メール送信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6D28D9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Calendar 予定の読み取り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6D28D9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Maps 距離の計算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6D28D9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Storage 画像の保存(GCS想定)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6D28D9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MirrorSender スプレッドシートへの送信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6D28D9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Mirror 送信予定の積み込み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6D28D9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Schedule 予定の取得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1" y="1170432"/>
            <a:ext cx="3703320" cy="397763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74151" y="1170432"/>
            <a:ext cx="3703320" cy="402336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横断的な関心(5本)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1691640"/>
            <a:ext cx="333756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20000"/>
              </a:lnSpc>
              <a:spcBef>
                <a:spcPts val="0"/>
              </a:spcBef>
              <a:buClr>
                <a:srgbClr val="047857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UnitOfWork 複数の書き込みを1つのトランザクションに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47857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Crypto 資格情報の暗号化・復号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47857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KeyManagement 鍵を包む・ほどく(KMS)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47857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AuditLog 監査ログの記録</a:t>
            </a:r>
          </a:p>
          <a:p>
            <a:pPr marL="182880" indent="-182880">
              <a:lnSpc>
                <a:spcPct val="120000"/>
              </a:lnSpc>
              <a:spcBef>
                <a:spcPts val="350"/>
              </a:spcBef>
              <a:buClr>
                <a:srgbClr val="047857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OutboxRepository 送信待ち行列の管理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03520"/>
            <a:ext cx="5486400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5303520"/>
            <a:ext cx="68580" cy="10058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541324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窓口だけを定義する効果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5715000"/>
            <a:ext cx="5111496" cy="50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テストでは偽の実装を渡すだけで済む。データベースも外部APIも起動しないため、842件のテストが約35秒で終わる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5303520"/>
            <a:ext cx="5486400" cy="10058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352" y="5303520"/>
            <a:ext cx="68580" cy="10058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5394959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ポートの集約(Container)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5650992"/>
            <a:ext cx="513892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全ポートの実装を1つにまとめ、それを usecase に渡します。Node.js用とブラウザ用の2種類を、同じ型で用意しています。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リクエストを1本追う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日報を保存するときに何が起きるか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packages/core/src/usecases/reports.ts / packages/api/src/routes/reports.ts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64208"/>
            <a:ext cx="263347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72821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① 保存ボタン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56816"/>
            <a:ext cx="2423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入力内容と Cookie を送る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377440"/>
            <a:ext cx="263347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4414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② 入口の検査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670048"/>
            <a:ext cx="2423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Cookie照合 → 権限確認 → Origin照合 → 入力検証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73936" y="2267712"/>
            <a:ext cx="2880360" cy="109728"/>
          </a:xfrm>
          <a:prstGeom prst="bentConnector3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17920" y="3090672"/>
            <a:ext cx="263347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3154679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③ 業務の手順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79"/>
            <a:ext cx="2423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usecase が日報を保存する手順を実行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54296" y="2980944"/>
            <a:ext cx="2880360" cy="109728"/>
          </a:xfrm>
          <a:prstGeom prst="bentConnector3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098280" y="3803904"/>
            <a:ext cx="263347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386791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④ 1つのトランザクション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4096512"/>
            <a:ext cx="2423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日報の行と送信予定(outbox)を同時に確定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34656" y="3694176"/>
            <a:ext cx="2880359" cy="109728"/>
          </a:xfrm>
          <a:prstGeom prst="bentConnector3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17920" y="4517136"/>
            <a:ext cx="263347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458114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⑤ 外への通知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809744"/>
            <a:ext cx="2423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Google Chat へ通知(txの外)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7534656" y="4407408"/>
            <a:ext cx="2880359" cy="109728"/>
          </a:xfrm>
          <a:prstGeom prst="bentConnector3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098280" y="5230368"/>
            <a:ext cx="263347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651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529437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C2410C"/>
                </a:solidFill>
                <a:latin typeface="Meiryo"/>
                <a:cs typeface="Meiryo"/>
                <a:ea typeface="Meiryo"/>
              </a:rPr>
              <a:t>⑥ 後から送信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5522976"/>
            <a:ext cx="24231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ワーカーがスプレッドシートへ書き戻す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34656" y="5120640"/>
            <a:ext cx="2880359" cy="109728"/>
          </a:xfrm>
          <a:prstGeom prst="bentConnector3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457200" y="1143000"/>
            <a:ext cx="2633472" cy="3657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ブラウザ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1143000"/>
            <a:ext cx="2633472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api(入口)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1143000"/>
            <a:ext cx="2633472" cy="3657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core(業務)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98280" y="1143000"/>
            <a:ext cx="2633472" cy="36576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FFFFFF"/>
                </a:solidFill>
                <a:latin typeface="Meiryo"/>
                <a:cs typeface="Meiryo"/>
                <a:ea typeface="Meiryo"/>
              </a:rPr>
              <a:t>db / 外部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870448"/>
            <a:ext cx="11277295" cy="45720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96188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④で日報の行と送信予定を同じトランザクションで確定させる。片方だけ通ると、検知できない取り残しが残る。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 3 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外部との連携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現行のGAS版との共存、認証、AI、公開デモ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現行のGAS版とどう共存するか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正データはPostgreSQL、スプレッドシートは写し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packages/core/src/usecases/mirrorWorker.ts / packages/integrations/src/gas-bridge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2377440" cy="731520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PostgreSQL
(正データ)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188720"/>
            <a:ext cx="2377440" cy="73152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outbox_jobs
送信待ち行列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188720"/>
            <a:ext cx="2377440" cy="731520"/>
          </a:xfrm>
          <a:prstGeom prst="roundRect">
            <a:avLst>
              <a:gd name="adj" fmla="val 14000"/>
            </a:avLst>
          </a:prstGeom>
          <a:solidFill>
            <a:srgbClr val="FFEDD5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C2410C"/>
                </a:solidFill>
                <a:latin typeface="Meiryo"/>
                <a:cs typeface="Meiryo"/>
                <a:ea typeface="Meiryo"/>
              </a:rPr>
              <a:t>ミラーワーカー
(定期実行)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188720"/>
            <a:ext cx="2770632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B45309"/>
                </a:solidFill>
                <a:latin typeface="Meiryo"/>
                <a:cs typeface="Meiryo"/>
                <a:ea typeface="Meiryo"/>
              </a:rPr>
              <a:t>GAS Web App 1本
→ スプレッドシート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80360" y="1554480"/>
            <a:ext cx="365760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715000" y="1554480"/>
            <a:ext cx="365760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549640" y="1554480"/>
            <a:ext cx="365760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200" y="2148840"/>
            <a:ext cx="5486400" cy="19019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48840"/>
            <a:ext cx="68580" cy="190195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25856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この方針にした理由(doc/proposal/gas-bridge.md)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560320"/>
            <a:ext cx="5111496" cy="13990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新規のGoogle API連携より、既存のGASブリッジを優先した。①新規の課金・認証情報の準備を避ける ②GAS側で実証済みのロジック(イベント分類・タグ解析・スタッフ名の照合)を再実装しない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スプレッドシートを止めるときは、ミラーのアダプタを外すだけで済む(業務ロジックは無変更)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多重に動かしても安全(SKIP LOCKED)。処理中のまま5分放置された行は再取得の対象になる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148840"/>
            <a:ext cx="5486400" cy="190195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2148840"/>
            <a:ext cx="68580" cy="190195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25856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送信失敗時の再試行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560320"/>
            <a:ext cx="5111496" cy="13990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送信に失敗しても捨てない。5秒から倍々(上限1時間)で再試行し、8回で失敗扱いにする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失敗扱いになった件数はエラーログに出るため、運用側で把握できる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同じ内容を二重に送らないよう、送信予定には一意キー(idempotency_key)を持たせている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0624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この依存のしかたに残る問題(判断事項①)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526280"/>
            <a:ext cx="2724912" cy="11887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526280"/>
            <a:ext cx="68580" cy="1188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5994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4系統が1本に集中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9834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メール・地図・予定・スプレッドシートがGAS Web App 1本を経由。実行時間制限・クォータあり、SLAなし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0128" y="4526280"/>
            <a:ext cx="2724912" cy="11887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10128" y="4526280"/>
            <a:ext cx="68580" cy="1188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93008" y="45994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まだデプロイしていない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008" y="49834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スプレッドシートへの書き戻しとメール送信は、本番で動かしたことがない。メール送信の処理はGAS側にまだ無い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63056" y="4526280"/>
            <a:ext cx="2724912" cy="11887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63056" y="4526280"/>
            <a:ext cx="68580" cy="1188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45936" y="45994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secret がURLに載る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49834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GASはカスタムヘッダーを読めないため、認証用の文字列をURLのクエリに付ける。実行ログやプロキシに残る。交換手順は未整備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15984" y="4526280"/>
            <a:ext cx="2724912" cy="11887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26280"/>
            <a:ext cx="68580" cy="11887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98863" y="45994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失敗分の再投入が手作業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98863" y="4983480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失敗扱いになった送信予定を戻す操作は、管理画面から行えない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764911"/>
            <a:ext cx="11277295" cy="617601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764911"/>
            <a:ext cx="68580" cy="617601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856351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選択肢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112383"/>
            <a:ext cx="10929823" cy="196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(a) この依存のまま早期にデプロイして運用設計を詰める  (b) メール送信だけ別経路(SES / SendGrid等)に分ける  (c) スプレッドシート連携そのものを移行対象から外す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認証とセッション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提案書のFirebase Authから自前実装に変更した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packages/core/src/usecases/{auth,passwordReset}.ts / packages/api/src/session.ts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変更した理由は、GAS版の既存パスワードを引き継ぎ、スタッフに再設定を求めないため。初回ログイン時に、古い方式のハッシュを新方式へ入れ替える。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81328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524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182879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① ログイン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810512"/>
            <a:ext cx="18287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法人 + メール +
パスワード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78608" y="1938528"/>
            <a:ext cx="14630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743200" y="1481328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554480"/>
            <a:ext cx="182879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② 検証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1810512"/>
            <a:ext cx="18287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argon2id で照合
(コストを明示指定)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64607" y="1938528"/>
            <a:ext cx="146305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029200" y="1481328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1554480"/>
            <a:ext cx="182879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③ 発行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1810512"/>
            <a:ext cx="18287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32バイトの乱数トークン
DBにはハッシュのみ保存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50607" y="1938528"/>
            <a:ext cx="146305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15200" y="1481328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524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60" y="1554480"/>
            <a:ext cx="182879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④ 配布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1810512"/>
            <a:ext cx="18287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httpOnly Cookie
SameSite=Lax / 7日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36608" y="1938528"/>
            <a:ext cx="146304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601200" y="1481328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 w="1524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1554480"/>
            <a:ext cx="182879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⑤ 以後の要求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38360" y="1810512"/>
            <a:ext cx="18287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Cookie照合 → 法人を特定
→ RLSのスコープを張る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2606040"/>
            <a:ext cx="548640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2606040"/>
            <a:ext cx="68580" cy="187451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" y="271576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総当たりと列挙への対策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" y="3017520"/>
            <a:ext cx="5111496" cy="1371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連続10回の失敗で15分ロック、成功でリセット。恒久ロックにはしない(狙って失敗させれば人を締め出せるため)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ロック中かどうかで応答を変えない(アカウントの有無が分かるため)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再設定は、存在しない宛先でも同じ応答を返す(ユーザー列挙を塞ぐ)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6桁コードは検証子だけを保存。30分・誤入力5回で無効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352" y="2606040"/>
            <a:ext cx="5486400" cy="18745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5352" y="2606040"/>
            <a:ext cx="68580" cy="1874519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55664" y="271576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書き込み側の保護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3017520"/>
            <a:ext cx="5111496" cy="1371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初期パスワードのまま他のAPIを叩くと403(入口の1か所で判定)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書き込み系は Origin を照合してクロスサイトからの要求を弾く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パスワードの差し替えは、行をロックして差し替えとセッション破棄を1つのトランザクションで行う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ログインの成否・パスワード変更・管理者操作を、実行者と対象付きでログに残す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5720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残っている弱点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892040"/>
            <a:ext cx="3685032" cy="9601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892040"/>
            <a:ext cx="68580" cy="9601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974336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制限がアカウント単位のみ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230368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IPや端末単位のレート制限は前段(WAF / Cloud Armor)が必要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51960" y="4892040"/>
            <a:ext cx="3685032" cy="9601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51960" y="4892040"/>
            <a:ext cx="68580" cy="9601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34840" y="4974336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古い方式のハッシュが残る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4840" y="5230368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一度もログインしないスタッフの古いハッシュは、期限なく残り続ける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46720" y="4892040"/>
            <a:ext cx="3685032" cy="960120"/>
          </a:xfrm>
          <a:prstGeom prst="roundRect">
            <a:avLst>
              <a:gd name="adj" fmla="val 1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46720" y="4892040"/>
            <a:ext cx="68580" cy="9601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0" y="4974336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セッションは絶対期限7日のみ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230368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9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一定時間操作が無ければ切れる仕組みや、同時ログイン数の制限は無い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961888"/>
            <a:ext cx="11277295" cy="384048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603504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テストは、失敗すべき経路で確実に失敗することを中心に書いています。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AI(Gemini)と通知の扱い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生成物だけでなく、元の入力も残している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packages/core/src/usecases/reportAi.ts / ports/ai.ts, notifier.ts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2468880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スタッフの口語メモ
「今日は公園で…」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34440"/>
            <a:ext cx="2468880" cy="960120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5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Gemini API
文章生成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34440"/>
            <a:ext cx="2651760" cy="9601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社内向けレポート
保護者向けレポート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234440"/>
            <a:ext cx="2313432" cy="960120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スタッフが確認・修正
してから保存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71800" y="1709928"/>
            <a:ext cx="365760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897880" y="1709928"/>
            <a:ext cx="365760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006840" y="1709928"/>
            <a:ext cx="365760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200" y="2423160"/>
            <a:ext cx="548640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23160"/>
            <a:ext cx="68580" cy="16916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53288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設計上の判断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834640"/>
            <a:ext cx="5111496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生成前の口語メモも列として保存する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. 生成物だけを残すと、元の記述を後から確かめられない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AIが使えない環境では、何もしない実装になる(画面は生成なしで動く)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領収書のOCRも同じ形。読み取れなかった場合は空にして、人が直せるようにする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423160"/>
            <a:ext cx="548640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2423160"/>
            <a:ext cx="68580" cy="169164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53288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APIキーと通知先の持ち方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834640"/>
            <a:ext cx="5111496" cy="11887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APIキーとGoogle ChatのWebhook URLは、法人ごとの管理者設定として保存する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この3項目だけはアプリ側で暗号化している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(業務データは平文。詳細は doc/slides/db-review.pptx P15)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未設定の場合は環境変数の既定値にフォールバックする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5196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通知(Google Chat)の位置づけ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553712"/>
            <a:ext cx="5486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日報・領収書の登録時に、決まった書式のテキストを送る(GAS版と同じ文面)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トランザクションの外で送る。通知の失敗で保存を巻き戻さない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4553712"/>
            <a:ext cx="5486400" cy="123444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352" y="4553712"/>
            <a:ext cx="68580" cy="1234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28232" y="464515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未検証の部分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4901184"/>
            <a:ext cx="5138928" cy="813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Gemini APIの実呼び出しと、GASブリッジ経由の全経路(メール送信を含む)は、自動テストでは検証していません。テストでは偽の実装に差し替えています。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897880"/>
            <a:ext cx="11277295" cy="402336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97103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AIは下書きを作る道具として位置づけ、最終的な内容の責任はスタッフが持つ形にしています。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公開デモ — 同じコードをブラウザ内で動かす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core が外部SDKを知らないことの実証でもある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packages/demo/src/*.ts / scripts/assertNoDemoInBuild.mjs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2560320" cy="1005840"/>
          </a:xfrm>
          <a:prstGeom prst="roundRect">
            <a:avLst>
              <a:gd name="adj" fmla="val 14000"/>
            </a:avLst>
          </a:prstGeom>
          <a:solidFill>
            <a:srgbClr val="E0F2FE"/>
          </a:solidFill>
          <a:ln w="12700">
            <a:solidFill>
              <a:srgbClr val="0369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ブラウザ(1枚のページ)
React の画面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234440"/>
            <a:ext cx="2651760" cy="1005840"/>
          </a:xfrm>
          <a:prstGeom prst="roundRect">
            <a:avLst>
              <a:gd name="adj" fmla="val 14000"/>
            </a:avLst>
          </a:prstGeom>
          <a:solidFill>
            <a:srgbClr val="FFEDD5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C2410C"/>
                </a:solidFill>
                <a:latin typeface="Meiryo"/>
                <a:cs typeface="Meiryo"/>
                <a:ea typeface="Meiryo"/>
              </a:rPr>
              <a:t>fetch を差し替える
サーバーへは送らない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234440"/>
            <a:ext cx="2560320" cy="1005840"/>
          </a:xfrm>
          <a:prstGeom prst="roundRect">
            <a:avLst>
              <a:gd name="adj" fmla="val 14000"/>
            </a:avLst>
          </a:prstGeom>
          <a:solidFill>
            <a:srgbClr val="EDE9FE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同じ Hono アプリ
同じルート・同じ業務ロジック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234440"/>
            <a:ext cx="2130552" cy="1005840"/>
          </a:xfrm>
          <a:prstGeom prst="roundRect">
            <a:avLst>
              <a:gd name="adj" fmla="val 14000"/>
            </a:avLst>
          </a:prstGeom>
          <a:solidFill>
            <a:srgbClr val="D1FAE5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1100" b="1">
                <a:solidFill>
                  <a:srgbClr val="047857"/>
                </a:solidFill>
                <a:latin typeface="Meiryo"/>
                <a:cs typeface="Meiryo"/>
                <a:ea typeface="Meiryo"/>
              </a:rPr>
              <a:t>PGlite
ブラウザ内PostgreSQL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63240" y="1737360"/>
            <a:ext cx="365760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172200" y="1737360"/>
            <a:ext cx="365760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189720" y="1737360"/>
            <a:ext cx="365760" cy="0"/>
          </a:xfrm>
          <a:prstGeom prst="line">
            <a:avLst/>
          </a:prstGeom>
          <a:ln w="2286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57200" y="246888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468880"/>
            <a:ext cx="68580" cy="18288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257860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本番と共通の部分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880360"/>
            <a:ext cx="5111496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同じマイグレーション(44テーブル)・同じ行レベルセキュリティ・同じ業務ロジック・同じAPIルート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差し替えているのは、Node.js専用の実装と、鍵を置けない外部API(AI・地図・メール)だけ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Service Worker ではなく fetch の差し替えにしたのは、GitHub Pages のサブパス配信で適用範囲の問題を避けるため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46888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2468880"/>
            <a:ext cx="68580" cy="182880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578608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本番ビルドに混ざらないことの担保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2880360"/>
            <a:ext cx="5111496" cy="132587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本番ビルドではデモの入口を空の実装に差し替える(ビルド設定)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設定ではなく、出来上がった成果物をCIが検査する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. ブラウザ内DBのファイルが含まれていないか、禁止文字列が無いかを確認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デモの暗号鍵は公開された固定値。訪問者が入力したAPIキー等は永続化しない</a:t>
            </a:r>
          </a:p>
          <a:p>
            <a:pPr marL="182880" indent="-182880">
              <a:lnSpc>
                <a:spcPct val="132000"/>
              </a:lnSpc>
              <a:spcBef>
                <a:spcPts val="400"/>
              </a:spcBef>
              <a:buClr>
                <a:srgbClr val="0369A1"/>
              </a:buClr>
              <a:buFont typeface="Meiryo"/>
              <a:buChar char="▪"/>
            </a:pP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デモデータは前回開いた日の翌日から当日まで自動で追加する(間隔が空いても履歴が続く)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3484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デモ固有の制約(本番には影響しない)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54880"/>
            <a:ext cx="1127729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PGlite は1.0未満。書き出しの完了を待つために内部の仕組みを直接呼ぶため、バージョンを固定している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接続が1本しかないためトランザクションを直列化しているが、トランザクション外の単発クエリは対象外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複数タブを同時に開いたときの排他は未実装(画面上の案内も無い)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925312"/>
            <a:ext cx="11277295" cy="402336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998464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デモURL:https://ohru131.github.io/katahimo-app/(admin@demo.example.com / demo1234)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91440" cy="2194560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6974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40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第 4 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09067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3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品質と現状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buNone/>
            </a:pPr>
            <a:r>
              <a:rPr sz="14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何をテストしていて、何をしていないか。判断いただきたいこと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何をテストし、何をしていないか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テスト63ファイル / 842件。分布は意図的に偏らせている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vitest.config.ts / packages/core/src/usecases/testDoubles.ts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70432"/>
            <a:ext cx="548640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68580" cy="30175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280160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やっていること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581912"/>
            <a:ext cx="5111496" cy="2514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ドメインの純関数の回帰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勤怠計算は、GAS版をNodeで実行した結果を正解として合成データ19ケース+月次集計で完全一致。CSV解析は実サンプル398行で一致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usecase の単体テスト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偽の実装を渡し、失敗すべきときに失敗することを中心に検証(列挙防止・試行上限・割り込み・部分更新なし)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トランザクション境界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送信予定への書き込みだけを失敗させ、日報の行が残らないことを固定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行レベルセキュリティ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全テーブル分の静的検査と、権限を落としたロールでの実挙動の両方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制約が実際に効くこと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CHECK・一意制約・複合外部キーが不正なINSERTを拒否することを、本番と同じマイグレーションを当てたDB上で確認(拒否理由が意図した制約名であることまで見る)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170432"/>
            <a:ext cx="5486400" cy="3017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45352" y="1170432"/>
            <a:ext cx="68580" cy="30175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280160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やっていないこと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581912"/>
            <a:ext cx="5111496" cy="2514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0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画面のテストが0本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ブラウザを動かす自動テスト(E2E)もReactコンポーネントのテストも無い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APIルート層の統合テストが無い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入口の検査は個別には検証しているが、通しでは確認していない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実PostgreSQLに対するテストが無い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リポジトリ層はブラウザ内DBで検証しており、本番ドライバ固有の挙動差と EXPLAIN による索引の効き方は未確認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勤怠の実データ照合が未実施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給与に直結する領域。実際の出勤簿との突き合わせはこれから</a:t>
            </a:r>
          </a:p>
          <a:p>
            <a:pPr marL="182880" indent="-182880">
              <a:lnSpc>
                <a:spcPct val="130000"/>
              </a:lnSpc>
              <a:spcBef>
                <a:spcPts val="600"/>
              </a:spcBef>
              <a:buClr>
                <a:srgbClr val="0369A1"/>
              </a:buClr>
              <a:buFont typeface="Meiryo"/>
              <a:buChar char="▪"/>
            </a:pPr>
            <a:r>
              <a:rPr sz="105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負荷試験・障害注入が未実施</a:t>
            </a:r>
            <a:r>
              <a:rPr sz="10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  送信待ち行列の滞留や再試行の挙動を、実運用の量で見たことがない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15968"/>
            <a:ext cx="5486400" cy="1078992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315968"/>
            <a:ext cx="68580" cy="107899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07407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テストの書き方の方針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63440"/>
            <a:ext cx="51389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新しく足したテストは、直した箇所を元に戻すと落ちることを1つずつ確認してから残しています。通るだけのテストは、後から読む人に誤解を与えます。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4315968"/>
            <a:ext cx="5486400" cy="1078992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5352" y="4315968"/>
            <a:ext cx="68580" cy="10789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4407407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判断事項④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4663440"/>
            <a:ext cx="513892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薄い層のうち、どれを運用開始の前提条件にするかを判断いただきたいです。特に勤怠は給与に直結します。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CI(毎push、GitHub Actions)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806440"/>
            <a:ext cx="1490472" cy="384048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依存の取得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956815" y="5998464"/>
            <a:ext cx="109728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084831" y="5806440"/>
            <a:ext cx="1490472" cy="384048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静的検査(Biome)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584447" y="5998464"/>
            <a:ext cx="109729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712463" y="5806440"/>
            <a:ext cx="1490472" cy="384048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型検査(tsc strict)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12079" y="5998464"/>
            <a:ext cx="109728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340096" y="5806440"/>
            <a:ext cx="1490472" cy="384048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テスト(Vitest)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39712" y="5998464"/>
            <a:ext cx="109728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967727" y="5806440"/>
            <a:ext cx="1490472" cy="384048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本番ビルド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467344" y="5998464"/>
            <a:ext cx="109728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95359" y="5806440"/>
            <a:ext cx="1490472" cy="384048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デモ混入の検査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094975" y="5998464"/>
            <a:ext cx="109728" cy="0"/>
          </a:xfrm>
          <a:prstGeom prst="line">
            <a:avLst/>
          </a:prstGeom>
          <a:ln w="16510">
            <a:solidFill>
              <a:srgbClr val="64748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222991" y="5806440"/>
            <a:ext cx="1490472" cy="384048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" rIns="41148" tIns="18288" bIns="18288"/>
          <a:lstStyle/>
          <a:p>
            <a:pPr algn="ctr">
              <a:lnSpc>
                <a:spcPct val="116000"/>
              </a:lnSpc>
              <a:buNone/>
            </a:pPr>
            <a:r>
              <a:rPr sz="95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デモビルド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ドキュメントの記述と、実装の実態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誤解を招きやすい点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README「実装状況」/ doc/proposal/tech-stack.md / packages/db/src/schema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19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70432"/>
          <a:ext cx="11277293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607"/>
                <a:gridCol w="1443493"/>
                <a:gridCol w="5864193"/>
              </a:tblGrid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ドキュメントが語っていること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実装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実際の状態</a:t>
                      </a:r>
                    </a:p>
                  </a:txBody>
                  <a:tcPr marL="64008" marR="64008" marT="27432" marB="27432" anchor="ctr">
                    <a:solidFill>
                      <a:srgbClr val="E2E8F0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PostgreSQL + RLS のマルチテナント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実装済み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44テーブル、複合外部キー、FORCE。静的検査と実DB検証をCIで実行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Outbox によるスプレッドシートへの書き戻し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実装済み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業務データの書き込みと同一トランザクション。再試行と失敗扱いの仕組みあり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公開デモ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稼働中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本番と同一のスキーマ・業務ロジック・ルートがブラウザ内で動く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認証は Firebase Auth / Identity Platform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方針変更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自前の argon2id + Cookie。GAS版のパスワードを移行できるようにするため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Cloud Run 本番デプロイ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未着手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Dockerfileもインフラ定義も無い。自動化されているのはデモの公開だけ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Sheetsミラーの実送信・メール送信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未検証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GASブリッジが未デプロイのため動作未確認。既定でミラーは無効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Cloud KMS による鍵管理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未着手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鍵を包む鍵は環境変数のまま。再暗号化バッチも無い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AIプロンプトの文面編集・日報AIの3軸(年齢帯×教育関心度×ストレス度)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047857"/>
                          </a:solidFill>
                          <a:latin typeface="Meiryo"/>
                          <a:cs typeface="Meiryo"/>
                          <a:ea typeface="Meiryo"/>
                        </a:rPr>
                        <a:t>実装済み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文面はDBで版管理。3軸は表・管理画面・生成API・保存・記録(保持期間つき)まで接続済み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予約・請求・カルテ・訪問割当の最適化・移動手当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6D28D9"/>
                          </a:solidFill>
                          <a:latin typeface="Meiryo"/>
                          <a:cs typeface="Meiryo"/>
                          <a:ea typeface="Meiryo"/>
                        </a:rPr>
                        <a:t>スキーマのみ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表と制約のみ。リポジトリ・API・画面はこれから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業種差の吸収(機能フラグ)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B91C1C"/>
                          </a:solidFill>
                          <a:latin typeface="Meiryo"/>
                          <a:cs typeface="Meiryo"/>
                          <a:ea typeface="Meiryo"/>
                        </a:rPr>
                        <a:t>未着手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tenant_features 等は設計方針のみで、テーブルは無い</a:t>
                      </a:r>
                    </a:p>
                  </a:txBody>
                  <a:tcPr marL="64008" marR="64008" marT="27432" marB="27432" anchor="ctr">
                    <a:solidFill>
                      <a:srgbClr val="F8FAFC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1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勤怠計算はGAS版と一致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B45309"/>
                          </a:solidFill>
                          <a:latin typeface="Meiryo"/>
                          <a:cs typeface="Meiryo"/>
                          <a:ea typeface="Meiryo"/>
                        </a:rPr>
                        <a:t>合成データのみ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buNone/>
                      </a:pPr>
                      <a:r>
                        <a:rPr sz="1050" b="0">
                          <a:solidFill>
                            <a:srgbClr val="14223A"/>
                          </a:solidFill>
                          <a:latin typeface="Meiryo"/>
                          <a:cs typeface="Meiryo"/>
                          <a:ea typeface="Meiryo"/>
                        </a:rPr>
                        <a:t>実際の出勤簿での照合はこれから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486400"/>
            <a:ext cx="11277295" cy="830326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68580" cy="830326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577840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提案書と実装のずれ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33872"/>
            <a:ext cx="10929823" cy="4097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提案書だけを読むと、すでに揃っているように見えます。赤い行は未着手です。ご判断いただきたいのは、この土台の上に赤い行を積んでよいかどうかです。土台に構造的な問題があれば、積む前に直しま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ご判断いただきたいこと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優先度順。いずれも直せない問題ではなく、実施時期の判断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6419088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9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データベース設計の論点は doc/slides/db-review.pptx 第3〜4章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77295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68580" cy="93268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344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B91C1C"/>
                </a:solidFill>
                <a:latin typeface="Meiryo"/>
                <a:cs typeface="Meiryo"/>
                <a:ea typeface="Meiryo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22529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GASブリッジ1本への依存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527048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メール・地図・予定・スプレッドシートの4系統を1つのGAS Web Appに集約。SLAは無く、認証用の文字列がURLに載る。まだデプロイしていない。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252728"/>
            <a:ext cx="4663440" cy="713232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86600" y="1325880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(a) この依存のまま早期にデプロイして運用設計を詰める / (b) メールだけ別経路に分ける / (c) スプレッドシート連携を移行対象から外す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148840"/>
            <a:ext cx="11277295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148840"/>
            <a:ext cx="68580" cy="9326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2402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鍵管理を本番相当にする時期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532888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封筒暗号化の形はでき、鍵の世代も並存させているが、鍵を包む鍵は環境変数のまま。再暗号化バッチも無い。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2258568"/>
            <a:ext cx="4663440" cy="713232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2331720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Cloud KMSを入れる前に、本番データを溜め始めてよいか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154680"/>
            <a:ext cx="11277295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154680"/>
            <a:ext cx="68580" cy="93268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24612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23697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先行整備した5ドメインの進め方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538728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予約・請求・カルテ・訪問最適化・移動手当は表と制約のみ(日報AIの3軸は実装済みで対象外)。予約の二重取りはDBで止められず、アプリ側の責任。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3264408"/>
            <a:ext cx="4663440" cy="713232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86600" y="3337560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どのドメインから実装に進めるか / 二重取り防止をどこで担保するか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160520"/>
            <a:ext cx="11277295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160520"/>
            <a:ext cx="68580" cy="9326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25196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24281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テストの薄い層をどこまで埋めるか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4544568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ドメインとusecaseは厚いが、APIルート・実PostgreSQL・画面は手動確認のまま。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49440" y="4270248"/>
            <a:ext cx="4663440" cy="713232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86600" y="4343400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どれを運用開始の前提条件にするか(特に勤怠は給与に直結)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166360"/>
            <a:ext cx="11277295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166360"/>
            <a:ext cx="68580" cy="93268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52578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300" b="1" i="0">
                <a:solidFill>
                  <a:srgbClr val="B45309"/>
                </a:solidFill>
                <a:latin typeface="Meiryo"/>
                <a:cs typeface="Meiryo"/>
                <a:ea typeface="Meiryo"/>
              </a:rPr>
              <a:t>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2486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単一障害点と運用の受け皿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550408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失敗した送信予定の再投入、送信待ち行列の滞留、鍵の交換。いずれも今は手作業。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9440" y="5276088"/>
            <a:ext cx="4663440" cy="713232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86600" y="5349240"/>
            <a:ext cx="4389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buNone/>
            </a:pPr>
            <a:r>
              <a:rPr sz="100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運用画面を作るか、手順書で足りるか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199632"/>
            <a:ext cx="11277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10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推奨は、メール送信を別経路に分けたうえで予約から実装に進めることです。ご判断をお願いします。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9184"/>
            <a:ext cx="11277295" cy="521207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50" b="1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まとめ</a:t>
            </a:r>
            <a:r>
              <a:rPr sz="125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   左は現状できていること、右は判断いただきたいこと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941832"/>
            <a:ext cx="11277295" cy="0"/>
          </a:xfrm>
          <a:prstGeom prst="line">
            <a:avLst/>
          </a:prstGeom>
          <a:ln w="17780">
            <a:solidFill>
              <a:srgbClr val="CBD5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094415" y="641908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buNone/>
            </a:pPr>
            <a:r>
              <a:rPr sz="1000" b="0" i="0">
                <a:solidFill>
                  <a:srgbClr val="64748B"/>
                </a:solidFill>
                <a:latin typeface="Meiryo"/>
                <a:cs typeface="Meiryo"/>
                <a:ea typeface="Meiryo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548640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70432"/>
            <a:ext cx="68580" cy="420624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280160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047857"/>
                </a:solidFill>
                <a:latin typeface="Meiryo"/>
                <a:cs typeface="Meiryo"/>
                <a:ea typeface="Meiryo"/>
              </a:rPr>
              <a:t>この構成でできていること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5111496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業務ロジックが外部SDKを知らないため、同じコードがNode.jsとブラウザの両方で動く(公開デモで実証)</a:t>
            </a:r>
          </a:p>
          <a:p>
            <a:pPr marL="182880" indent="-182880">
              <a:lnSpc>
                <a:spcPct val="132000"/>
              </a:lnSpc>
              <a:spcBef>
                <a:spcPts val="7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依存の矢印は中心へ向かう一方通行。逆方向の依存はない(package.json で確認)</a:t>
            </a:r>
          </a:p>
          <a:p>
            <a:pPr marL="182880" indent="-182880">
              <a:lnSpc>
                <a:spcPct val="132000"/>
              </a:lnSpc>
              <a:spcBef>
                <a:spcPts val="7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対で成立すべき書き込みは、1つのトランザクションで確定する。崩れたらテストが落ちる</a:t>
            </a:r>
          </a:p>
          <a:p>
            <a:pPr marL="182880" indent="-182880">
              <a:lnSpc>
                <a:spcPct val="132000"/>
              </a:lnSpc>
              <a:spcBef>
                <a:spcPts val="7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テナント分離が二重(アプリ側とデータベース側)。効いていることを静的検査と実DBの両方で検証</a:t>
            </a:r>
          </a:p>
          <a:p>
            <a:pPr marL="182880" indent="-182880">
              <a:lnSpc>
                <a:spcPct val="132000"/>
              </a:lnSpc>
              <a:spcBef>
                <a:spcPts val="7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認証の失敗経路(列挙・総当たり・割り込み・部分更新・クロスサイト)への対策を入れた</a:t>
            </a:r>
          </a:p>
          <a:p>
            <a:pPr marL="182880" indent="-182880">
              <a:lnSpc>
                <a:spcPct val="132000"/>
              </a:lnSpc>
              <a:spcBef>
                <a:spcPts val="7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44テーブルで同じスキーマ規約。新しい表を足す手順が決まっている</a:t>
            </a:r>
          </a:p>
          <a:p>
            <a:pPr marL="182880" indent="-182880">
              <a:lnSpc>
                <a:spcPct val="132000"/>
              </a:lnSpc>
              <a:spcBef>
                <a:spcPts val="7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毎pushで静的検査・型検査・842件のテスト・本番ビルド・混入検査まで自動実行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170432"/>
            <a:ext cx="548640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1170432"/>
            <a:ext cx="68580" cy="42062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280160"/>
            <a:ext cx="515721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250" b="1" i="0">
                <a:solidFill>
                  <a:srgbClr val="6D28D9"/>
                </a:solidFill>
                <a:latin typeface="Meiryo"/>
                <a:cs typeface="Meiryo"/>
                <a:ea typeface="Meiryo"/>
              </a:rPr>
              <a:t>判断をいただきたいもの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581912"/>
            <a:ext cx="5111496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32000"/>
              </a:lnSpc>
              <a:spcBef>
                <a:spcPts val="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GASブリッジ1本への依存と、その運用設計(判断事項①)</a:t>
            </a:r>
          </a:p>
          <a:p>
            <a:pPr marL="182880" indent="-182880">
              <a:lnSpc>
                <a:spcPct val="132000"/>
              </a:lnSpc>
              <a:spcBef>
                <a:spcPts val="7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鍵管理を本番相当にする時期(②)</a:t>
            </a:r>
          </a:p>
          <a:p>
            <a:pPr marL="182880" indent="-182880">
              <a:lnSpc>
                <a:spcPct val="132000"/>
              </a:lnSpc>
              <a:spcBef>
                <a:spcPts val="7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先行整備した5ドメインを実装へ進める順番(③)</a:t>
            </a:r>
          </a:p>
          <a:p>
            <a:pPr marL="182880" indent="-182880">
              <a:lnSpc>
                <a:spcPct val="132000"/>
              </a:lnSpc>
              <a:spcBef>
                <a:spcPts val="700"/>
              </a:spcBef>
              <a:buClr>
                <a:srgbClr val="0369A1"/>
              </a:buClr>
              <a:buFont typeface="Meiryo"/>
              <a:buChar char="▪"/>
            </a:pP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テストの薄い層と、運用の受け皿をどこまで作るか(④⑤)</a:t>
            </a:r>
          </a:p>
          <a:p>
            <a:pPr marL="182880" indent="-182880">
              <a:lnSpc>
                <a:spcPct val="132000"/>
              </a:lnSpc>
              <a:spcBef>
                <a:spcPts val="700"/>
              </a:spcBef>
              <a:buClr>
                <a:srgbClr val="0369A1"/>
              </a:buClr>
              <a:buFont typeface="Meiryo"/>
              <a:buChar char="▪"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データベース設計の論点は別資料</a:t>
            </a: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:customers 39列の肥大化、業務データを平文にした前提、予約の二重取り防止、廃棄手順、監査の時期(doc/slides/db-review.pptx 第3〜4章)</a:t>
            </a:r>
          </a:p>
          <a:p>
            <a:pPr marL="182880" indent="-182880">
              <a:lnSpc>
                <a:spcPct val="132000"/>
              </a:lnSpc>
              <a:spcBef>
                <a:spcPts val="700"/>
              </a:spcBef>
              <a:buClr>
                <a:srgbClr val="0369A1"/>
              </a:buClr>
              <a:buFont typeface="Meiryo"/>
              <a:buChar char="▪"/>
            </a:pPr>
            <a:r>
              <a:rPr sz="1100" b="1">
                <a:solidFill>
                  <a:srgbClr val="14223A"/>
                </a:solidFill>
                <a:latin typeface="Meiryo"/>
                <a:cs typeface="Meiryo"/>
                <a:ea typeface="Meiryo"/>
              </a:rPr>
              <a:t>特に伺いたい点</a:t>
            </a:r>
            <a:r>
              <a:rPr sz="1100" b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:自分では気づけない構造的な問題が、他にあるかどうか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32120"/>
            <a:ext cx="11277295" cy="830326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5532120"/>
            <a:ext cx="68580" cy="830326"/>
          </a:xfrm>
          <a:prstGeom prst="rect">
            <a:avLst/>
          </a:prstGeom>
          <a:solidFill>
            <a:srgbClr val="0369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623559"/>
            <a:ext cx="109115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1050" b="1" i="0">
                <a:solidFill>
                  <a:srgbClr val="0369A1"/>
                </a:solidFill>
                <a:latin typeface="Meiryo"/>
                <a:cs typeface="Meiryo"/>
                <a:ea typeface="Meiryo"/>
              </a:rPr>
              <a:t>参照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79592"/>
            <a:ext cx="10929823" cy="4097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3000"/>
              </a:lnSpc>
              <a:buNone/>
            </a:pPr>
            <a:r>
              <a:rPr sz="1150" b="0" i="0">
                <a:solidFill>
                  <a:srgbClr val="14223A"/>
                </a:solidFill>
                <a:latin typeface="Meiryo"/>
                <a:cs typeface="Meiryo"/>
                <a:ea typeface="Meiryo"/>
              </a:rPr>
              <a:t>資料の一覧と読む順は doc/README.md。設計の背景は doc/proposal/、データベースの詳細は doc/db/、説明用スライドは doc/slides/(本資料と、データベース構造レビュー・業務確認用の3本)。  —  公開デモ:https://ohru131.github.io/katahimo-app/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