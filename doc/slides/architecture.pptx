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doc/slides/db-review.pptx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この資料の目的と、基本の4語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この資料で説明すること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テーブル設計の詳細(doc/slides/db-review.pptx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本資料で使う4語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業務ロジックはメールを送る窓口だけを知り、SendGridかGmailかは知らない。差し替えとテストがしやすくなる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データベースも外部APIも画面も、中心から見れば外側。依存の矢印は中心へ向かう一方通行になる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送信予定をデータベースに書いておき、後で送る方式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スプレッドシートへの書き戻しに使う。送信が失敗しても、業務データの保存は完了できる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ポート / アダプタが中心</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ポート / アダプタは本資料の中心にある考え方です。この作りにした理由は、同じ業務ロジックを本番(Node.js + PostgreSQL)とブラウザ内デモ(ブラウザ内DB)でそのまま動かせるようにするためです(P16)。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 doc/proposal/gas-bridge.md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認証は共有ソルトのSHA-256。トークンはシートに直書き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顧客CSVの取込は全置換(欠損時に丸ごと消える)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。複数法人を1基盤に収容</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にし、スプレッドシートは互換用の写しとして残す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将来は訪問看護事業へ展開(カルテ・保存年限)</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248ファイル / 約32,900行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63ファイル / 842件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44テーブル</a:t>
            </a:r>
            <a:r>
              <a:rPr sz="1050" b="0">
                <a:solidFill>
                  <a:srgbClr val="14223A"/>
                </a:solidFill>
                <a:latin typeface="Meiryo"/>
                <a:cs typeface="Meiryo"/>
                <a:ea typeface="Meiryo"/>
              </a:rPr>
              <a:t> / マイグレーション6本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実装の現状</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勤怠(月次集計・カレンダー反映) / スタッフ管理 / RESERVA取込 / 割引クーポン / AIプロンプト文面の編集(版管理)・日報AIの3軸(年齢帯×教育関心度×ストレス度)まで接続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スプレッドシートへの書き戻し、メール送信(GASブリッジが未デプロイのため動作未確認)</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移動手当は表と制約のみ</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未検証・未着手と書いたものは、提案書では実現済みのように読める部分です。ここで区別しておきます。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3716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3716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この配置の狙い</a:t>
            </a:r>
          </a:p>
        </p:txBody>
      </p:sp>
      <p:sp>
        <p:nvSpPr>
          <p:cNvPr id="31" name="TextBox 30"/>
          <p:cNvSpPr txBox="1"/>
          <p:nvPr/>
        </p:nvSpPr>
        <p:spPr>
          <a:xfrm>
            <a:off x="667512" y="4846320"/>
            <a:ext cx="5111496" cy="8686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。スプレッドシートは写しで、ミラーを外せば止められる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Google系の連携は既存のGASブリッジ1本に集約(課金・認証情報の新設を避けるため)</a:t>
            </a:r>
          </a:p>
        </p:txBody>
      </p:sp>
      <p:sp>
        <p:nvSpPr>
          <p:cNvPr id="32" name="Rounded Rectangle 31"/>
          <p:cNvSpPr/>
          <p:nvPr/>
        </p:nvSpPr>
        <p:spPr>
          <a:xfrm>
            <a:off x="6245352" y="4434840"/>
            <a:ext cx="5486400" cy="137160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3716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950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メール・地図・予定・スプレッドシートの4系統がGASブリッジ1本に集中しています。実行時間制限とクォータがあり、SLAはなく、単一障害点です。まだデプロイしていません。</a:t>
            </a:r>
          </a:p>
        </p:txBody>
      </p:sp>
      <p:sp>
        <p:nvSpPr>
          <p:cNvPr id="36" name="Rounded Rectangle 35"/>
          <p:cNvSpPr/>
          <p:nvPr/>
        </p:nvSpPr>
        <p:spPr>
          <a:xfrm>
            <a:off x="457200" y="5897880"/>
            <a:ext cx="11277295" cy="43891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doc/proposal/tech-stack.md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626864"/>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393192">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393192">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行レベルセキュリティ・排他制約など、必要な制約をDB側で強制できる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393192">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0.45</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393192">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393192">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18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393192">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393192">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393192">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393192">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393192">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393192">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925312"/>
            <a:ext cx="11277295" cy="402336"/>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925312"/>
            <a:ext cx="68580" cy="40233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6035040"/>
            <a:ext cx="10929823" cy="-1828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備考欄には、提案書の方針から変更した箇所と未配備のものだけを記載しています。変更の理由は各章で説明します。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9つの部品と、その間の依存の向き。業務ロジックをどこに置いたか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矢印は依存の方向。逆方向の依存はない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いずれも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業務ロジックと外側の実装</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a:t>
            </a:r>
          </a:p>
          <a:p>
            <a:pPr algn="ctr">
              <a:lnSpc>
                <a:spcPct val="116000"/>
              </a:lnSpc>
              <a:buNone/>
            </a:pPr>
            <a:r>
              <a:rPr sz="1000" b="0">
                <a:solidFill>
                  <a:srgbClr val="14223A"/>
                </a:solidFill>
                <a:latin typeface="Meiryo"/>
                <a:cs typeface="Meiryo"/>
                <a:ea typeface="Meiryo"/>
              </a:rPr>
              <a:t>保存する・送る・暗号化するといった
形(インターフェース)を33本定義する。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はどの実装かを知らない。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この構造の利点</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外部サービスが無い環境では、エラーにせず何もしない実装で動く(地図・予定・AI・ミラー)。同じ業務ロジックが、本番でもブラウザ内デモでもそのまま動く。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ポート定義の例外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パスワードのハッシュ化の窓口は、ports ではなく usecases 側に定義しています。動作に影響はありませんが、置き場所の一貫性は崩れています。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33本</a:t>
            </a:r>
            <a:r>
              <a:rPr sz="1250" b="0" i="0">
                <a:solidFill>
                  <a:srgbClr val="64748B"/>
                </a:solidFill>
                <a:latin typeface="Meiryo"/>
                <a:cs typeface="Meiryo"/>
                <a:ea typeface="Meiryo"/>
              </a:rPr>
              <a:t>   core が外部に求める処理を宣言したもの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データの読み書き(19本)</a:t>
            </a:r>
          </a:p>
        </p:txBody>
      </p:sp>
      <p:sp>
        <p:nvSpPr>
          <p:cNvPr id="9" name="TextBox 8"/>
          <p:cNvSpPr txBox="1"/>
          <p:nvPr/>
        </p:nvSpPr>
        <p:spPr>
          <a:xfrm>
            <a:off x="640080" y="1664208"/>
            <a:ext cx="3291840" cy="3429000"/>
          </a:xfrm>
          <a:prstGeom prst="rect">
            <a:avLst/>
          </a:prstGeom>
          <a:noFill/>
        </p:spPr>
        <p:txBody>
          <a:bodyPr wrap="square" lIns="0" rIns="0" tIns="0" bIns="0">
            <a:spAutoFit/>
          </a:bodyPr>
          <a:lstStyle/>
          <a:p>
            <a:pPr marL="182880" indent="-182880">
              <a:lnSpc>
                <a:spcPct val="105000"/>
              </a:lnSpc>
              <a:spcBef>
                <a:spcPts val="0"/>
              </a:spcBef>
              <a:buClr>
                <a:srgbClr val="0369A1"/>
              </a:buClr>
              <a:buFont typeface="Meiryo"/>
              <a:buChar char="▪"/>
            </a:pPr>
            <a:r>
              <a:rPr sz="950" b="0">
                <a:solidFill>
                  <a:srgbClr val="14223A"/>
                </a:solidFill>
                <a:latin typeface="Meiryo"/>
                <a:cs typeface="Meiryo"/>
                <a:ea typeface="Meiryo"/>
              </a:rPr>
              <a:t>Tenant テナント</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Staff スタッフ</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Session セッション</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PasswordResetCode 再設定コード</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Customer 顧客</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FamilyMember 世帯構成員</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DailyReport 日報</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AccidentReport 事故報告</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Receipt 領収書</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AttendanceDay 勤怠</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Coupon クーポン</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CustomerCoupon 顧客へのクーポン配布</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CouponRedemption クーポン適用記録</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AppSettings 管理者設定</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PromptTemplate AIプロンプト文面</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TenantKey 暗号鍵</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ReportAiConfig 日報AIの3軸設定</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CustomerReportProfile 家庭ごとの★</a:t>
            </a:r>
          </a:p>
          <a:p>
            <a:pPr marL="182880" indent="-182880">
              <a:lnSpc>
                <a:spcPct val="105000"/>
              </a:lnSpc>
              <a:spcBef>
                <a:spcPts val="150"/>
              </a:spcBef>
              <a:buClr>
                <a:srgbClr val="0369A1"/>
              </a:buClr>
              <a:buFont typeface="Meiryo"/>
              <a:buChar char="▪"/>
            </a:pPr>
            <a:r>
              <a:rPr sz="950" b="0">
                <a:solidFill>
                  <a:srgbClr val="14223A"/>
                </a:solidFill>
                <a:latin typeface="Meiryo"/>
                <a:cs typeface="Meiryo"/>
                <a:ea typeface="Meiryo"/>
              </a:rPr>
              <a:t>ReportAiGeneration AI生成の記録</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64208"/>
            <a:ext cx="3337560" cy="3429000"/>
          </a:xfrm>
          <a:prstGeom prst="rect">
            <a:avLst/>
          </a:prstGeom>
          <a:noFill/>
        </p:spPr>
        <p:txBody>
          <a:bodyPr wrap="square" lIns="0" rIns="0" tIns="0" bIns="0">
            <a:spAutoFit/>
          </a:bodyPr>
          <a:lstStyle/>
          <a:p>
            <a:pPr marL="182880" indent="-182880">
              <a:lnSpc>
                <a:spcPct val="105000"/>
              </a:lnSpc>
              <a:spcBef>
                <a:spcPts val="0"/>
              </a:spcBef>
              <a:buClr>
                <a:srgbClr val="6D28D9"/>
              </a:buClr>
              <a:buFont typeface="Meiryo"/>
              <a:buChar char="▪"/>
            </a:pPr>
            <a:r>
              <a:rPr sz="950" b="0">
                <a:solidFill>
                  <a:srgbClr val="14223A"/>
                </a:solidFill>
                <a:latin typeface="Meiryo"/>
                <a:cs typeface="Meiryo"/>
                <a:ea typeface="Meiryo"/>
              </a:rPr>
              <a:t>ReportAi 日報の文章生成(Gemini)</a:t>
            </a:r>
          </a:p>
          <a:p>
            <a:pPr marL="182880" indent="-182880">
              <a:lnSpc>
                <a:spcPct val="105000"/>
              </a:lnSpc>
              <a:spcBef>
                <a:spcPts val="150"/>
              </a:spcBef>
              <a:buClr>
                <a:srgbClr val="6D28D9"/>
              </a:buClr>
              <a:buFont typeface="Meiryo"/>
              <a:buChar char="▪"/>
            </a:pPr>
            <a:r>
              <a:rPr sz="950" b="0">
                <a:solidFill>
                  <a:srgbClr val="14223A"/>
                </a:solidFill>
                <a:latin typeface="Meiryo"/>
                <a:cs typeface="Meiryo"/>
                <a:ea typeface="Meiryo"/>
              </a:rPr>
              <a:t>Notifier 通知(Google Chat)</a:t>
            </a:r>
          </a:p>
          <a:p>
            <a:pPr marL="182880" indent="-182880">
              <a:lnSpc>
                <a:spcPct val="105000"/>
              </a:lnSpc>
              <a:spcBef>
                <a:spcPts val="150"/>
              </a:spcBef>
              <a:buClr>
                <a:srgbClr val="6D28D9"/>
              </a:buClr>
              <a:buFont typeface="Meiryo"/>
              <a:buChar char="▪"/>
            </a:pPr>
            <a:r>
              <a:rPr sz="950" b="0">
                <a:solidFill>
                  <a:srgbClr val="14223A"/>
                </a:solidFill>
                <a:latin typeface="Meiryo"/>
                <a:cs typeface="Meiryo"/>
                <a:ea typeface="Meiryo"/>
              </a:rPr>
              <a:t>Mailer メール送信</a:t>
            </a:r>
          </a:p>
          <a:p>
            <a:pPr marL="182880" indent="-182880">
              <a:lnSpc>
                <a:spcPct val="105000"/>
              </a:lnSpc>
              <a:spcBef>
                <a:spcPts val="150"/>
              </a:spcBef>
              <a:buClr>
                <a:srgbClr val="6D28D9"/>
              </a:buClr>
              <a:buFont typeface="Meiryo"/>
              <a:buChar char="▪"/>
            </a:pPr>
            <a:r>
              <a:rPr sz="950" b="0">
                <a:solidFill>
                  <a:srgbClr val="14223A"/>
                </a:solidFill>
                <a:latin typeface="Meiryo"/>
                <a:cs typeface="Meiryo"/>
                <a:ea typeface="Meiryo"/>
              </a:rPr>
              <a:t>Calendar 予定の読み取り</a:t>
            </a:r>
          </a:p>
          <a:p>
            <a:pPr marL="182880" indent="-182880">
              <a:lnSpc>
                <a:spcPct val="105000"/>
              </a:lnSpc>
              <a:spcBef>
                <a:spcPts val="150"/>
              </a:spcBef>
              <a:buClr>
                <a:srgbClr val="6D28D9"/>
              </a:buClr>
              <a:buFont typeface="Meiryo"/>
              <a:buChar char="▪"/>
            </a:pPr>
            <a:r>
              <a:rPr sz="950" b="0">
                <a:solidFill>
                  <a:srgbClr val="14223A"/>
                </a:solidFill>
                <a:latin typeface="Meiryo"/>
                <a:cs typeface="Meiryo"/>
                <a:ea typeface="Meiryo"/>
              </a:rPr>
              <a:t>Maps 距離の計算</a:t>
            </a:r>
          </a:p>
          <a:p>
            <a:pPr marL="182880" indent="-182880">
              <a:lnSpc>
                <a:spcPct val="105000"/>
              </a:lnSpc>
              <a:spcBef>
                <a:spcPts val="150"/>
              </a:spcBef>
              <a:buClr>
                <a:srgbClr val="6D28D9"/>
              </a:buClr>
              <a:buFont typeface="Meiryo"/>
              <a:buChar char="▪"/>
            </a:pPr>
            <a:r>
              <a:rPr sz="950" b="0">
                <a:solidFill>
                  <a:srgbClr val="14223A"/>
                </a:solidFill>
                <a:latin typeface="Meiryo"/>
                <a:cs typeface="Meiryo"/>
                <a:ea typeface="Meiryo"/>
              </a:rPr>
              <a:t>Storage 画像の保存(GCS想定)</a:t>
            </a:r>
          </a:p>
          <a:p>
            <a:pPr marL="182880" indent="-182880">
              <a:lnSpc>
                <a:spcPct val="105000"/>
              </a:lnSpc>
              <a:spcBef>
                <a:spcPts val="150"/>
              </a:spcBef>
              <a:buClr>
                <a:srgbClr val="6D28D9"/>
              </a:buClr>
              <a:buFont typeface="Meiryo"/>
              <a:buChar char="▪"/>
            </a:pPr>
            <a:r>
              <a:rPr sz="950" b="0">
                <a:solidFill>
                  <a:srgbClr val="14223A"/>
                </a:solidFill>
                <a:latin typeface="Meiryo"/>
                <a:cs typeface="Meiryo"/>
                <a:ea typeface="Meiryo"/>
              </a:rPr>
              <a:t>MirrorSender スプレッドシートへの送信</a:t>
            </a:r>
          </a:p>
          <a:p>
            <a:pPr marL="182880" indent="-182880">
              <a:lnSpc>
                <a:spcPct val="105000"/>
              </a:lnSpc>
              <a:spcBef>
                <a:spcPts val="150"/>
              </a:spcBef>
              <a:buClr>
                <a:srgbClr val="6D28D9"/>
              </a:buClr>
              <a:buFont typeface="Meiryo"/>
              <a:buChar char="▪"/>
            </a:pPr>
            <a:r>
              <a:rPr sz="950" b="0">
                <a:solidFill>
                  <a:srgbClr val="14223A"/>
                </a:solidFill>
                <a:latin typeface="Meiryo"/>
                <a:cs typeface="Meiryo"/>
                <a:ea typeface="Meiryo"/>
              </a:rPr>
              <a:t>Mirror 送信予定の積み込み</a:t>
            </a:r>
          </a:p>
          <a:p>
            <a:pPr marL="182880" indent="-182880">
              <a:lnSpc>
                <a:spcPct val="105000"/>
              </a:lnSpc>
              <a:spcBef>
                <a:spcPts val="150"/>
              </a:spcBef>
              <a:buClr>
                <a:srgbClr val="6D28D9"/>
              </a:buClr>
              <a:buFont typeface="Meiryo"/>
              <a:buChar char="▪"/>
            </a:pPr>
            <a:r>
              <a:rPr sz="9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64208"/>
            <a:ext cx="3337560" cy="3429000"/>
          </a:xfrm>
          <a:prstGeom prst="rect">
            <a:avLst/>
          </a:prstGeom>
          <a:noFill/>
        </p:spPr>
        <p:txBody>
          <a:bodyPr wrap="square" lIns="0" rIns="0" tIns="0" bIns="0">
            <a:spAutoFit/>
          </a:bodyPr>
          <a:lstStyle/>
          <a:p>
            <a:pPr marL="182880" indent="-182880">
              <a:lnSpc>
                <a:spcPct val="105000"/>
              </a:lnSpc>
              <a:spcBef>
                <a:spcPts val="0"/>
              </a:spcBef>
              <a:buClr>
                <a:srgbClr val="047857"/>
              </a:buClr>
              <a:buFont typeface="Meiryo"/>
              <a:buChar char="▪"/>
            </a:pPr>
            <a:r>
              <a:rPr sz="950" b="0">
                <a:solidFill>
                  <a:srgbClr val="14223A"/>
                </a:solidFill>
                <a:latin typeface="Meiryo"/>
                <a:cs typeface="Meiryo"/>
                <a:ea typeface="Meiryo"/>
              </a:rPr>
              <a:t>UnitOfWork 複数の書き込みを1つのトランザクションに</a:t>
            </a:r>
          </a:p>
          <a:p>
            <a:pPr marL="182880" indent="-182880">
              <a:lnSpc>
                <a:spcPct val="105000"/>
              </a:lnSpc>
              <a:spcBef>
                <a:spcPts val="150"/>
              </a:spcBef>
              <a:buClr>
                <a:srgbClr val="047857"/>
              </a:buClr>
              <a:buFont typeface="Meiryo"/>
              <a:buChar char="▪"/>
            </a:pPr>
            <a:r>
              <a:rPr sz="950" b="0">
                <a:solidFill>
                  <a:srgbClr val="14223A"/>
                </a:solidFill>
                <a:latin typeface="Meiryo"/>
                <a:cs typeface="Meiryo"/>
                <a:ea typeface="Meiryo"/>
              </a:rPr>
              <a:t>Crypto 資格情報の暗号化・復号</a:t>
            </a:r>
          </a:p>
          <a:p>
            <a:pPr marL="182880" indent="-182880">
              <a:lnSpc>
                <a:spcPct val="105000"/>
              </a:lnSpc>
              <a:spcBef>
                <a:spcPts val="150"/>
              </a:spcBef>
              <a:buClr>
                <a:srgbClr val="047857"/>
              </a:buClr>
              <a:buFont typeface="Meiryo"/>
              <a:buChar char="▪"/>
            </a:pPr>
            <a:r>
              <a:rPr sz="950" b="0">
                <a:solidFill>
                  <a:srgbClr val="14223A"/>
                </a:solidFill>
                <a:latin typeface="Meiryo"/>
                <a:cs typeface="Meiryo"/>
                <a:ea typeface="Meiryo"/>
              </a:rPr>
              <a:t>KeyManagement 鍵を包む・ほどく(KMS)</a:t>
            </a:r>
          </a:p>
          <a:p>
            <a:pPr marL="182880" indent="-182880">
              <a:lnSpc>
                <a:spcPct val="105000"/>
              </a:lnSpc>
              <a:spcBef>
                <a:spcPts val="150"/>
              </a:spcBef>
              <a:buClr>
                <a:srgbClr val="047857"/>
              </a:buClr>
              <a:buFont typeface="Meiryo"/>
              <a:buChar char="▪"/>
            </a:pPr>
            <a:r>
              <a:rPr sz="950" b="0">
                <a:solidFill>
                  <a:srgbClr val="14223A"/>
                </a:solidFill>
                <a:latin typeface="Meiryo"/>
                <a:cs typeface="Meiryo"/>
                <a:ea typeface="Meiryo"/>
              </a:rPr>
              <a:t>AuditLog 監査ログの記録</a:t>
            </a:r>
          </a:p>
          <a:p>
            <a:pPr marL="182880" indent="-182880">
              <a:lnSpc>
                <a:spcPct val="105000"/>
              </a:lnSpc>
              <a:spcBef>
                <a:spcPts val="150"/>
              </a:spcBef>
              <a:buClr>
                <a:srgbClr val="047857"/>
              </a:buClr>
              <a:buFont typeface="Meiryo"/>
              <a:buChar char="▪"/>
            </a:pPr>
            <a:r>
              <a:rPr sz="9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窓口だけを定義する効果</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テストでは偽の実装を渡すだけで済む。データベースも外部APIも起動しないため、842件のテストが約35秒で終わる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ポートの集約(Container)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全ポートの実装を1つにまとめ、それを usecase に渡します。Node.js用とブラウザ用の2種類を、同じ型で用意しています。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日報を保存するときに何が起きるか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Cookie・権限・Origin・入力を検査</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日報の行と送信予定(outbox)を同時に確定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④で日報の行と送信予定を同じトランザクションで確定させる。片方だけ通ると、検知できない取り残しが残る。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この方針にした理由(doc/proposal/gas-bridge.md)</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既存のGASブリッジを優先。①新規の課金・認証情報を避ける ②実証済みのロジック(イベント分類・タグ解析・氏名照合)を再実装しない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多重起動しても安全(SKIP LOCKED)。処理中のまま5分経った行は再取得される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送信失敗時の再試行</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失敗扱いになった件数はエラーログに出るため、運用側で把握できる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スプレッドシートへの書き戻しとメール送信は、本番で動かしたことがない。メール送信の処理はGAS側にまだ無い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GASはヘッダーを読めないため、認証用の文字列をURLクエリに付ける。ログに残り、交換手順も未整備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SendGrid等)に分ける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変更した理由は、GAS版の既存パスワードを引き継ぎ、スタッフに再設定を求めないため。初回ログイン時に、古い方式のハッシュを新方式へ入れ替える。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総当たりと列挙への対策</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書き込み側の保護</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パスワードの差し替えは、行をロックして差し替えとセッション破棄を1つのトランザクションで行う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ログイン成否・パスワード変更・管理者操作を、実行者と対象付きで記録</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制限がアカウント単位のみ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テストは、失敗すべき経路で確実に失敗することを中心に書いています。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生成物だけでなく、元の入力も残している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生成物だけを残すと、元の記述を後から確かめられない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AIが使えない環境では、何もしない実装になる(画面は生成なしで動く)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doc/slides/db-review.pptx P15)</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サーバーへは送らない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本番と共通の部分</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同じマイグレーション(44テーブル)・同じ行レベルセキュリティ・同じ業務ロジック・同じAPIルート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のサブパス配信で適用範囲の問題を避けるため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設定ではなく、出来上がった成果物をCIが検査する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デモデータは前回開いた翌日から当日まで自動で追加(履歴が途切れない)</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デモ固有の制約(本番には影響しない)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は1.0未満。書き出しの完了を待つために内部の仕組みを直接呼ぶため、バージョンを固定している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テスト63ファイル / 842件。分布は意図的に偏らせている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勤怠計算はGAS版をNodeで実行した結果と、合成データ19ケース+月次集計で完全一致。CSV解析は実サンプル398行で一致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全テーブルの静的検査と、権限を落としたロールでの実挙動</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CHECK・一意制約・複合外部キーが不正なINSERTを拒否することを、本番と同じマイグレーションを当てたDBで確認(制約名まで照合)</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新しく足したテストは、直した箇所を元に戻すと落ちることを1つずつ確認してから残しています。通るだけのテストは、後から読む人に誤解を与えます。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doc/proposal/tech-stack.md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206240"/>
        </p:xfrm>
        <a:graphic>
          <a:graphicData uri="http://schemas.openxmlformats.org/drawingml/2006/table">
            <a:tbl>
              <a:tblPr firstRow="1" bandRow="1">
                <a:tableStyleId>{5C22544A-7EE6-4342-B048-85BDC9FD1C3A}</a:tableStyleId>
              </a:tblPr>
              <a:tblGrid>
                <a:gridCol w="3969607"/>
                <a:gridCol w="1443493"/>
                <a:gridCol w="5864193"/>
              </a:tblGrid>
              <a:tr h="283464">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35661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44テーブル、複合外部キー、FORCE。静的検査と実DB検証をCIで実行</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GASブリッジが未デプロイのため動作未確認。既定でミラーは無効</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AIプロンプトの文面編集・日報AIの3軸(年齢帯×教育関心度×ストレス度)</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文面はDBで版管理。3軸は表・管理画面・生成API・保存・記録(保持期間つき)まで接続済み</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予約・請求・カルテ・訪問割当の最適化・移動手当</a:t>
                      </a:r>
                    </a:p>
                  </a:txBody>
                  <a:tcPr marL="64008" marR="64008" marT="27432" marB="27432" anchor="ctr">
                    <a:solidFill>
                      <a:srgbClr val="FFFFFF"/>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表と制約のみ。リポジトリ・API・画面はこれから</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8FAFC"/>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FFFFF"/>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FFFFF"/>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提案書と実装のずれ</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ます。赤い行は未着手です。ご判断いただきたいのは、この土台の上に赤い行を積んでよいかどうかです。土台に構造的な問題があれば、積む前に直し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優先度順。いずれも直せない問題ではなく、実施時期の判断</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doc/slides/db-review.pptx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Appに集約。SLAは無く、認証用の文字列がURLに載る。まだデプロイしていない。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メールだけ別経路に分ける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先行整備した5ドメインの進め方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予約・請求・カルテ・訪問最適化・移動手当は表と制約のみ(日報AIの3軸は実装済みで対象外)。予約の二重取りはDBで止められず、アプリ側の責任。</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推奨は、メール送信を別経路に分けたうえで予約から実装に進めることです。ご判断をお願いします。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左は現状できていること、右は判断いただきたいこと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この構成でできていること</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業務ロジックが外部SDKを知らないため、同じコードがNode.jsとブラウザの両方で動く(公開デモで実証)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依存の矢印は中心へ向かう一方通行。逆方向の依存はない(package.json で確認)</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対で成立すべき書き込みは、1つのトランザクションで確定する。崩れたらテストが落ちる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認証の失敗経路(列挙・総当たり・割り込み・部分更新・クロスサイト)への対策を入れた</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44テーブルで同じスキーマ規約。新しい表を足す手順が決まっている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毎pushで静的検査・型検査・842件のテスト・本番ビルド・混入検査まで自動実行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先行整備した5ドメインを実装へ進める順番(③)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39列の肥大化、業務データを平文にした前提、予約の二重取り防止、廃棄手順、監査の時期(doc/slides/db-review.pptx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特に伺いたい点</a:t>
            </a:r>
            <a:r>
              <a:rPr sz="1100" b="0">
                <a:solidFill>
                  <a:srgbClr val="14223A"/>
                </a:solidFill>
                <a:latin typeface="Meiryo"/>
                <a:cs typeface="Meiryo"/>
                <a:ea typeface="Meiryo"/>
              </a:rPr>
              <a:t>:自分では気づけない構造的な問題が、他にあるかどうか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資料の一覧と読む順は doc/README.md。設計の背景は doc/proposal/、データベースの詳細は doc/db/、説明用スライドは doc/slides/(本資料と、データベース構造レビュー・業務確認用の3本)。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