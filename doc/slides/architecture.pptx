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828800"/>
            <a:ext cx="10058400" cy="365760"/>
          </a:xfrm>
          <a:prstGeom prst="rect">
            <a:avLst/>
          </a:prstGeom>
          <a:noFill/>
        </p:spPr>
        <p:txBody>
          <a:bodyPr wrap="square" lIns="0" rIns="0" tIns="0" bIns="0" anchor="t">
            <a:spAutoFit/>
          </a:bodyPr>
          <a:lstStyle/>
          <a:p>
            <a:pPr algn="l">
              <a:lnSpc>
                <a:spcPct val="125000"/>
              </a:lnSpc>
              <a:buNone/>
            </a:pPr>
            <a:r>
              <a:rPr sz="1350" b="1" i="0">
                <a:solidFill>
                  <a:srgbClr val="7DD3FC"/>
                </a:solidFill>
                <a:latin typeface="Meiryo"/>
                <a:cs typeface="Meiryo"/>
                <a:ea typeface="Meiryo"/>
              </a:rPr>
              <a:t>ARCHITECTURE OVERVIEW</a:t>
            </a:r>
          </a:p>
        </p:txBody>
      </p:sp>
      <p:sp>
        <p:nvSpPr>
          <p:cNvPr id="5" name="TextBox 4"/>
          <p:cNvSpPr txBox="1"/>
          <p:nvPr/>
        </p:nvSpPr>
        <p:spPr>
          <a:xfrm>
            <a:off x="1005840" y="2240280"/>
            <a:ext cx="10241280" cy="1463040"/>
          </a:xfrm>
          <a:prstGeom prst="rect">
            <a:avLst/>
          </a:prstGeom>
          <a:noFill/>
        </p:spPr>
        <p:txBody>
          <a:bodyPr wrap="square" lIns="0" rIns="0" tIns="0" bIns="0" anchor="t">
            <a:spAutoFit/>
          </a:bodyPr>
          <a:lstStyle/>
          <a:p>
            <a:pPr algn="l">
              <a:lnSpc>
                <a:spcPct val="118000"/>
              </a:lnSpc>
              <a:buNone/>
            </a:pPr>
            <a:r>
              <a:rPr sz="3800" b="1" i="0">
                <a:solidFill>
                  <a:srgbClr val="FFFFFF"/>
                </a:solidFill>
                <a:latin typeface="Meiryo"/>
                <a:cs typeface="Meiryo"/>
                <a:ea typeface="Meiryo"/>
              </a:rPr>
              <a:t>katahimo-app
アーキテクチャ説明資料</a:t>
            </a:r>
          </a:p>
        </p:txBody>
      </p:sp>
      <p:sp>
        <p:nvSpPr>
          <p:cNvPr id="6" name="TextBox 5"/>
          <p:cNvSpPr txBox="1"/>
          <p:nvPr/>
        </p:nvSpPr>
        <p:spPr>
          <a:xfrm>
            <a:off x="1005840" y="3977639"/>
            <a:ext cx="10058400" cy="457200"/>
          </a:xfrm>
          <a:prstGeom prst="rect">
            <a:avLst/>
          </a:prstGeom>
          <a:noFill/>
        </p:spPr>
        <p:txBody>
          <a:bodyPr wrap="square" lIns="0" rIns="0" tIns="0" bIns="0" anchor="t">
            <a:spAutoFit/>
          </a:bodyPr>
          <a:lstStyle/>
          <a:p>
            <a:pPr algn="l">
              <a:lnSpc>
                <a:spcPct val="140000"/>
              </a:lnSpc>
              <a:buNone/>
            </a:pPr>
            <a:r>
              <a:rPr sz="1600" b="0" i="0">
                <a:solidFill>
                  <a:srgbClr val="CBD5E1"/>
                </a:solidFill>
                <a:latin typeface="Meiryo"/>
                <a:cs typeface="Meiryo"/>
                <a:ea typeface="Meiryo"/>
              </a:rPr>
              <a:t>訪問保育(ベビーシッター法人)向け業務SaaS — TypeScript / 9パッケージ</a:t>
            </a:r>
          </a:p>
        </p:txBody>
      </p:sp>
      <p:cxnSp>
        <p:nvCxnSpPr>
          <p:cNvPr id="7" name="Connector 6"/>
          <p:cNvCxnSpPr/>
          <p:nvPr/>
        </p:nvCxnSpPr>
        <p:spPr>
          <a:xfrm>
            <a:off x="1005840" y="4681728"/>
            <a:ext cx="3749040" cy="0"/>
          </a:xfrm>
          <a:prstGeom prst="line">
            <a:avLst/>
          </a:prstGeom>
          <a:ln w="15240">
            <a:solidFill>
              <a:srgbClr val="47556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864608"/>
            <a:ext cx="10058400" cy="914400"/>
          </a:xfrm>
          <a:prstGeom prst="rect">
            <a:avLst/>
          </a:prstGeom>
          <a:noFill/>
        </p:spPr>
        <p:txBody>
          <a:bodyPr wrap="square" lIns="0" rIns="0" tIns="0" bIns="0" anchor="t">
            <a:spAutoFit/>
          </a:bodyPr>
          <a:lstStyle/>
          <a:p>
            <a:pPr algn="l">
              <a:lnSpc>
                <a:spcPct val="155000"/>
              </a:lnSpc>
              <a:buNone/>
            </a:pPr>
            <a:r>
              <a:rPr sz="1250" b="0" i="0">
                <a:solidFill>
                  <a:srgbClr val="94A3B8"/>
                </a:solidFill>
                <a:latin typeface="Meiryo"/>
                <a:cs typeface="Meiryo"/>
                <a:ea typeface="Meiryo"/>
              </a:rPr>
              <a:t>アプリ全体の構成 ・ 判断の理由 ・ いまできていないこと
データベース設計は doc/slides/db-review.pptx を参照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この資料の目的と、先に押さえる4語</a:t>
            </a:r>
            <a:r>
              <a:rPr sz="1250" b="0" i="0">
                <a:solidFill>
                  <a:srgbClr val="64748B"/>
                </a:solidFill>
                <a:latin typeface="Meiryo"/>
                <a:cs typeface="Meiryo"/>
                <a:ea typeface="Meiryo"/>
              </a:rPr>
              <a:t>   はじめに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用語は本資料での説明を優先し、正確な定義はコードに委ねます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a:t>
            </a:r>
          </a:p>
        </p:txBody>
      </p:sp>
      <p:sp>
        <p:nvSpPr>
          <p:cNvPr id="7" name="Rounded Rectangle 6"/>
          <p:cNvSpPr/>
          <p:nvPr/>
        </p:nvSpPr>
        <p:spPr>
          <a:xfrm>
            <a:off x="457200" y="1143000"/>
            <a:ext cx="5486400" cy="13258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13258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この資料でお伝えしたいこと</a:t>
            </a:r>
          </a:p>
        </p:txBody>
      </p:sp>
      <p:sp>
        <p:nvSpPr>
          <p:cNvPr id="10" name="TextBox 9"/>
          <p:cNvSpPr txBox="1"/>
          <p:nvPr/>
        </p:nvSpPr>
        <p:spPr>
          <a:xfrm>
            <a:off x="667512" y="1554480"/>
            <a:ext cx="5111496" cy="8229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「どこに何が書いてあるか」と「なぜその置き方にしたか」</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現行のGoogle Apps Script版と、どう共存させているか</a:t>
            </a:r>
          </a:p>
          <a:p>
            <a:pPr marL="182880" indent="-182880">
              <a:lnSpc>
                <a:spcPct val="132000"/>
              </a:lnSpc>
              <a:spcBef>
                <a:spcPts val="400"/>
              </a:spcBef>
              <a:buClr>
                <a:srgbClr val="0369A1"/>
              </a:buClr>
              <a:buFont typeface="Meiryo"/>
              <a:buChar char="▪"/>
            </a:pPr>
            <a:r>
              <a:rPr sz="1150" b="1">
                <a:solidFill>
                  <a:srgbClr val="14223A"/>
                </a:solidFill>
                <a:latin typeface="Meiryo"/>
                <a:cs typeface="Meiryo"/>
                <a:ea typeface="Meiryo"/>
              </a:rPr>
              <a:t>実装済み / コードはあるが未検証 / 未着手</a:t>
            </a:r>
            <a:r>
              <a:rPr sz="1150" b="0">
                <a:solidFill>
                  <a:srgbClr val="14223A"/>
                </a:solidFill>
                <a:latin typeface="Meiryo"/>
                <a:cs typeface="Meiryo"/>
                <a:ea typeface="Meiryo"/>
              </a:rPr>
              <a:t> の区別</a:t>
            </a:r>
          </a:p>
        </p:txBody>
      </p:sp>
      <p:sp>
        <p:nvSpPr>
          <p:cNvPr id="11" name="Rounded Rectangle 10"/>
          <p:cNvSpPr/>
          <p:nvPr/>
        </p:nvSpPr>
        <p:spPr>
          <a:xfrm>
            <a:off x="6245352" y="1143000"/>
            <a:ext cx="5486400" cy="13258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5352" y="1143000"/>
            <a:ext cx="68580" cy="132588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55664"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この資料で扱わないこと</a:t>
            </a:r>
          </a:p>
        </p:txBody>
      </p:sp>
      <p:sp>
        <p:nvSpPr>
          <p:cNvPr id="14" name="TextBox 13"/>
          <p:cNvSpPr txBox="1"/>
          <p:nvPr/>
        </p:nvSpPr>
        <p:spPr>
          <a:xfrm>
            <a:off x="6455664" y="1554480"/>
            <a:ext cx="5111496" cy="8229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テーブル設計の詳細(doc/slides/db-review.pptx のデータベース構造レビュー資料が担当)</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画面のデザイン・操作手順(実物は公開デモで確認できます)</a:t>
            </a:r>
          </a:p>
        </p:txBody>
      </p:sp>
      <p:sp>
        <p:nvSpPr>
          <p:cNvPr id="15" name="TextBox 14"/>
          <p:cNvSpPr txBox="1"/>
          <p:nvPr/>
        </p:nvSpPr>
        <p:spPr>
          <a:xfrm>
            <a:off x="457200" y="2651760"/>
            <a:ext cx="11277295" cy="274320"/>
          </a:xfrm>
          <a:prstGeom prst="rect">
            <a:avLst/>
          </a:prstGeom>
          <a:noFill/>
        </p:spPr>
        <p:txBody>
          <a:bodyPr wrap="square" lIns="0" rIns="0" tIns="0" bIns="0" anchor="t">
            <a:spAutoFit/>
          </a:bodyPr>
          <a:lstStyle/>
          <a:p>
            <a:pPr algn="l">
              <a:lnSpc>
                <a:spcPct val="125000"/>
              </a:lnSpc>
              <a:buNone/>
            </a:pPr>
            <a:r>
              <a:rPr sz="1300" b="1" i="0">
                <a:solidFill>
                  <a:srgbClr val="14223A"/>
                </a:solidFill>
                <a:latin typeface="Meiryo"/>
                <a:cs typeface="Meiryo"/>
                <a:ea typeface="Meiryo"/>
              </a:rPr>
              <a:t>先に押さえておきたい4語</a:t>
            </a:r>
          </a:p>
        </p:txBody>
      </p:sp>
      <p:sp>
        <p:nvSpPr>
          <p:cNvPr id="16" name="Rounded Rectangle 15"/>
          <p:cNvSpPr/>
          <p:nvPr/>
        </p:nvSpPr>
        <p:spPr>
          <a:xfrm>
            <a:off x="457200" y="2971800"/>
            <a:ext cx="2724912" cy="2377440"/>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2971800"/>
            <a:ext cx="2724912" cy="4114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モノレポ</a:t>
            </a:r>
          </a:p>
        </p:txBody>
      </p:sp>
      <p:sp>
        <p:nvSpPr>
          <p:cNvPr id="18" name="TextBox 17"/>
          <p:cNvSpPr txBox="1"/>
          <p:nvPr/>
        </p:nvSpPr>
        <p:spPr>
          <a:xfrm>
            <a:off x="621792"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0369A1"/>
                </a:solidFill>
                <a:latin typeface="Meiryo"/>
                <a:cs typeface="Meiryo"/>
                <a:ea typeface="Meiryo"/>
              </a:rPr>
              <a:t>1つのリポジトリに複数の部品を入れる作り</a:t>
            </a:r>
          </a:p>
        </p:txBody>
      </p:sp>
      <p:cxnSp>
        <p:nvCxnSpPr>
          <p:cNvPr id="19" name="Connector 18"/>
          <p:cNvCxnSpPr/>
          <p:nvPr/>
        </p:nvCxnSpPr>
        <p:spPr>
          <a:xfrm>
            <a:off x="621792"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1792"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9つの部品(パッケージ)が同じリポジトリに入っている。共通の型やロジックを、コピーせずに共有できる</a:t>
            </a:r>
          </a:p>
        </p:txBody>
      </p:sp>
      <p:sp>
        <p:nvSpPr>
          <p:cNvPr id="21" name="Rounded Rectangle 20"/>
          <p:cNvSpPr/>
          <p:nvPr/>
        </p:nvSpPr>
        <p:spPr>
          <a:xfrm>
            <a:off x="3310128" y="2971800"/>
            <a:ext cx="2724912" cy="2377440"/>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310128" y="2971800"/>
            <a:ext cx="2724912" cy="4114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ポート / アダプタ</a:t>
            </a:r>
          </a:p>
        </p:txBody>
      </p:sp>
      <p:sp>
        <p:nvSpPr>
          <p:cNvPr id="23" name="TextBox 22"/>
          <p:cNvSpPr txBox="1"/>
          <p:nvPr/>
        </p:nvSpPr>
        <p:spPr>
          <a:xfrm>
            <a:off x="3474720"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6D28D9"/>
                </a:solidFill>
                <a:latin typeface="Meiryo"/>
                <a:cs typeface="Meiryo"/>
                <a:ea typeface="Meiryo"/>
              </a:rPr>
              <a:t>「窓口」と「実際に外とつなぐ部品」</a:t>
            </a:r>
          </a:p>
        </p:txBody>
      </p:sp>
      <p:cxnSp>
        <p:nvCxnSpPr>
          <p:cNvPr id="24" name="Connector 23"/>
          <p:cNvCxnSpPr/>
          <p:nvPr/>
        </p:nvCxnSpPr>
        <p:spPr>
          <a:xfrm>
            <a:off x="3474720"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474720"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業務ロジックは「メールを送る窓口」だけを知る。SendGridなのかGmailなのかは知らない。差し替えとテストがしやすくなる</a:t>
            </a:r>
          </a:p>
        </p:txBody>
      </p:sp>
      <p:sp>
        <p:nvSpPr>
          <p:cNvPr id="26" name="Rounded Rectangle 25"/>
          <p:cNvSpPr/>
          <p:nvPr/>
        </p:nvSpPr>
        <p:spPr>
          <a:xfrm>
            <a:off x="6163056" y="2971800"/>
            <a:ext cx="2724912" cy="237744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163056" y="2971800"/>
            <a:ext cx="2724912" cy="4114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ヘキサゴナル</a:t>
            </a:r>
          </a:p>
        </p:txBody>
      </p:sp>
      <p:sp>
        <p:nvSpPr>
          <p:cNvPr id="28" name="TextBox 27"/>
          <p:cNvSpPr txBox="1"/>
          <p:nvPr/>
        </p:nvSpPr>
        <p:spPr>
          <a:xfrm>
            <a:off x="6327648"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047857"/>
                </a:solidFill>
                <a:latin typeface="Meiryo"/>
                <a:cs typeface="Meiryo"/>
                <a:ea typeface="Meiryo"/>
              </a:rPr>
              <a:t>業務ロジックを中心に置き、外側を全部「差し替え可能」にする設計</a:t>
            </a:r>
          </a:p>
        </p:txBody>
      </p:sp>
      <p:cxnSp>
        <p:nvCxnSpPr>
          <p:cNvPr id="29" name="Connector 28"/>
          <p:cNvCxnSpPr/>
          <p:nvPr/>
        </p:nvCxnSpPr>
        <p:spPr>
          <a:xfrm>
            <a:off x="6327648"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27648"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データベースも外部APIも画面も、すべて中心から見れば「外側」。依存の矢印が中心へ向かって一方通行になる</a:t>
            </a:r>
          </a:p>
        </p:txBody>
      </p:sp>
      <p:sp>
        <p:nvSpPr>
          <p:cNvPr id="31" name="Rounded Rectangle 30"/>
          <p:cNvSpPr/>
          <p:nvPr/>
        </p:nvSpPr>
        <p:spPr>
          <a:xfrm>
            <a:off x="9015984" y="2971800"/>
            <a:ext cx="2724912" cy="2377440"/>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015984" y="2971800"/>
            <a:ext cx="2724912" cy="4114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FFFFFF"/>
                </a:solidFill>
                <a:latin typeface="Meiryo"/>
                <a:cs typeface="Meiryo"/>
                <a:ea typeface="Meiryo"/>
              </a:rPr>
              <a:t>Outbox</a:t>
            </a:r>
          </a:p>
        </p:txBody>
      </p:sp>
      <p:sp>
        <p:nvSpPr>
          <p:cNvPr id="33" name="TextBox 32"/>
          <p:cNvSpPr txBox="1"/>
          <p:nvPr/>
        </p:nvSpPr>
        <p:spPr>
          <a:xfrm>
            <a:off x="9180576" y="3474720"/>
            <a:ext cx="2395728" cy="502920"/>
          </a:xfrm>
          <a:prstGeom prst="rect">
            <a:avLst/>
          </a:prstGeom>
          <a:noFill/>
        </p:spPr>
        <p:txBody>
          <a:bodyPr wrap="square" lIns="0" rIns="0" tIns="0" bIns="0" anchor="t">
            <a:spAutoFit/>
          </a:bodyPr>
          <a:lstStyle/>
          <a:p>
            <a:pPr algn="l">
              <a:lnSpc>
                <a:spcPct val="130000"/>
              </a:lnSpc>
              <a:buNone/>
            </a:pPr>
            <a:r>
              <a:rPr sz="1100" b="1" i="0">
                <a:solidFill>
                  <a:srgbClr val="C2410C"/>
                </a:solidFill>
                <a:latin typeface="Meiryo"/>
                <a:cs typeface="Meiryo"/>
                <a:ea typeface="Meiryo"/>
              </a:rPr>
              <a:t>「送る予定」をデータベースに書いておき、後で送る方式</a:t>
            </a:r>
          </a:p>
        </p:txBody>
      </p:sp>
      <p:cxnSp>
        <p:nvCxnSpPr>
          <p:cNvPr id="34" name="Connector 33"/>
          <p:cNvCxnSpPr/>
          <p:nvPr/>
        </p:nvCxnSpPr>
        <p:spPr>
          <a:xfrm>
            <a:off x="9180576" y="4041648"/>
            <a:ext cx="2395728"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80576" y="4133087"/>
            <a:ext cx="2395728" cy="109728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Meiryo"/>
                <a:cs typeface="Meiryo"/>
                <a:ea typeface="Meiryo"/>
              </a:rPr>
              <a:t>スプレッドシートへの書き戻しに使っている。送信が失敗しても、業務データの保存は確実に完了させられる</a:t>
            </a:r>
          </a:p>
        </p:txBody>
      </p:sp>
      <p:sp>
        <p:nvSpPr>
          <p:cNvPr id="36" name="Rounded Rectangle 35"/>
          <p:cNvSpPr/>
          <p:nvPr/>
        </p:nvSpPr>
        <p:spPr>
          <a:xfrm>
            <a:off x="457200" y="5569204"/>
            <a:ext cx="11277295" cy="813307"/>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57200" y="5569204"/>
            <a:ext cx="68580" cy="813307"/>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 y="5660644"/>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この4語だけで、以降の図はだいたい読めます</a:t>
            </a:r>
          </a:p>
        </p:txBody>
      </p:sp>
      <p:sp>
        <p:nvSpPr>
          <p:cNvPr id="39" name="TextBox 38"/>
          <p:cNvSpPr txBox="1"/>
          <p:nvPr/>
        </p:nvSpPr>
        <p:spPr>
          <a:xfrm>
            <a:off x="640080" y="5916676"/>
            <a:ext cx="10929823" cy="392683"/>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特に「ポート / アダプタ」は本資料の中心です。この作りにした最大の理由は、同じ業務ロジックを本番(Node.js + PostgreSQL)とブラウザ内デモ(ブラウザ内DB)でそのまま動かせるようにするためでした(P16)。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1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全体像</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何を作っているのか、いま何が動いているのか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何を、なぜ作り直しているか</a:t>
            </a:r>
            <a:r>
              <a:rPr sz="1250" b="0" i="0">
                <a:solidFill>
                  <a:srgbClr val="64748B"/>
                </a:solidFill>
                <a:latin typeface="Meiryo"/>
                <a:cs typeface="Meiryo"/>
                <a:ea typeface="Meiryo"/>
              </a:rPr>
              <a:t>   背景と現在地</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doc/proposal/tech-stack.md / doc/proposal/gas-bridge.md / README「実装状況」</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a:t>
            </a:r>
          </a:p>
        </p:txBody>
      </p:sp>
      <p:sp>
        <p:nvSpPr>
          <p:cNvPr id="7" name="Rounded Rectangle 6"/>
          <p:cNvSpPr/>
          <p:nvPr/>
        </p:nvSpPr>
        <p:spPr>
          <a:xfrm>
            <a:off x="457200" y="1143000"/>
            <a:ext cx="3657600"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22860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3328416" cy="292608"/>
          </a:xfrm>
          <a:prstGeom prst="rect">
            <a:avLst/>
          </a:prstGeom>
          <a:noFill/>
        </p:spPr>
        <p:txBody>
          <a:bodyPr wrap="square" lIns="0" rIns="0" tIns="0" bIns="0" anchor="t">
            <a:spAutoFit/>
          </a:bodyPr>
          <a:lstStyle/>
          <a:p>
            <a:pPr algn="l">
              <a:lnSpc>
                <a:spcPct val="125000"/>
              </a:lnSpc>
              <a:buNone/>
            </a:pPr>
            <a:r>
              <a:rPr sz="1250" b="1" i="0">
                <a:solidFill>
                  <a:srgbClr val="64748B"/>
                </a:solidFill>
                <a:latin typeface="Meiryo"/>
                <a:cs typeface="Meiryo"/>
                <a:ea typeface="Meiryo"/>
              </a:rPr>
              <a:t>現行:Google Apps Script 版</a:t>
            </a:r>
          </a:p>
        </p:txBody>
      </p:sp>
      <p:sp>
        <p:nvSpPr>
          <p:cNvPr id="10" name="TextBox 9"/>
          <p:cNvSpPr txBox="1"/>
          <p:nvPr/>
        </p:nvSpPr>
        <p:spPr>
          <a:xfrm>
            <a:off x="667512" y="1554480"/>
            <a:ext cx="3282696"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データはすべてスプレッドシート / Drive / カレンダー</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1法人・1Googleアカウント</a:t>
            </a:r>
            <a:r>
              <a:rPr sz="1050" b="0">
                <a:solidFill>
                  <a:srgbClr val="14223A"/>
                </a:solidFill>
                <a:latin typeface="Meiryo"/>
                <a:cs typeface="Meiryo"/>
                <a:ea typeface="Meiryo"/>
              </a:rPr>
              <a:t>に強く依存</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認証は共有ソルトのSHA-256。セッショントークンをシートに直書き</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顧客CSVの取り込みが全置換(欠損時に丸ごと消えるリスク)</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現場で本番稼働中。機能追加は凍結し、不具合修正のみ</a:t>
            </a:r>
          </a:p>
        </p:txBody>
      </p:sp>
      <p:sp>
        <p:nvSpPr>
          <p:cNvPr id="11" name="Rounded Rectangle 10"/>
          <p:cNvSpPr/>
          <p:nvPr/>
        </p:nvSpPr>
        <p:spPr>
          <a:xfrm>
            <a:off x="4251960" y="1143000"/>
            <a:ext cx="3657600"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251960" y="1143000"/>
            <a:ext cx="68580" cy="2286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62272" y="1252728"/>
            <a:ext cx="33284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目指す先</a:t>
            </a:r>
          </a:p>
        </p:txBody>
      </p:sp>
      <p:sp>
        <p:nvSpPr>
          <p:cNvPr id="14" name="TextBox 13"/>
          <p:cNvSpPr txBox="1"/>
          <p:nvPr/>
        </p:nvSpPr>
        <p:spPr>
          <a:xfrm>
            <a:off x="4462272" y="1554480"/>
            <a:ext cx="3282696"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マルチテナントSaaS化</a:t>
            </a:r>
            <a:r>
              <a:rPr sz="1050" b="0">
                <a:solidFill>
                  <a:srgbClr val="14223A"/>
                </a:solidFill>
                <a:latin typeface="Meiryo"/>
                <a:cs typeface="Meiryo"/>
                <a:ea typeface="Meiryo"/>
              </a:rPr>
              <a:t>。複数法人を1つの基盤に収容する</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PostgreSQLを唯一の正データ</a:t>
            </a:r>
            <a:r>
              <a:rPr sz="1050" b="0">
                <a:solidFill>
                  <a:srgbClr val="14223A"/>
                </a:solidFill>
                <a:latin typeface="Meiryo"/>
                <a:cs typeface="Meiryo"/>
                <a:ea typeface="Meiryo"/>
              </a:rPr>
              <a:t>にし、スプレッドシートは互換維持のための「写し」として残す</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将来の訪問看護事業への展開(カルテ・保存年限の管理)</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一斉切り替えを避ける</a:t>
            </a:r>
            <a:r>
              <a:rPr sz="1050" b="0">
                <a:solidFill>
                  <a:srgbClr val="14223A"/>
                </a:solidFill>
                <a:latin typeface="Meiryo"/>
                <a:cs typeface="Meiryo"/>
                <a:ea typeface="Meiryo"/>
              </a:rPr>
              <a:t>:GAS版と併存しながら段階的に移す</a:t>
            </a:r>
          </a:p>
        </p:txBody>
      </p:sp>
      <p:sp>
        <p:nvSpPr>
          <p:cNvPr id="15" name="Rounded Rectangle 14"/>
          <p:cNvSpPr/>
          <p:nvPr/>
        </p:nvSpPr>
        <p:spPr>
          <a:xfrm>
            <a:off x="8046720" y="1143000"/>
            <a:ext cx="3685032" cy="22860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46720" y="1143000"/>
            <a:ext cx="68580" cy="22860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57032" y="1252728"/>
            <a:ext cx="3355848"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規模</a:t>
            </a:r>
          </a:p>
        </p:txBody>
      </p:sp>
      <p:sp>
        <p:nvSpPr>
          <p:cNvPr id="18" name="TextBox 17"/>
          <p:cNvSpPr txBox="1"/>
          <p:nvPr/>
        </p:nvSpPr>
        <p:spPr>
          <a:xfrm>
            <a:off x="8257032" y="1554480"/>
            <a:ext cx="3310128" cy="17830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9パッケージ</a:t>
            </a:r>
            <a:r>
              <a:rPr sz="1050" b="0">
                <a:solidFill>
                  <a:srgbClr val="14223A"/>
                </a:solidFill>
                <a:latin typeface="Meiryo"/>
                <a:cs typeface="Meiryo"/>
                <a:ea typeface="Meiryo"/>
              </a:rPr>
              <a:t>(pnpm workspace)</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TypeScript 246ファイル / 約32,100行</a:t>
            </a:r>
            <a:r>
              <a:rPr sz="1050" b="0">
                <a:solidFill>
                  <a:srgbClr val="14223A"/>
                </a:solidFill>
                <a:latin typeface="Meiryo"/>
                <a:cs typeface="Meiryo"/>
                <a:ea typeface="Meiryo"/>
              </a:rPr>
              <a:t>(テストを除く)</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テスト 62ファイル / 828件</a:t>
            </a:r>
            <a:r>
              <a:rPr sz="1050" b="0">
                <a:solidFill>
                  <a:srgbClr val="14223A"/>
                </a:solidFill>
                <a:latin typeface="Meiryo"/>
                <a:cs typeface="Meiryo"/>
                <a:ea typeface="Meiryo"/>
              </a:rPr>
              <a:t>。CIで毎回実行</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データベース 34テーブル</a:t>
            </a:r>
            <a:r>
              <a:rPr sz="1050" b="0">
                <a:solidFill>
                  <a:srgbClr val="14223A"/>
                </a:solidFill>
                <a:latin typeface="Meiryo"/>
                <a:cs typeface="Meiryo"/>
                <a:ea typeface="Meiryo"/>
              </a:rPr>
              <a:t> / マイグレーション4本</a:t>
            </a:r>
          </a:p>
        </p:txBody>
      </p:sp>
      <p:sp>
        <p:nvSpPr>
          <p:cNvPr id="19" name="TextBox 18"/>
          <p:cNvSpPr txBox="1"/>
          <p:nvPr/>
        </p:nvSpPr>
        <p:spPr>
          <a:xfrm>
            <a:off x="457200" y="3611880"/>
            <a:ext cx="11277295" cy="274320"/>
          </a:xfrm>
          <a:prstGeom prst="rect">
            <a:avLst/>
          </a:prstGeom>
          <a:noFill/>
        </p:spPr>
        <p:txBody>
          <a:bodyPr wrap="square" lIns="0" rIns="0" tIns="0" bIns="0" anchor="t">
            <a:spAutoFit/>
          </a:bodyPr>
          <a:lstStyle/>
          <a:p>
            <a:pPr algn="l">
              <a:lnSpc>
                <a:spcPct val="125000"/>
              </a:lnSpc>
              <a:buNone/>
            </a:pPr>
            <a:r>
              <a:rPr sz="1300" b="1" i="0">
                <a:solidFill>
                  <a:srgbClr val="14223A"/>
                </a:solidFill>
                <a:latin typeface="Meiryo"/>
                <a:cs typeface="Meiryo"/>
                <a:ea typeface="Meiryo"/>
              </a:rPr>
              <a:t>いまどこにいるか</a:t>
            </a:r>
          </a:p>
        </p:txBody>
      </p:sp>
      <p:sp>
        <p:nvSpPr>
          <p:cNvPr id="20" name="Rounded Rectangle 19"/>
          <p:cNvSpPr/>
          <p:nvPr/>
        </p:nvSpPr>
        <p:spPr>
          <a:xfrm>
            <a:off x="457200" y="3886200"/>
            <a:ext cx="11277295" cy="530352"/>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57200" y="3886200"/>
            <a:ext cx="68580" cy="53035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4023360"/>
            <a:ext cx="2286000" cy="274320"/>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実装済み</a:t>
            </a:r>
          </a:p>
        </p:txBody>
      </p:sp>
      <p:sp>
        <p:nvSpPr>
          <p:cNvPr id="23" name="TextBox 22"/>
          <p:cNvSpPr txBox="1"/>
          <p:nvPr/>
        </p:nvSpPr>
        <p:spPr>
          <a:xfrm>
            <a:off x="3108960" y="3950208"/>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認証 / 顧客 / 日報・事故報告 / 領収書 / 勤怠(月次集計・カレンダー反映) / スタッフ管理 / RESERVA取込 / 割引クーポン / 公開デモ</a:t>
            </a:r>
          </a:p>
        </p:txBody>
      </p:sp>
      <p:sp>
        <p:nvSpPr>
          <p:cNvPr id="24" name="Rounded Rectangle 23"/>
          <p:cNvSpPr/>
          <p:nvPr/>
        </p:nvSpPr>
        <p:spPr>
          <a:xfrm>
            <a:off x="457200" y="4471416"/>
            <a:ext cx="11277295" cy="530352"/>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57200" y="4471416"/>
            <a:ext cx="68580" cy="5303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4608576"/>
            <a:ext cx="2286000" cy="274320"/>
          </a:xfrm>
          <a:prstGeom prst="rect">
            <a:avLst/>
          </a:prstGeom>
          <a:noFill/>
        </p:spPr>
        <p:txBody>
          <a:bodyPr wrap="square" lIns="0" rIns="0" tIns="0" bIns="0" anchor="t">
            <a:spAutoFit/>
          </a:bodyPr>
          <a:lstStyle/>
          <a:p>
            <a:pPr algn="l">
              <a:lnSpc>
                <a:spcPct val="125000"/>
              </a:lnSpc>
              <a:buNone/>
            </a:pPr>
            <a:r>
              <a:rPr sz="1200" b="1" i="0">
                <a:solidFill>
                  <a:srgbClr val="B45309"/>
                </a:solidFill>
                <a:latin typeface="Meiryo"/>
                <a:cs typeface="Meiryo"/>
                <a:ea typeface="Meiryo"/>
              </a:rPr>
              <a:t>コードはあるが未検証</a:t>
            </a:r>
          </a:p>
        </p:txBody>
      </p:sp>
      <p:sp>
        <p:nvSpPr>
          <p:cNvPr id="27" name="TextBox 26"/>
          <p:cNvSpPr txBox="1"/>
          <p:nvPr/>
        </p:nvSpPr>
        <p:spPr>
          <a:xfrm>
            <a:off x="3108960" y="4535424"/>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スプレッドシートへの書き戻し、メール送信(GASブリッジが未デプロイのため一度も動いていない)</a:t>
            </a:r>
          </a:p>
        </p:txBody>
      </p:sp>
      <p:sp>
        <p:nvSpPr>
          <p:cNvPr id="28" name="Rounded Rectangle 27"/>
          <p:cNvSpPr/>
          <p:nvPr/>
        </p:nvSpPr>
        <p:spPr>
          <a:xfrm>
            <a:off x="457200" y="5056631"/>
            <a:ext cx="11277295" cy="530352"/>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5056631"/>
            <a:ext cx="68580" cy="53035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5193792"/>
            <a:ext cx="2286000" cy="274320"/>
          </a:xfrm>
          <a:prstGeom prst="rect">
            <a:avLst/>
          </a:prstGeom>
          <a:noFill/>
        </p:spPr>
        <p:txBody>
          <a:bodyPr wrap="square" lIns="0" rIns="0" tIns="0" bIns="0" anchor="t">
            <a:spAutoFit/>
          </a:bodyPr>
          <a:lstStyle/>
          <a:p>
            <a:pPr algn="l">
              <a:lnSpc>
                <a:spcPct val="125000"/>
              </a:lnSpc>
              <a:buNone/>
            </a:pPr>
            <a:r>
              <a:rPr sz="1200" b="1" i="0">
                <a:solidFill>
                  <a:srgbClr val="6D28D9"/>
                </a:solidFill>
                <a:latin typeface="Meiryo"/>
                <a:cs typeface="Meiryo"/>
                <a:ea typeface="Meiryo"/>
              </a:rPr>
              <a:t>スキーマのみ</a:t>
            </a:r>
          </a:p>
        </p:txBody>
      </p:sp>
      <p:sp>
        <p:nvSpPr>
          <p:cNvPr id="31" name="TextBox 30"/>
          <p:cNvSpPr txBox="1"/>
          <p:nvPr/>
        </p:nvSpPr>
        <p:spPr>
          <a:xfrm>
            <a:off x="3108960" y="5120640"/>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予約 / 請求・決済 / 顧客カルテ / 訪問割当の最適化 / 移動手当(表と制約はあるが、実装・API・画面は無い)</a:t>
            </a:r>
          </a:p>
        </p:txBody>
      </p:sp>
      <p:sp>
        <p:nvSpPr>
          <p:cNvPr id="32" name="Rounded Rectangle 31"/>
          <p:cNvSpPr/>
          <p:nvPr/>
        </p:nvSpPr>
        <p:spPr>
          <a:xfrm>
            <a:off x="457200" y="5641847"/>
            <a:ext cx="11277295" cy="530352"/>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 y="5641847"/>
            <a:ext cx="68580" cy="53035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8368" y="5779007"/>
            <a:ext cx="2286000" cy="274320"/>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未着手</a:t>
            </a:r>
          </a:p>
        </p:txBody>
      </p:sp>
      <p:sp>
        <p:nvSpPr>
          <p:cNvPr id="35" name="TextBox 34"/>
          <p:cNvSpPr txBox="1"/>
          <p:nvPr/>
        </p:nvSpPr>
        <p:spPr>
          <a:xfrm>
            <a:off x="3108960" y="5705855"/>
            <a:ext cx="8351215" cy="438912"/>
          </a:xfrm>
          <a:prstGeom prst="rect">
            <a:avLst/>
          </a:prstGeom>
          <a:noFill/>
        </p:spPr>
        <p:txBody>
          <a:bodyPr wrap="square" lIns="0" rIns="0" tIns="0" bIns="0" anchor="t">
            <a:spAutoFit/>
          </a:bodyPr>
          <a:lstStyle/>
          <a:p>
            <a:pPr algn="l">
              <a:lnSpc>
                <a:spcPct val="130000"/>
              </a:lnSpc>
              <a:buNone/>
            </a:pPr>
            <a:r>
              <a:rPr sz="1100" b="0" i="0">
                <a:solidFill>
                  <a:srgbClr val="14223A"/>
                </a:solidFill>
                <a:latin typeface="Meiryo"/>
                <a:cs typeface="Meiryo"/>
                <a:ea typeface="Meiryo"/>
              </a:rPr>
              <a:t>本番デプロイ(Cloud Run) / Cloud KMS / 再暗号化バッチ / 実データでの並行運用の照合</a:t>
            </a:r>
          </a:p>
        </p:txBody>
      </p:sp>
      <p:sp>
        <p:nvSpPr>
          <p:cNvPr id="36" name="TextBox 35"/>
          <p:cNvSpPr txBox="1"/>
          <p:nvPr/>
        </p:nvSpPr>
        <p:spPr>
          <a:xfrm>
            <a:off x="457200" y="6199632"/>
            <a:ext cx="11277295" cy="274320"/>
          </a:xfrm>
          <a:prstGeom prst="rect">
            <a:avLst/>
          </a:prstGeom>
          <a:noFill/>
        </p:spPr>
        <p:txBody>
          <a:bodyPr wrap="square" lIns="0" rIns="0" tIns="0" bIns="0" anchor="t">
            <a:spAutoFit/>
          </a:bodyPr>
          <a:lstStyle/>
          <a:p>
            <a:pPr algn="l">
              <a:lnSpc>
                <a:spcPct val="125000"/>
              </a:lnSpc>
              <a:buNone/>
            </a:pPr>
            <a:r>
              <a:rPr sz="1050" b="0" i="0">
                <a:solidFill>
                  <a:srgbClr val="64748B"/>
                </a:solidFill>
                <a:latin typeface="Meiryo"/>
                <a:cs typeface="Meiryo"/>
                <a:ea typeface="Meiryo"/>
              </a:rPr>
              <a:t>「未検証」「未着手」と書いたものは、提案書では実現済みのように読めてしまう部分です。先に区別をお伝えします。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実行時の全体像</a:t>
            </a:r>
            <a:r>
              <a:rPr sz="1250" b="0" i="0">
                <a:solidFill>
                  <a:srgbClr val="64748B"/>
                </a:solidFill>
                <a:latin typeface="Meiryo"/>
                <a:cs typeface="Meiryo"/>
                <a:ea typeface="Meiryo"/>
              </a:rPr>
              <a:t>   本番想定の配置。実線=リクエストを待つ呼び出し、破線=待たない処理</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本番(Cloud Run + Cloud SQL)は未配備。現在はローカル開発と公開デモのみ稼働</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a:t>
            </a:r>
          </a:p>
        </p:txBody>
      </p:sp>
      <p:sp>
        <p:nvSpPr>
          <p:cNvPr id="7" name="Rounded Rectangle 6"/>
          <p:cNvSpPr/>
          <p:nvPr/>
        </p:nvSpPr>
        <p:spPr>
          <a:xfrm>
            <a:off x="457200" y="1188720"/>
            <a:ext cx="2286000" cy="914400"/>
          </a:xfrm>
          <a:prstGeom prst="roundRect">
            <a:avLst>
              <a:gd name="adj" fmla="val 14000"/>
            </a:avLst>
          </a:prstGeom>
          <a:solidFill>
            <a:srgbClr val="FFFFFF"/>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14223A"/>
                </a:solidFill>
                <a:latin typeface="Meiryo"/>
                <a:cs typeface="Meiryo"/>
                <a:ea typeface="Meiryo"/>
              </a:rPr>
              <a:t>ブラウザ</a:t>
            </a:r>
          </a:p>
          <a:p>
            <a:pPr algn="ctr">
              <a:lnSpc>
                <a:spcPct val="116000"/>
              </a:lnSpc>
              <a:buNone/>
            </a:pPr>
            <a:r>
              <a:rPr sz="1000" b="0">
                <a:solidFill>
                  <a:srgbClr val="64748B"/>
                </a:solidFill>
                <a:latin typeface="Meiryo"/>
                <a:cs typeface="Meiryo"/>
                <a:ea typeface="Meiryo"/>
              </a:rPr>
              <a:t>React + Vite / PWA</a:t>
            </a:r>
          </a:p>
          <a:p>
            <a:pPr algn="ctr">
              <a:lnSpc>
                <a:spcPct val="116000"/>
              </a:lnSpc>
              <a:buNone/>
            </a:pPr>
            <a:r>
              <a:rPr sz="1000" b="0">
                <a:solidFill>
                  <a:srgbClr val="64748B"/>
                </a:solidFill>
                <a:latin typeface="Meiryo"/>
                <a:cs typeface="Meiryo"/>
                <a:ea typeface="Meiryo"/>
              </a:rPr>
              <a:t>スマホ主体 / HTTPS</a:t>
            </a:r>
          </a:p>
        </p:txBody>
      </p:sp>
      <p:sp>
        <p:nvSpPr>
          <p:cNvPr id="8" name="Rounded Rectangle 7"/>
          <p:cNvSpPr/>
          <p:nvPr/>
        </p:nvSpPr>
        <p:spPr>
          <a:xfrm>
            <a:off x="3108960" y="1188720"/>
            <a:ext cx="2651760" cy="914400"/>
          </a:xfrm>
          <a:prstGeom prst="roundRect">
            <a:avLst>
              <a:gd name="adj" fmla="val 14000"/>
            </a:avLst>
          </a:prstGeom>
          <a:solidFill>
            <a:srgbClr val="E0F2FE"/>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14223A"/>
                </a:solidFill>
                <a:latin typeface="Meiryo"/>
                <a:cs typeface="Meiryo"/>
                <a:ea typeface="Meiryo"/>
              </a:rPr>
              <a:t>API サーバー</a:t>
            </a:r>
          </a:p>
          <a:p>
            <a:pPr algn="ctr">
              <a:lnSpc>
                <a:spcPct val="116000"/>
              </a:lnSpc>
              <a:buNone/>
            </a:pPr>
            <a:r>
              <a:rPr sz="1000" b="0">
                <a:solidFill>
                  <a:srgbClr val="64748B"/>
                </a:solidFill>
                <a:latin typeface="Meiryo"/>
                <a:cs typeface="Meiryo"/>
                <a:ea typeface="Meiryo"/>
              </a:rPr>
              <a:t>Hono / Node.js 22</a:t>
            </a:r>
          </a:p>
          <a:p>
            <a:pPr algn="ctr">
              <a:lnSpc>
                <a:spcPct val="116000"/>
              </a:lnSpc>
              <a:buNone/>
            </a:pPr>
            <a:r>
              <a:rPr sz="1000" b="0">
                <a:solidFill>
                  <a:srgbClr val="B91C1C"/>
                </a:solidFill>
                <a:latin typeface="Meiryo"/>
                <a:cs typeface="Meiryo"/>
                <a:ea typeface="Meiryo"/>
              </a:rPr>
              <a:t>Cloud Run(未配備)</a:t>
            </a:r>
          </a:p>
        </p:txBody>
      </p:sp>
      <p:sp>
        <p:nvSpPr>
          <p:cNvPr id="9" name="Rounded Rectangle 8"/>
          <p:cNvSpPr/>
          <p:nvPr/>
        </p:nvSpPr>
        <p:spPr>
          <a:xfrm>
            <a:off x="6126480" y="1188720"/>
            <a:ext cx="2560320" cy="914400"/>
          </a:xfrm>
          <a:prstGeom prst="roundRect">
            <a:avLst>
              <a:gd name="adj" fmla="val 14000"/>
            </a:avLst>
          </a:prstGeom>
          <a:solidFill>
            <a:srgbClr val="D1FAE5"/>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50" b="1">
                <a:solidFill>
                  <a:srgbClr val="14223A"/>
                </a:solidFill>
                <a:latin typeface="Meiryo"/>
                <a:cs typeface="Meiryo"/>
                <a:ea typeface="Meiryo"/>
              </a:rPr>
              <a:t>PostgreSQL</a:t>
            </a:r>
          </a:p>
          <a:p>
            <a:pPr algn="ctr">
              <a:lnSpc>
                <a:spcPct val="116000"/>
              </a:lnSpc>
              <a:buNone/>
            </a:pPr>
            <a:r>
              <a:rPr sz="1000" b="1">
                <a:solidFill>
                  <a:srgbClr val="047857"/>
                </a:solidFill>
                <a:latin typeface="Meiryo"/>
                <a:cs typeface="Meiryo"/>
                <a:ea typeface="Meiryo"/>
              </a:rPr>
              <a:t>唯一の正データ</a:t>
            </a:r>
          </a:p>
          <a:p>
            <a:pPr algn="ctr">
              <a:lnSpc>
                <a:spcPct val="116000"/>
              </a:lnSpc>
              <a:buNone/>
            </a:pPr>
            <a:r>
              <a:rPr sz="1000" b="0">
                <a:solidFill>
                  <a:srgbClr val="B91C1C"/>
                </a:solidFill>
                <a:latin typeface="Meiryo"/>
                <a:cs typeface="Meiryo"/>
                <a:ea typeface="Meiryo"/>
              </a:rPr>
              <a:t>Cloud SQL(未配備)</a:t>
            </a:r>
          </a:p>
        </p:txBody>
      </p:sp>
      <p:sp>
        <p:nvSpPr>
          <p:cNvPr id="10" name="Rounded Rectangle 9"/>
          <p:cNvSpPr/>
          <p:nvPr/>
        </p:nvSpPr>
        <p:spPr>
          <a:xfrm>
            <a:off x="9052560" y="1188720"/>
            <a:ext cx="2679192" cy="914400"/>
          </a:xfrm>
          <a:prstGeom prst="roundRect">
            <a:avLst>
              <a:gd name="adj" fmla="val 14000"/>
            </a:avLst>
          </a:prstGeom>
          <a:solidFill>
            <a:srgbClr val="EDE9FE"/>
          </a:solidFill>
          <a:ln w="1905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Gemini API</a:t>
            </a:r>
          </a:p>
          <a:p>
            <a:pPr algn="ctr">
              <a:lnSpc>
                <a:spcPct val="116000"/>
              </a:lnSpc>
              <a:buNone/>
            </a:pPr>
            <a:r>
              <a:rPr sz="1000" b="0">
                <a:solidFill>
                  <a:srgbClr val="64748B"/>
                </a:solidFill>
                <a:latin typeface="Meiryo"/>
                <a:cs typeface="Meiryo"/>
                <a:ea typeface="Meiryo"/>
              </a:rPr>
              <a:t>日報の文章生成 / 領収書のOCR</a:t>
            </a:r>
          </a:p>
        </p:txBody>
      </p:sp>
      <p:sp>
        <p:nvSpPr>
          <p:cNvPr id="11" name="Rounded Rectangle 10"/>
          <p:cNvSpPr/>
          <p:nvPr/>
        </p:nvSpPr>
        <p:spPr>
          <a:xfrm>
            <a:off x="3108960" y="2377440"/>
            <a:ext cx="2651760" cy="914400"/>
          </a:xfrm>
          <a:prstGeom prst="roundRect">
            <a:avLst>
              <a:gd name="adj" fmla="val 14000"/>
            </a:avLst>
          </a:prstGeom>
          <a:solidFill>
            <a:srgbClr val="FFEDD5"/>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ミラーワーカー</a:t>
            </a:r>
          </a:p>
          <a:p>
            <a:pPr algn="ctr">
              <a:lnSpc>
                <a:spcPct val="116000"/>
              </a:lnSpc>
              <a:buNone/>
            </a:pPr>
            <a:r>
              <a:rPr sz="1000" b="0">
                <a:solidFill>
                  <a:srgbClr val="64748B"/>
                </a:solidFill>
                <a:latin typeface="Meiryo"/>
                <a:cs typeface="Meiryo"/>
                <a:ea typeface="Meiryo"/>
              </a:rPr>
              <a:t>outbox_jobs を定期的に処理</a:t>
            </a:r>
          </a:p>
          <a:p>
            <a:pPr algn="ctr">
              <a:lnSpc>
                <a:spcPct val="116000"/>
              </a:lnSpc>
              <a:buNone/>
            </a:pPr>
            <a:r>
              <a:rPr sz="950" b="0">
                <a:solidFill>
                  <a:srgbClr val="B91C1C"/>
                </a:solidFill>
                <a:latin typeface="Meiryo"/>
                <a:cs typeface="Meiryo"/>
                <a:ea typeface="Meiryo"/>
              </a:rPr>
              <a:t>Cloud Run Job 想定(未配備)</a:t>
            </a:r>
          </a:p>
        </p:txBody>
      </p:sp>
      <p:sp>
        <p:nvSpPr>
          <p:cNvPr id="12" name="Rounded Rectangle 11"/>
          <p:cNvSpPr/>
          <p:nvPr/>
        </p:nvSpPr>
        <p:spPr>
          <a:xfrm>
            <a:off x="6126480" y="2377440"/>
            <a:ext cx="2560320" cy="914400"/>
          </a:xfrm>
          <a:prstGeom prst="roundRect">
            <a:avLst>
              <a:gd name="adj" fmla="val 14000"/>
            </a:avLst>
          </a:prstGeom>
          <a:solidFill>
            <a:srgbClr val="FFFFFF"/>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GAS ブリッジ</a:t>
            </a:r>
          </a:p>
          <a:p>
            <a:pPr algn="ctr">
              <a:lnSpc>
                <a:spcPct val="116000"/>
              </a:lnSpc>
              <a:buNone/>
            </a:pPr>
            <a:r>
              <a:rPr sz="1000" b="0">
                <a:solidFill>
                  <a:srgbClr val="64748B"/>
                </a:solidFill>
                <a:latin typeface="Meiryo"/>
                <a:cs typeface="Meiryo"/>
                <a:ea typeface="Meiryo"/>
              </a:rPr>
              <a:t>既存のGAS Web App 1本</a:t>
            </a:r>
          </a:p>
          <a:p>
            <a:pPr algn="ctr">
              <a:lnSpc>
                <a:spcPct val="116000"/>
              </a:lnSpc>
              <a:buNone/>
            </a:pPr>
            <a:r>
              <a:rPr sz="950" b="0">
                <a:solidFill>
                  <a:srgbClr val="B91C1C"/>
                </a:solidFill>
                <a:latin typeface="Meiryo"/>
                <a:cs typeface="Meiryo"/>
                <a:ea typeface="Meiryo"/>
              </a:rPr>
              <a:t>まだ一度もデプロイしていない</a:t>
            </a:r>
          </a:p>
        </p:txBody>
      </p:sp>
      <p:sp>
        <p:nvSpPr>
          <p:cNvPr id="13" name="Rounded Rectangle 12"/>
          <p:cNvSpPr/>
          <p:nvPr/>
        </p:nvSpPr>
        <p:spPr>
          <a:xfrm>
            <a:off x="9052560" y="2377440"/>
            <a:ext cx="2679192" cy="914400"/>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14223A"/>
                </a:solidFill>
                <a:latin typeface="Meiryo"/>
                <a:cs typeface="Meiryo"/>
                <a:ea typeface="Meiryo"/>
              </a:rPr>
              <a:t>スプレッドシート</a:t>
            </a:r>
          </a:p>
          <a:p>
            <a:pPr algn="ctr">
              <a:lnSpc>
                <a:spcPct val="116000"/>
              </a:lnSpc>
              <a:buNone/>
            </a:pPr>
            <a:r>
              <a:rPr sz="1000" b="0">
                <a:solidFill>
                  <a:srgbClr val="64748B"/>
                </a:solidFill>
                <a:latin typeface="Meiryo"/>
                <a:cs typeface="Meiryo"/>
                <a:ea typeface="Meiryo"/>
              </a:rPr>
              <a:t>Drive / カレンダー / Gmail</a:t>
            </a:r>
          </a:p>
        </p:txBody>
      </p:sp>
      <p:sp>
        <p:nvSpPr>
          <p:cNvPr id="14" name="Rounded Rectangle 13"/>
          <p:cNvSpPr/>
          <p:nvPr/>
        </p:nvSpPr>
        <p:spPr>
          <a:xfrm>
            <a:off x="6126480" y="3566160"/>
            <a:ext cx="2560320" cy="56692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Google Chat(通知)</a:t>
            </a:r>
          </a:p>
        </p:txBody>
      </p:sp>
      <p:cxnSp>
        <p:nvCxnSpPr>
          <p:cNvPr id="15" name="Connector 14"/>
          <p:cNvCxnSpPr/>
          <p:nvPr/>
        </p:nvCxnSpPr>
        <p:spPr>
          <a:xfrm>
            <a:off x="2788920" y="1645920"/>
            <a:ext cx="274320" cy="0"/>
          </a:xfrm>
          <a:prstGeom prst="line">
            <a:avLst/>
          </a:prstGeom>
          <a:ln w="25400">
            <a:solidFill>
              <a:srgbClr val="0369A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806440" y="1645920"/>
            <a:ext cx="274320" cy="0"/>
          </a:xfrm>
          <a:prstGeom prst="line">
            <a:avLst/>
          </a:prstGeom>
          <a:ln w="25400">
            <a:solidFill>
              <a:srgbClr val="047857"/>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434840" y="1024128"/>
            <a:ext cx="0" cy="146304"/>
          </a:xfrm>
          <a:prstGeom prst="line">
            <a:avLst/>
          </a:prstGeom>
          <a:ln w="19050">
            <a:solidFill>
              <a:srgbClr val="6D28D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434840" y="1024128"/>
            <a:ext cx="5943600" cy="0"/>
          </a:xfrm>
          <a:prstGeom prst="line">
            <a:avLst/>
          </a:prstGeom>
          <a:ln w="19050">
            <a:solidFill>
              <a:srgbClr val="6D28D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378440" y="1024128"/>
            <a:ext cx="0" cy="128016"/>
          </a:xfrm>
          <a:prstGeom prst="line">
            <a:avLst/>
          </a:prstGeom>
          <a:ln w="1905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06640" y="2139696"/>
            <a:ext cx="0" cy="109728"/>
          </a:xfrm>
          <a:prstGeom prst="line">
            <a:avLst/>
          </a:prstGeom>
          <a:ln w="19050">
            <a:solidFill>
              <a:srgbClr val="C2410C"/>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34840" y="2249424"/>
            <a:ext cx="2971800" cy="0"/>
          </a:xfrm>
          <a:prstGeom prst="line">
            <a:avLst/>
          </a:prstGeom>
          <a:ln w="19050">
            <a:solidFill>
              <a:srgbClr val="C2410C"/>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34840" y="2249424"/>
            <a:ext cx="0" cy="91440"/>
          </a:xfrm>
          <a:prstGeom prst="line">
            <a:avLst/>
          </a:prstGeom>
          <a:ln w="19050">
            <a:solidFill>
              <a:srgbClr val="C2410C"/>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06440" y="2834640"/>
            <a:ext cx="274320" cy="0"/>
          </a:xfrm>
          <a:prstGeom prst="line">
            <a:avLst/>
          </a:prstGeom>
          <a:ln w="20320">
            <a:solidFill>
              <a:srgbClr val="B4530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732520" y="2834640"/>
            <a:ext cx="274320" cy="0"/>
          </a:xfrm>
          <a:prstGeom prst="line">
            <a:avLst/>
          </a:prstGeom>
          <a:ln w="20320">
            <a:solidFill>
              <a:srgbClr val="B4530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623560" y="2121408"/>
            <a:ext cx="0" cy="1728216"/>
          </a:xfrm>
          <a:prstGeom prst="line">
            <a:avLst/>
          </a:prstGeom>
          <a:ln w="17780">
            <a:solidFill>
              <a:srgbClr val="64748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623560" y="3849624"/>
            <a:ext cx="457200" cy="0"/>
          </a:xfrm>
          <a:prstGeom prst="line">
            <a:avLst/>
          </a:prstGeom>
          <a:ln w="17780">
            <a:solidFill>
              <a:srgbClr val="64748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108960" y="3703320"/>
            <a:ext cx="2423160" cy="365760"/>
          </a:xfrm>
          <a:prstGeom prst="rect">
            <a:avLst/>
          </a:prstGeom>
          <a:noFill/>
        </p:spPr>
        <p:txBody>
          <a:bodyPr wrap="square" lIns="0" rIns="0" tIns="0" bIns="0" anchor="t">
            <a:spAutoFit/>
          </a:bodyPr>
          <a:lstStyle/>
          <a:p>
            <a:pPr algn="r">
              <a:lnSpc>
                <a:spcPct val="130000"/>
              </a:lnSpc>
              <a:buNone/>
            </a:pPr>
            <a:r>
              <a:rPr sz="950" b="0" i="0">
                <a:solidFill>
                  <a:srgbClr val="64748B"/>
                </a:solidFill>
                <a:latin typeface="Meiryo"/>
                <a:cs typeface="Meiryo"/>
                <a:ea typeface="Meiryo"/>
              </a:rPr>
              <a:t>APIから直接通知
(トランザクションの外)</a:t>
            </a:r>
          </a:p>
        </p:txBody>
      </p:sp>
      <p:sp>
        <p:nvSpPr>
          <p:cNvPr id="28" name="Rounded Rectangle 27"/>
          <p:cNvSpPr/>
          <p:nvPr/>
        </p:nvSpPr>
        <p:spPr>
          <a:xfrm>
            <a:off x="457200" y="4434840"/>
            <a:ext cx="5486400"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4434840"/>
            <a:ext cx="68580" cy="1234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67512" y="454456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この配置で守りたかったこと</a:t>
            </a:r>
          </a:p>
        </p:txBody>
      </p:sp>
      <p:sp>
        <p:nvSpPr>
          <p:cNvPr id="31" name="TextBox 30"/>
          <p:cNvSpPr txBox="1"/>
          <p:nvPr/>
        </p:nvSpPr>
        <p:spPr>
          <a:xfrm>
            <a:off x="667512" y="4846320"/>
            <a:ext cx="5111496"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PostgreSQLが唯一の正データ</a:t>
            </a:r>
            <a:r>
              <a:rPr sz="1050" b="0">
                <a:solidFill>
                  <a:srgbClr val="14223A"/>
                </a:solidFill>
                <a:latin typeface="Meiryo"/>
                <a:cs typeface="Meiryo"/>
                <a:ea typeface="Meiryo"/>
              </a:rPr>
              <a:t>. スプレッドシートは「写し」であり、止めるときはミラーの部品を外すだけ</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Google系の外部連携は既存のGASブリッジ1本に集約した(新規の課金・認証情報の準備を避けるため)</a:t>
            </a:r>
          </a:p>
        </p:txBody>
      </p:sp>
      <p:sp>
        <p:nvSpPr>
          <p:cNvPr id="32" name="Rounded Rectangle 31"/>
          <p:cNvSpPr/>
          <p:nvPr/>
        </p:nvSpPr>
        <p:spPr>
          <a:xfrm>
            <a:off x="6245352" y="4434840"/>
            <a:ext cx="5486400" cy="12344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5352" y="4434840"/>
            <a:ext cx="68580" cy="12344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28232" y="4526279"/>
            <a:ext cx="5120640"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この配置の弱点(第4章の判断事項①)</a:t>
            </a:r>
          </a:p>
        </p:txBody>
      </p:sp>
      <p:sp>
        <p:nvSpPr>
          <p:cNvPr id="35" name="TextBox 34"/>
          <p:cNvSpPr txBox="1"/>
          <p:nvPr/>
        </p:nvSpPr>
        <p:spPr>
          <a:xfrm>
            <a:off x="6428232" y="4782312"/>
            <a:ext cx="5138928" cy="81381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メール・地図・予定・スプレッドシートの4系統がGASブリッジ1本に集中しています。実行時間制限とクォータがあり、SLAはなく、単一障害点です。しかもまだ一度もデプロイしていません。</a:t>
            </a:r>
          </a:p>
        </p:txBody>
      </p:sp>
      <p:sp>
        <p:nvSpPr>
          <p:cNvPr id="36" name="Rounded Rectangle 35"/>
          <p:cNvSpPr/>
          <p:nvPr/>
        </p:nvSpPr>
        <p:spPr>
          <a:xfrm>
            <a:off x="457200" y="5806440"/>
            <a:ext cx="11277295" cy="45720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5888736"/>
            <a:ext cx="10911535" cy="274320"/>
          </a:xfrm>
          <a:prstGeom prst="rect">
            <a:avLst/>
          </a:prstGeom>
          <a:noFill/>
        </p:spPr>
        <p:txBody>
          <a:bodyPr wrap="square" lIns="0" rIns="0" tIns="0" bIns="0" anchor="t">
            <a:spAutoFit/>
          </a:bodyPr>
          <a:lstStyle/>
          <a:p>
            <a:pPr algn="l">
              <a:lnSpc>
                <a:spcPct val="125000"/>
              </a:lnSpc>
              <a:buNone/>
            </a:pPr>
            <a:r>
              <a:rPr sz="1050" b="0" i="0">
                <a:solidFill>
                  <a:srgbClr val="14223A"/>
                </a:solidFill>
                <a:latin typeface="Meiryo"/>
                <a:cs typeface="Meiryo"/>
                <a:ea typeface="Meiryo"/>
              </a:rPr>
              <a:t>読み方:赤い注記は「まだ存在しないもの」。破線は、リクエストの完了を待たずに後から動く処理。オレンジの破線がスプレッドシートへの書き戻し経路です。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採用した技術と、その理由</a:t>
            </a:r>
            <a:r>
              <a:rPr sz="1250" b="0" i="0">
                <a:solidFill>
                  <a:srgbClr val="64748B"/>
                </a:solidFill>
                <a:latin typeface="Meiryo"/>
                <a:cs typeface="Meiryo"/>
                <a:ea typeface="Meiryo"/>
              </a:rPr>
              <a:t>   提案書から変更した点も併記</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packages/*/package.json / doc/proposal/tech-stack.md 第2〜3章</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6</a:t>
            </a:r>
          </a:p>
        </p:txBody>
      </p:sp>
      <p:graphicFrame>
        <p:nvGraphicFramePr>
          <p:cNvPr id="7" name="Table 6"/>
          <p:cNvGraphicFramePr>
            <a:graphicFrameLocks noGrp="1"/>
          </p:cNvGraphicFramePr>
          <p:nvPr/>
        </p:nvGraphicFramePr>
        <p:xfrm>
          <a:off x="457200" y="1170432"/>
          <a:ext cx="11277293" cy="4727448"/>
        </p:xfrm>
        <a:graphic>
          <a:graphicData uri="http://schemas.openxmlformats.org/drawingml/2006/table">
            <a:tbl>
              <a:tblPr firstRow="1" bandRow="1">
                <a:tableStyleId>{5C22544A-7EE6-4342-B048-85BDC9FD1C3A}</a:tableStyleId>
              </a:tblPr>
              <a:tblGrid>
                <a:gridCol w="1623930"/>
                <a:gridCol w="2977205"/>
                <a:gridCol w="4781573"/>
                <a:gridCol w="1894585"/>
              </a:tblGrid>
              <a:tr h="301752">
                <a:tc>
                  <a:txBody>
                    <a:bodyPr wrap="square"/>
                    <a:lstStyle/>
                    <a:p>
                      <a:pPr algn="l">
                        <a:lnSpc>
                          <a:spcPct val="115000"/>
                        </a:lnSpc>
                        <a:buNone/>
                      </a:pPr>
                      <a:r>
                        <a:rPr sz="1050" b="1">
                          <a:solidFill>
                            <a:srgbClr val="14223A"/>
                          </a:solidFill>
                          <a:latin typeface="Meiryo"/>
                          <a:cs typeface="Meiryo"/>
                          <a:ea typeface="Meiryo"/>
                        </a:rPr>
                        <a:t>領域</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採用したもの</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選んだ理由</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備考</a:t>
                      </a:r>
                    </a:p>
                  </a:txBody>
                  <a:tcPr marL="64008" marR="64008" marT="27432" marB="27432" anchor="ctr">
                    <a:solidFill>
                      <a:srgbClr val="E2E8F0"/>
                    </a:solidFill>
                  </a:tcPr>
                </a:tc>
              </a:tr>
              <a:tr h="402336">
                <a:tc>
                  <a:txBody>
                    <a:bodyPr wrap="square"/>
                    <a:lstStyle/>
                    <a:p>
                      <a:pPr algn="l">
                        <a:lnSpc>
                          <a:spcPct val="115000"/>
                        </a:lnSpc>
                        <a:buNone/>
                      </a:pPr>
                      <a:r>
                        <a:rPr sz="1000" b="1">
                          <a:solidFill>
                            <a:srgbClr val="14223A"/>
                          </a:solidFill>
                          <a:latin typeface="Meiryo"/>
                          <a:cs typeface="Meiryo"/>
                          <a:ea typeface="Meiryo"/>
                        </a:rPr>
                        <a:t>言語</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TypeScript 5.7 / Node.js 22</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画面もサーバーも同じ言語。型定義を共有できる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データベース</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PostgreSQL</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行レベルセキュリティ・排他制約など、必要な制約をDB自身で強制できる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ORM</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Drizzle ORM 0.45</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テーブル定義をTypeScriptで書き、SQLとの型の食い違いを防ぐ</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APIフレームワーク</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Hono 4</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軽量。Node.jsでもブラウザ内でも同じアプリを動かせる(デモで活用)</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画面</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React 18 + Vite + Tailwind CSS + PWA</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スマホでの現場利用が主。ホーム画面に追加して使える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認証</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自前実装(argon2id + Cookie)</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GAS版の既存パスワードを移行できるようにするため</a:t>
                      </a:r>
                    </a:p>
                  </a:txBody>
                  <a:tcPr marL="64008" marR="64008" marT="27432" marB="27432" anchor="ctr">
                    <a:solidFill>
                      <a:srgbClr val="F8FAFC"/>
                    </a:solidFill>
                  </a:tcPr>
                </a:tc>
                <a:tc>
                  <a:txBody>
                    <a:bodyPr wrap="square"/>
                    <a:lstStyle/>
                    <a:p>
                      <a:pPr algn="l">
                        <a:lnSpc>
                          <a:spcPct val="115000"/>
                        </a:lnSpc>
                        <a:buNone/>
                      </a:pPr>
                      <a:r>
                        <a:rPr sz="1000" b="0">
                          <a:solidFill>
                            <a:srgbClr val="B45309"/>
                          </a:solidFill>
                          <a:latin typeface="Meiryo"/>
                          <a:cs typeface="Meiryo"/>
                          <a:ea typeface="Meiryo"/>
                        </a:rPr>
                        <a:t>提案書のFirebase Authから変更</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AI</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Gemini API</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日報の文章生成・領収書のOCR。GAS版から継続</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外部連携</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既存のGAS Web App 経由</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新規のGCP課金・認証情報を避け、実証済みロジックを再利用</a:t>
                      </a:r>
                    </a:p>
                  </a:txBody>
                  <a:tcPr marL="64008" marR="64008" marT="27432" marB="27432" anchor="ctr">
                    <a:solidFill>
                      <a:srgbClr val="F8FAFC"/>
                    </a:solidFill>
                  </a:tcPr>
                </a:tc>
                <a:tc>
                  <a:txBody>
                    <a:bodyPr wrap="square"/>
                    <a:lstStyle/>
                    <a:p>
                      <a:pPr algn="l">
                        <a:lnSpc>
                          <a:spcPct val="115000"/>
                        </a:lnSpc>
                        <a:buNone/>
                      </a:pPr>
                      <a:r>
                        <a:rPr sz="1000" b="0">
                          <a:solidFill>
                            <a:srgbClr val="B45309"/>
                          </a:solidFill>
                          <a:latin typeface="Meiryo"/>
                          <a:cs typeface="Meiryo"/>
                          <a:ea typeface="Meiryo"/>
                        </a:rPr>
                        <a:t>本来はGoogle APIを直接呼ぶ想定だった</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公開デモ</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PGlite(ブラウザ内PostgreSQL)</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本番と同一のスキーマ・業務ロジックをブラウザだけで動かす</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r h="402336">
                <a:tc>
                  <a:txBody>
                    <a:bodyPr wrap="square"/>
                    <a:lstStyle/>
                    <a:p>
                      <a:pPr algn="l">
                        <a:lnSpc>
                          <a:spcPct val="115000"/>
                        </a:lnSpc>
                        <a:buNone/>
                      </a:pPr>
                      <a:r>
                        <a:rPr sz="1000" b="1">
                          <a:solidFill>
                            <a:srgbClr val="14223A"/>
                          </a:solidFill>
                          <a:latin typeface="Meiryo"/>
                          <a:cs typeface="Meiryo"/>
                          <a:ea typeface="Meiryo"/>
                        </a:rPr>
                        <a:t>実行基盤</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Google Cloud(Cloud Run + Cloud SQL)</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既存連携先がGoogle系のため単一クラウドに統合</a:t>
                      </a:r>
                    </a:p>
                  </a:txBody>
                  <a:tcPr marL="64008" marR="64008" marT="27432" marB="27432" anchor="ctr">
                    <a:solidFill>
                      <a:srgbClr val="F8FAFC"/>
                    </a:solidFill>
                  </a:tcPr>
                </a:tc>
                <a:tc>
                  <a:txBody>
                    <a:bodyPr wrap="square"/>
                    <a:lstStyle/>
                    <a:p>
                      <a:pPr algn="l">
                        <a:lnSpc>
                          <a:spcPct val="115000"/>
                        </a:lnSpc>
                        <a:buNone/>
                      </a:pPr>
                      <a:r>
                        <a:rPr sz="1000" b="0">
                          <a:solidFill>
                            <a:srgbClr val="B91C1C"/>
                          </a:solidFill>
                          <a:latin typeface="Meiryo"/>
                          <a:cs typeface="Meiryo"/>
                          <a:ea typeface="Meiryo"/>
                        </a:rPr>
                        <a:t>未配備</a:t>
                      </a:r>
                    </a:p>
                  </a:txBody>
                  <a:tcPr marL="64008" marR="64008" marT="27432" marB="27432" anchor="ctr">
                    <a:solidFill>
                      <a:srgbClr val="F8FAFC"/>
                    </a:solidFill>
                  </a:tcPr>
                </a:tc>
              </a:tr>
              <a:tr h="402336">
                <a:tc>
                  <a:txBody>
                    <a:bodyPr wrap="square"/>
                    <a:lstStyle/>
                    <a:p>
                      <a:pPr algn="l">
                        <a:lnSpc>
                          <a:spcPct val="115000"/>
                        </a:lnSpc>
                        <a:buNone/>
                      </a:pPr>
                      <a:r>
                        <a:rPr sz="1000" b="1">
                          <a:solidFill>
                            <a:srgbClr val="14223A"/>
                          </a:solidFill>
                          <a:latin typeface="Meiryo"/>
                          <a:cs typeface="Meiryo"/>
                          <a:ea typeface="Meiryo"/>
                        </a:rPr>
                        <a:t>検証</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Vitest / Biome / GitHub Actions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毎pushで静的検査・型検査・テスト・本番ビルドまで実行</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
                      </a:r>
                    </a:p>
                  </a:txBody>
                  <a:tcPr marL="64008" marR="64008" marT="27432" marB="27432" anchor="ctr">
                    <a:solidFill>
                      <a:srgbClr val="FFFFFF"/>
                    </a:solidFill>
                  </a:tcPr>
                </a:tc>
              </a:tr>
            </a:tbl>
          </a:graphicData>
        </a:graphic>
      </p:graphicFrame>
      <p:sp>
        <p:nvSpPr>
          <p:cNvPr id="8" name="Rounded Rectangle 7"/>
          <p:cNvSpPr/>
          <p:nvPr/>
        </p:nvSpPr>
        <p:spPr>
          <a:xfrm>
            <a:off x="457200" y="5764911"/>
            <a:ext cx="11277295" cy="617601"/>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764911"/>
            <a:ext cx="68580" cy="617601"/>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856351"/>
            <a:ext cx="10911535"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備考欄について</a:t>
            </a:r>
          </a:p>
        </p:txBody>
      </p:sp>
      <p:sp>
        <p:nvSpPr>
          <p:cNvPr id="11" name="TextBox 10"/>
          <p:cNvSpPr txBox="1"/>
          <p:nvPr/>
        </p:nvSpPr>
        <p:spPr>
          <a:xfrm>
            <a:off x="640080" y="6112383"/>
            <a:ext cx="10929823" cy="19697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提案書に書いた方針から変更した箇所と、未配備のものだけを記載しています。変更の理由は各章で説明します。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2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コードの構造</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9つの部品と、その間の依存の向き。業務ロジックをどこに閉じ込めたか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9つの部品と依存の向き</a:t>
            </a:r>
            <a:r>
              <a:rPr sz="1250" b="0" i="0">
                <a:solidFill>
                  <a:srgbClr val="64748B"/>
                </a:solidFill>
                <a:latin typeface="Meiryo"/>
                <a:cs typeface="Meiryo"/>
                <a:ea typeface="Meiryo"/>
              </a:rPr>
              <a:t>   矢印は「依存する方向」。逆流は1本もない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packages/*/package.json で確認。pnpm workspace</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8</a:t>
            </a:r>
          </a:p>
        </p:txBody>
      </p:sp>
      <p:sp>
        <p:nvSpPr>
          <p:cNvPr id="7" name="Rounded Rectangle 6"/>
          <p:cNvSpPr/>
          <p:nvPr/>
        </p:nvSpPr>
        <p:spPr>
          <a:xfrm>
            <a:off x="822960" y="1188720"/>
            <a:ext cx="2377440" cy="54864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369A1"/>
                </a:solidFill>
                <a:latin typeface="Meiryo"/>
                <a:cs typeface="Meiryo"/>
                <a:ea typeface="Meiryo"/>
              </a:rPr>
              <a:t>web  画面(React)</a:t>
            </a:r>
          </a:p>
        </p:txBody>
      </p:sp>
      <p:sp>
        <p:nvSpPr>
          <p:cNvPr id="8" name="Rounded Rectangle 7"/>
          <p:cNvSpPr/>
          <p:nvPr/>
        </p:nvSpPr>
        <p:spPr>
          <a:xfrm>
            <a:off x="8138160" y="1188720"/>
            <a:ext cx="2743200" cy="54864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C2410C"/>
                </a:solidFill>
                <a:latin typeface="Meiryo"/>
                <a:cs typeface="Meiryo"/>
                <a:ea typeface="Meiryo"/>
              </a:rPr>
              <a:t>demo  ブラウザ内で全部動かす</a:t>
            </a:r>
          </a:p>
        </p:txBody>
      </p:sp>
      <p:sp>
        <p:nvSpPr>
          <p:cNvPr id="9" name="Rounded Rectangle 8"/>
          <p:cNvSpPr/>
          <p:nvPr/>
        </p:nvSpPr>
        <p:spPr>
          <a:xfrm>
            <a:off x="822960" y="2057400"/>
            <a:ext cx="2377440" cy="5486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api  HTTPの入口(Hono)</a:t>
            </a:r>
          </a:p>
        </p:txBody>
      </p:sp>
      <p:sp>
        <p:nvSpPr>
          <p:cNvPr id="10" name="Rounded Rectangle 9"/>
          <p:cNvSpPr/>
          <p:nvPr/>
        </p:nvSpPr>
        <p:spPr>
          <a:xfrm>
            <a:off x="3566160" y="2057400"/>
            <a:ext cx="2377440" cy="5486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worker  非同期処理</a:t>
            </a:r>
          </a:p>
        </p:txBody>
      </p:sp>
      <p:sp>
        <p:nvSpPr>
          <p:cNvPr id="11" name="Rounded Rectangle 10"/>
          <p:cNvSpPr/>
          <p:nvPr/>
        </p:nvSpPr>
        <p:spPr>
          <a:xfrm>
            <a:off x="6309360" y="2057400"/>
            <a:ext cx="2377440" cy="5486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ingestion  CSV取込</a:t>
            </a:r>
          </a:p>
        </p:txBody>
      </p:sp>
      <p:sp>
        <p:nvSpPr>
          <p:cNvPr id="12" name="Rounded Rectangle 11"/>
          <p:cNvSpPr/>
          <p:nvPr/>
        </p:nvSpPr>
        <p:spPr>
          <a:xfrm>
            <a:off x="3291840" y="3017520"/>
            <a:ext cx="4206240" cy="868680"/>
          </a:xfrm>
          <a:prstGeom prst="roundRect">
            <a:avLst>
              <a:gd name="adj" fmla="val 14000"/>
            </a:avLst>
          </a:prstGeom>
          <a:solidFill>
            <a:srgbClr val="D1FAE5"/>
          </a:solidFill>
          <a:ln w="254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300" b="1">
                <a:solidFill>
                  <a:srgbClr val="047857"/>
                </a:solidFill>
                <a:latin typeface="Meiryo"/>
                <a:cs typeface="Meiryo"/>
                <a:ea typeface="Meiryo"/>
              </a:rPr>
              <a:t>core  業務ロジック</a:t>
            </a:r>
          </a:p>
          <a:p>
            <a:pPr algn="ctr">
              <a:lnSpc>
                <a:spcPct val="116000"/>
              </a:lnSpc>
              <a:buNone/>
            </a:pPr>
            <a:r>
              <a:rPr sz="1000" b="0">
                <a:solidFill>
                  <a:srgbClr val="047857"/>
                </a:solidFill>
                <a:latin typeface="Meiryo"/>
                <a:cs typeface="Meiryo"/>
                <a:ea typeface="Meiryo"/>
              </a:rPr>
              <a:t>usecases / domain / ports。外部SDKを一切知らない</a:t>
            </a:r>
          </a:p>
        </p:txBody>
      </p:sp>
      <p:sp>
        <p:nvSpPr>
          <p:cNvPr id="13" name="Rounded Rectangle 12"/>
          <p:cNvSpPr/>
          <p:nvPr/>
        </p:nvSpPr>
        <p:spPr>
          <a:xfrm>
            <a:off x="822960" y="4251960"/>
            <a:ext cx="2377440" cy="65836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db  PostgreSQL実装
(Drizzle)</a:t>
            </a:r>
          </a:p>
        </p:txBody>
      </p:sp>
      <p:sp>
        <p:nvSpPr>
          <p:cNvPr id="14" name="Rounded Rectangle 13"/>
          <p:cNvSpPr/>
          <p:nvPr/>
        </p:nvSpPr>
        <p:spPr>
          <a:xfrm>
            <a:off x="3566160" y="4251960"/>
            <a:ext cx="2743200" cy="65836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integrations  外部連携実装
(GAS / Gemini / 暗号)</a:t>
            </a:r>
          </a:p>
        </p:txBody>
      </p:sp>
      <p:sp>
        <p:nvSpPr>
          <p:cNvPr id="15" name="Rounded Rectangle 14"/>
          <p:cNvSpPr/>
          <p:nvPr/>
        </p:nvSpPr>
        <p:spPr>
          <a:xfrm>
            <a:off x="3291840" y="5212080"/>
            <a:ext cx="4206240" cy="502920"/>
          </a:xfrm>
          <a:prstGeom prst="roundRect">
            <a:avLst>
              <a:gd name="adj" fmla="val 14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64748B"/>
                </a:solidFill>
                <a:latin typeface="Meiryo"/>
                <a:cs typeface="Meiryo"/>
                <a:ea typeface="Meiryo"/>
              </a:rPr>
              <a:t>shared  型・定数の共有(最下層。どこにも依存しない)</a:t>
            </a:r>
          </a:p>
        </p:txBody>
      </p:sp>
      <p:cxnSp>
        <p:nvCxnSpPr>
          <p:cNvPr id="16" name="Connector 15"/>
          <p:cNvCxnSpPr/>
          <p:nvPr/>
        </p:nvCxnSpPr>
        <p:spPr>
          <a:xfrm>
            <a:off x="2011680" y="1755648"/>
            <a:ext cx="0" cy="283464"/>
          </a:xfrm>
          <a:prstGeom prst="line">
            <a:avLst/>
          </a:prstGeom>
          <a:ln w="17780">
            <a:solidFill>
              <a:srgbClr val="64748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48840" y="1773936"/>
            <a:ext cx="2194560" cy="256032"/>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HTTPで呼ぶ(コード依存は無い)</a:t>
            </a:r>
          </a:p>
        </p:txBody>
      </p:sp>
      <p:cxnSp>
        <p:nvCxnSpPr>
          <p:cNvPr id="18" name="Connector 17"/>
          <p:cNvCxnSpPr/>
          <p:nvPr/>
        </p:nvCxnSpPr>
        <p:spPr>
          <a:xfrm>
            <a:off x="2011680" y="2624328"/>
            <a:ext cx="1920240" cy="374904"/>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754880" y="2624328"/>
            <a:ext cx="0" cy="374904"/>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766560" y="2624328"/>
            <a:ext cx="731519" cy="374904"/>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509760" y="1755648"/>
            <a:ext cx="0" cy="1691640"/>
          </a:xfrm>
          <a:prstGeom prst="line">
            <a:avLst/>
          </a:prstGeom>
          <a:ln w="19050">
            <a:solidFill>
              <a:srgbClr val="C2410C"/>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543800" y="3447288"/>
            <a:ext cx="1965960" cy="0"/>
          </a:xfrm>
          <a:prstGeom prst="line">
            <a:avLst/>
          </a:prstGeom>
          <a:ln w="19050">
            <a:solidFill>
              <a:srgbClr val="C2410C"/>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011680" y="3913632"/>
            <a:ext cx="1645920" cy="32004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937760" y="3913632"/>
            <a:ext cx="0" cy="32004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011680" y="4937760"/>
            <a:ext cx="1463040" cy="347472"/>
          </a:xfrm>
          <a:prstGeom prst="line">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937760" y="4937760"/>
            <a:ext cx="0" cy="256032"/>
          </a:xfrm>
          <a:prstGeom prst="line">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02920" y="3063240"/>
            <a:ext cx="2651760" cy="868680"/>
          </a:xfrm>
          <a:prstGeom prst="rect">
            <a:avLst/>
          </a:prstGeom>
          <a:noFill/>
        </p:spPr>
        <p:txBody>
          <a:bodyPr wrap="square" lIns="0" rIns="0" tIns="0" bIns="0" anchor="t">
            <a:spAutoFit/>
          </a:bodyPr>
          <a:lstStyle/>
          <a:p>
            <a:pPr algn="l">
              <a:lnSpc>
                <a:spcPct val="132000"/>
              </a:lnSpc>
              <a:buNone/>
            </a:pPr>
            <a:r>
              <a:rPr sz="1050" b="0" i="0">
                <a:solidFill>
                  <a:srgbClr val="047857"/>
                </a:solidFill>
                <a:latin typeface="Meiryo"/>
                <a:cs typeface="Meiryo"/>
                <a:ea typeface="Meiryo"/>
              </a:rPr>
              <a:t>api / worker / ingestion は
すべて core に依存する。
web のコード上の依存は shared
と(開発時のみ)demo だけ。</a:t>
            </a:r>
          </a:p>
        </p:txBody>
      </p:sp>
      <p:sp>
        <p:nvSpPr>
          <p:cNvPr id="28" name="TextBox 27"/>
          <p:cNvSpPr txBox="1"/>
          <p:nvPr/>
        </p:nvSpPr>
        <p:spPr>
          <a:xfrm>
            <a:off x="7863840" y="4297680"/>
            <a:ext cx="3840480" cy="822960"/>
          </a:xfrm>
          <a:prstGeom prst="rect">
            <a:avLst/>
          </a:prstGeom>
          <a:noFill/>
        </p:spPr>
        <p:txBody>
          <a:bodyPr wrap="square" lIns="0" rIns="0" tIns="0" bIns="0" anchor="t">
            <a:spAutoFit/>
          </a:bodyPr>
          <a:lstStyle/>
          <a:p>
            <a:pPr algn="l">
              <a:lnSpc>
                <a:spcPct val="132000"/>
              </a:lnSpc>
              <a:buNone/>
            </a:pPr>
            <a:r>
              <a:rPr sz="1050" b="0" i="0">
                <a:solidFill>
                  <a:srgbClr val="64748B"/>
                </a:solidFill>
                <a:latin typeface="Meiryo"/>
                <a:cs typeface="Meiryo"/>
                <a:ea typeface="Meiryo"/>
              </a:rPr>
              <a:t>db と integrations は、core が定義した
窓口(ポート)を実装する側。
core はどれが実装しているか知らない。</a:t>
            </a:r>
          </a:p>
        </p:txBody>
      </p:sp>
      <p:sp>
        <p:nvSpPr>
          <p:cNvPr id="29" name="TextBox 28"/>
          <p:cNvSpPr txBox="1"/>
          <p:nvPr/>
        </p:nvSpPr>
        <p:spPr>
          <a:xfrm>
            <a:off x="7863840" y="3520440"/>
            <a:ext cx="3840480" cy="457200"/>
          </a:xfrm>
          <a:prstGeom prst="rect">
            <a:avLst/>
          </a:prstGeom>
          <a:noFill/>
        </p:spPr>
        <p:txBody>
          <a:bodyPr wrap="square" lIns="0" rIns="0" tIns="0" bIns="0" anchor="t">
            <a:spAutoFit/>
          </a:bodyPr>
          <a:lstStyle/>
          <a:p>
            <a:pPr algn="l">
              <a:lnSpc>
                <a:spcPct val="130000"/>
              </a:lnSpc>
              <a:buNone/>
            </a:pPr>
            <a:r>
              <a:rPr sz="1050" b="0" i="0">
                <a:solidFill>
                  <a:srgbClr val="C2410C"/>
                </a:solidFill>
                <a:latin typeface="Meiryo"/>
                <a:cs typeface="Meiryo"/>
                <a:ea typeface="Meiryo"/>
              </a:rPr>
              <a:t>demo は api / core / db / integrations を
束ねてブラウザ内で動かす</a:t>
            </a:r>
          </a:p>
        </p:txBody>
      </p:sp>
      <p:sp>
        <p:nvSpPr>
          <p:cNvPr id="30" name="Rounded Rectangle 29"/>
          <p:cNvSpPr/>
          <p:nvPr/>
        </p:nvSpPr>
        <p:spPr>
          <a:xfrm>
            <a:off x="457200" y="5897880"/>
            <a:ext cx="11277295" cy="457200"/>
          </a:xfrm>
          <a:prstGeom prst="roundRect">
            <a:avLst>
              <a:gd name="adj" fmla="val 12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5971032"/>
            <a:ext cx="10911535" cy="274320"/>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デモ用コードは本番ビルドに混ざらない:入口を空の実装に差し替え、CIが成果物そのものを検査する。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業務ロジックを中心に閉じ込める</a:t>
            </a:r>
            <a:r>
              <a:rPr sz="1250" b="0" i="0">
                <a:solidFill>
                  <a:srgbClr val="64748B"/>
                </a:solidFill>
                <a:latin typeface="Meiryo"/>
                <a:cs typeface="Meiryo"/>
                <a:ea typeface="Meiryo"/>
              </a:rPr>
              <a:t>   ポートとアダプタ(ヘキサゴナルアーキテクチャ)</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packages/core/src/{ports,usecases,domain} / packages/api/src/container.ts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9</a:t>
            </a:r>
          </a:p>
        </p:txBody>
      </p:sp>
      <p:sp>
        <p:nvSpPr>
          <p:cNvPr id="7" name="Rounded Rectangle 6"/>
          <p:cNvSpPr/>
          <p:nvPr/>
        </p:nvSpPr>
        <p:spPr>
          <a:xfrm>
            <a:off x="4023360" y="1417320"/>
            <a:ext cx="4114800" cy="3200400"/>
          </a:xfrm>
          <a:prstGeom prst="roundRect">
            <a:avLst>
              <a:gd name="adj" fmla="val 12000"/>
            </a:avLst>
          </a:prstGeom>
          <a:solidFill>
            <a:srgbClr val="D1FAE5"/>
          </a:solidFill>
          <a:ln w="254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160520" y="1508760"/>
            <a:ext cx="3840480" cy="274320"/>
          </a:xfrm>
          <a:prstGeom prst="rect">
            <a:avLst/>
          </a:prstGeom>
          <a:noFill/>
        </p:spPr>
        <p:txBody>
          <a:bodyPr wrap="square" lIns="0" rIns="0" tIns="0" bIns="0" anchor="t">
            <a:spAutoFit/>
          </a:bodyPr>
          <a:lstStyle/>
          <a:p>
            <a:pPr algn="ctr">
              <a:lnSpc>
                <a:spcPct val="125000"/>
              </a:lnSpc>
              <a:buNone/>
            </a:pPr>
            <a:r>
              <a:rPr sz="1300" b="1" i="0">
                <a:solidFill>
                  <a:srgbClr val="047857"/>
                </a:solidFill>
                <a:latin typeface="Meiryo"/>
                <a:cs typeface="Meiryo"/>
                <a:ea typeface="Meiryo"/>
              </a:rPr>
              <a:t>core(中心)</a:t>
            </a:r>
          </a:p>
        </p:txBody>
      </p:sp>
      <p:sp>
        <p:nvSpPr>
          <p:cNvPr id="9" name="Rounded Rectangle 8"/>
          <p:cNvSpPr/>
          <p:nvPr/>
        </p:nvSpPr>
        <p:spPr>
          <a:xfrm>
            <a:off x="4251960" y="1874519"/>
            <a:ext cx="3657600" cy="56692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usecases  業務の手順
(日報を保存する、ログインする…)</a:t>
            </a:r>
          </a:p>
        </p:txBody>
      </p:sp>
      <p:sp>
        <p:nvSpPr>
          <p:cNvPr id="10" name="Rounded Rectangle 9"/>
          <p:cNvSpPr/>
          <p:nvPr/>
        </p:nvSpPr>
        <p:spPr>
          <a:xfrm>
            <a:off x="4251960" y="2560320"/>
            <a:ext cx="3657600" cy="56692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domain  純粋な計算・規則
(勤怠計算、氏名分割、重複判定…)</a:t>
            </a:r>
          </a:p>
        </p:txBody>
      </p:sp>
      <p:sp>
        <p:nvSpPr>
          <p:cNvPr id="11" name="Rounded Rectangle 10"/>
          <p:cNvSpPr/>
          <p:nvPr/>
        </p:nvSpPr>
        <p:spPr>
          <a:xfrm>
            <a:off x="4251960" y="3246120"/>
            <a:ext cx="3657600" cy="123444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ports  外に対する窓口の定義だけ</a:t>
            </a:r>
          </a:p>
          <a:p>
            <a:pPr algn="ctr">
              <a:lnSpc>
                <a:spcPct val="116000"/>
              </a:lnSpc>
              <a:buNone/>
            </a:pPr>
            <a:r>
              <a:rPr sz="1000" b="0">
                <a:solidFill>
                  <a:srgbClr val="14223A"/>
                </a:solidFill>
                <a:latin typeface="Meiryo"/>
                <a:cs typeface="Meiryo"/>
                <a:ea typeface="Meiryo"/>
              </a:rPr>
              <a:t>「保存する」「送る」「暗号化する」という
形(インターフェース)を29本定義している。
中身は書かない</a:t>
            </a:r>
          </a:p>
        </p:txBody>
      </p:sp>
      <p:sp>
        <p:nvSpPr>
          <p:cNvPr id="12" name="Rounded Rectangle 11"/>
          <p:cNvSpPr/>
          <p:nvPr/>
        </p:nvSpPr>
        <p:spPr>
          <a:xfrm>
            <a:off x="457200" y="1600200"/>
            <a:ext cx="30632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api  HTTPルート</a:t>
            </a:r>
            <a:r>
              <a:rPr sz="950" b="0">
                <a:solidFill>
                  <a:srgbClr val="64748B"/>
                </a:solidFill>
                <a:latin typeface="Meiryo"/>
                <a:cs typeface="Meiryo"/>
                <a:ea typeface="Meiryo"/>
              </a:rPr>
              <a:t>  8ファイル</a:t>
            </a:r>
          </a:p>
        </p:txBody>
      </p:sp>
      <p:cxnSp>
        <p:nvCxnSpPr>
          <p:cNvPr id="13" name="Connector 12"/>
          <p:cNvCxnSpPr/>
          <p:nvPr/>
        </p:nvCxnSpPr>
        <p:spPr>
          <a:xfrm>
            <a:off x="3566160" y="1883664"/>
            <a:ext cx="411479" cy="0"/>
          </a:xfrm>
          <a:prstGeom prst="line">
            <a:avLst/>
          </a:prstGeom>
          <a:ln w="2032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377440"/>
            <a:ext cx="30632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worker  定期実行</a:t>
            </a:r>
            <a:r>
              <a:rPr sz="950" b="0">
                <a:solidFill>
                  <a:srgbClr val="64748B"/>
                </a:solidFill>
                <a:latin typeface="Meiryo"/>
                <a:cs typeface="Meiryo"/>
                <a:ea typeface="Meiryo"/>
              </a:rPr>
              <a:t>  </a:t>
            </a:r>
          </a:p>
        </p:txBody>
      </p:sp>
      <p:cxnSp>
        <p:nvCxnSpPr>
          <p:cNvPr id="15" name="Connector 14"/>
          <p:cNvCxnSpPr/>
          <p:nvPr/>
        </p:nvCxnSpPr>
        <p:spPr>
          <a:xfrm>
            <a:off x="3566160" y="2660904"/>
            <a:ext cx="411479" cy="0"/>
          </a:xfrm>
          <a:prstGeom prst="line">
            <a:avLst/>
          </a:prstGeom>
          <a:ln w="2032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7200" y="3154680"/>
            <a:ext cx="30632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ingestion  CSV取込</a:t>
            </a:r>
            <a:r>
              <a:rPr sz="950" b="0">
                <a:solidFill>
                  <a:srgbClr val="64748B"/>
                </a:solidFill>
                <a:latin typeface="Meiryo"/>
                <a:cs typeface="Meiryo"/>
                <a:ea typeface="Meiryo"/>
              </a:rPr>
              <a:t>  </a:t>
            </a:r>
          </a:p>
        </p:txBody>
      </p:sp>
      <p:cxnSp>
        <p:nvCxnSpPr>
          <p:cNvPr id="17" name="Connector 16"/>
          <p:cNvCxnSpPr/>
          <p:nvPr/>
        </p:nvCxnSpPr>
        <p:spPr>
          <a:xfrm>
            <a:off x="3566160" y="3438144"/>
            <a:ext cx="411479" cy="0"/>
          </a:xfrm>
          <a:prstGeom prst="line">
            <a:avLst/>
          </a:prstGeom>
          <a:ln w="2032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 y="3977639"/>
            <a:ext cx="3063240" cy="502920"/>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入口側:usecase を呼ぶ</a:t>
            </a:r>
          </a:p>
        </p:txBody>
      </p:sp>
      <p:sp>
        <p:nvSpPr>
          <p:cNvPr id="19" name="TextBox 18"/>
          <p:cNvSpPr txBox="1"/>
          <p:nvPr/>
        </p:nvSpPr>
        <p:spPr>
          <a:xfrm>
            <a:off x="457200" y="4224528"/>
            <a:ext cx="3063240" cy="82296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usecase は必要なポートだけを引数で受け取るため、テストでは偽の実装を渡せる</a:t>
            </a:r>
          </a:p>
        </p:txBody>
      </p:sp>
      <p:sp>
        <p:nvSpPr>
          <p:cNvPr id="20" name="Rounded Rectangle 19"/>
          <p:cNvSpPr/>
          <p:nvPr/>
        </p:nvSpPr>
        <p:spPr>
          <a:xfrm>
            <a:off x="8641080" y="1600200"/>
            <a:ext cx="3090672" cy="566928"/>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db  リポジトリ実装</a:t>
            </a:r>
          </a:p>
          <a:p>
            <a:pPr algn="ctr">
              <a:lnSpc>
                <a:spcPct val="116000"/>
              </a:lnSpc>
              <a:buNone/>
            </a:pPr>
            <a:r>
              <a:rPr sz="900" b="0">
                <a:solidFill>
                  <a:srgbClr val="64748B"/>
                </a:solidFill>
                <a:latin typeface="Meiryo"/>
                <a:cs typeface="Meiryo"/>
                <a:ea typeface="Meiryo"/>
              </a:rPr>
              <a:t>PostgreSQL / Drizzle</a:t>
            </a:r>
          </a:p>
        </p:txBody>
      </p:sp>
      <p:cxnSp>
        <p:nvCxnSpPr>
          <p:cNvPr id="21" name="Connector 20"/>
          <p:cNvCxnSpPr/>
          <p:nvPr/>
        </p:nvCxnSpPr>
        <p:spPr>
          <a:xfrm flipH="1">
            <a:off x="8183879" y="1883664"/>
            <a:ext cx="411481"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641080" y="2377440"/>
            <a:ext cx="3090672" cy="566928"/>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integrations  外部連携</a:t>
            </a:r>
          </a:p>
          <a:p>
            <a:pPr algn="ctr">
              <a:lnSpc>
                <a:spcPct val="116000"/>
              </a:lnSpc>
              <a:buNone/>
            </a:pPr>
            <a:r>
              <a:rPr sz="900" b="0">
                <a:solidFill>
                  <a:srgbClr val="64748B"/>
                </a:solidFill>
                <a:latin typeface="Meiryo"/>
                <a:cs typeface="Meiryo"/>
                <a:ea typeface="Meiryo"/>
              </a:rPr>
              <a:t>GAS / Gemini / 暗号化</a:t>
            </a:r>
          </a:p>
        </p:txBody>
      </p:sp>
      <p:cxnSp>
        <p:nvCxnSpPr>
          <p:cNvPr id="23" name="Connector 22"/>
          <p:cNvCxnSpPr/>
          <p:nvPr/>
        </p:nvCxnSpPr>
        <p:spPr>
          <a:xfrm flipH="1">
            <a:off x="8183879" y="2660904"/>
            <a:ext cx="411481"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641080" y="3154680"/>
            <a:ext cx="3090672" cy="566928"/>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demo  ブラウザ内実装</a:t>
            </a:r>
          </a:p>
          <a:p>
            <a:pPr algn="ctr">
              <a:lnSpc>
                <a:spcPct val="116000"/>
              </a:lnSpc>
              <a:buNone/>
            </a:pPr>
            <a:r>
              <a:rPr sz="900" b="0">
                <a:solidFill>
                  <a:srgbClr val="64748B"/>
                </a:solidFill>
                <a:latin typeface="Meiryo"/>
                <a:cs typeface="Meiryo"/>
                <a:ea typeface="Meiryo"/>
              </a:rPr>
              <a:t>PGlite / WebCrypto</a:t>
            </a:r>
          </a:p>
        </p:txBody>
      </p:sp>
      <p:cxnSp>
        <p:nvCxnSpPr>
          <p:cNvPr id="25" name="Connector 24"/>
          <p:cNvCxnSpPr/>
          <p:nvPr/>
        </p:nvCxnSpPr>
        <p:spPr>
          <a:xfrm flipH="1">
            <a:off x="8183879" y="3438144"/>
            <a:ext cx="411481" cy="0"/>
          </a:xfrm>
          <a:prstGeom prst="line">
            <a:avLst/>
          </a:prstGeom>
          <a:ln w="20320">
            <a:solidFill>
              <a:srgbClr val="C2410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641080" y="3931920"/>
            <a:ext cx="3090672" cy="566928"/>
          </a:xfrm>
          <a:prstGeom prst="roundRect">
            <a:avLst>
              <a:gd name="adj" fmla="val 14000"/>
            </a:avLst>
          </a:prstGeom>
          <a:solidFill>
            <a:srgbClr val="F1F5F9"/>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14223A"/>
                </a:solidFill>
                <a:latin typeface="Meiryo"/>
                <a:cs typeface="Meiryo"/>
                <a:ea typeface="Meiryo"/>
              </a:rPr>
              <a:t>Noop 実装</a:t>
            </a:r>
          </a:p>
          <a:p>
            <a:pPr algn="ctr">
              <a:lnSpc>
                <a:spcPct val="116000"/>
              </a:lnSpc>
              <a:buNone/>
            </a:pPr>
            <a:r>
              <a:rPr sz="900" b="0">
                <a:solidFill>
                  <a:srgbClr val="64748B"/>
                </a:solidFill>
                <a:latin typeface="Meiryo"/>
                <a:cs typeface="Meiryo"/>
                <a:ea typeface="Meiryo"/>
              </a:rPr>
              <a:t>外部が無い環境用</a:t>
            </a:r>
          </a:p>
        </p:txBody>
      </p:sp>
      <p:cxnSp>
        <p:nvCxnSpPr>
          <p:cNvPr id="27" name="Connector 26"/>
          <p:cNvCxnSpPr/>
          <p:nvPr/>
        </p:nvCxnSpPr>
        <p:spPr>
          <a:xfrm flipH="1">
            <a:off x="8183879" y="4215383"/>
            <a:ext cx="411481" cy="0"/>
          </a:xfrm>
          <a:prstGeom prst="line">
            <a:avLst/>
          </a:prstGeom>
          <a:ln w="2032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641080" y="4754880"/>
            <a:ext cx="3090672" cy="82296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実装側:ポートを満たす形で外部とつなぐ。
core は誰が実装しているか知らない。</a:t>
            </a:r>
          </a:p>
        </p:txBody>
      </p:sp>
      <p:sp>
        <p:nvSpPr>
          <p:cNvPr id="29" name="Rounded Rectangle 28"/>
          <p:cNvSpPr/>
          <p:nvPr/>
        </p:nvSpPr>
        <p:spPr>
          <a:xfrm>
            <a:off x="457200" y="5257800"/>
            <a:ext cx="5486400" cy="105156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57200" y="5257800"/>
            <a:ext cx="68580" cy="10515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5349240"/>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この形にした見返り</a:t>
            </a:r>
          </a:p>
        </p:txBody>
      </p:sp>
      <p:sp>
        <p:nvSpPr>
          <p:cNvPr id="32" name="TextBox 31"/>
          <p:cNvSpPr txBox="1"/>
          <p:nvPr/>
        </p:nvSpPr>
        <p:spPr>
          <a:xfrm>
            <a:off x="640080" y="5605272"/>
            <a:ext cx="5138928" cy="63093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外部サービスが無い環境でも黙って壊れず、何もしない実装に落ちる(地図・予定・AI・ミラー)。そして同じ業務ロジックが、本番でもブラウザ内デモでもそのまま動く。</a:t>
            </a:r>
          </a:p>
        </p:txBody>
      </p:sp>
      <p:sp>
        <p:nvSpPr>
          <p:cNvPr id="33" name="Rounded Rectangle 32"/>
          <p:cNvSpPr/>
          <p:nvPr/>
        </p:nvSpPr>
        <p:spPr>
          <a:xfrm>
            <a:off x="6245352" y="5257800"/>
            <a:ext cx="5486400" cy="105156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45352" y="5257800"/>
            <a:ext cx="68580" cy="10515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28232" y="5349240"/>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正直に申し上げる例外</a:t>
            </a:r>
          </a:p>
        </p:txBody>
      </p:sp>
      <p:sp>
        <p:nvSpPr>
          <p:cNvPr id="36" name="TextBox 35"/>
          <p:cNvSpPr txBox="1"/>
          <p:nvPr/>
        </p:nvSpPr>
        <p:spPr>
          <a:xfrm>
            <a:off x="6428232" y="5605272"/>
            <a:ext cx="5138928" cy="63093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パスワードのハッシュ化を担う窓口だけ、ports ではなく usecases 側に定義されています。動作に影響はありませんが、置き場所の一貫性は崩れています。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窓口(ポート)の一覧 — 29本</a:t>
            </a:r>
            <a:r>
              <a:rPr sz="1250" b="0" i="0">
                <a:solidFill>
                  <a:srgbClr val="64748B"/>
                </a:solidFill>
                <a:latin typeface="Meiryo"/>
                <a:cs typeface="Meiryo"/>
                <a:ea typeface="Meiryo"/>
              </a:rPr>
              <a:t>   core が「外にこれをやってほしい」と宣言しているものの全体</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packages/core/src/ports/*.ts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10</a:t>
            </a:r>
          </a:p>
        </p:txBody>
      </p:sp>
      <p:sp>
        <p:nvSpPr>
          <p:cNvPr id="7" name="Rounded Rectangle 6"/>
          <p:cNvSpPr/>
          <p:nvPr/>
        </p:nvSpPr>
        <p:spPr>
          <a:xfrm>
            <a:off x="457200" y="1170432"/>
            <a:ext cx="3657600" cy="3977639"/>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70432"/>
            <a:ext cx="3657600" cy="40233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データの読み書き(15本)</a:t>
            </a:r>
          </a:p>
        </p:txBody>
      </p:sp>
      <p:sp>
        <p:nvSpPr>
          <p:cNvPr id="9" name="TextBox 8"/>
          <p:cNvSpPr txBox="1"/>
          <p:nvPr/>
        </p:nvSpPr>
        <p:spPr>
          <a:xfrm>
            <a:off x="640080" y="1691640"/>
            <a:ext cx="3291840" cy="3383280"/>
          </a:xfrm>
          <a:prstGeom prst="rect">
            <a:avLst/>
          </a:prstGeom>
          <a:noFill/>
        </p:spPr>
        <p:txBody>
          <a:bodyPr wrap="square" lIns="0" rIns="0" tIns="0" bIns="0">
            <a:spAutoFit/>
          </a:bodyPr>
          <a:lstStyle/>
          <a:p>
            <a:pPr marL="182880" indent="-182880">
              <a:lnSpc>
                <a:spcPct val="125000"/>
              </a:lnSpc>
              <a:spcBef>
                <a:spcPts val="0"/>
              </a:spcBef>
              <a:buClr>
                <a:srgbClr val="0369A1"/>
              </a:buClr>
              <a:buFont typeface="Meiryo"/>
              <a:buChar char="▪"/>
            </a:pPr>
            <a:r>
              <a:rPr sz="1050" b="0">
                <a:solidFill>
                  <a:srgbClr val="14223A"/>
                </a:solidFill>
                <a:latin typeface="Meiryo"/>
                <a:cs typeface="Meiryo"/>
                <a:ea typeface="Meiryo"/>
              </a:rPr>
              <a:t>Tenant テナント</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Staff スタッフ</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Session セッション</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PasswordResetCode 再設定コード</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Customer 顧客</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FamilyMember 世帯構成員</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DailyReport 日報</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AccidentReport 事故報告</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Receipt 領収書</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AttendanceDay 勤怠</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Coupon クーポン</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CustomerCoupon 顧客へのクーポン配布</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CouponRedemption クーポン適用記録</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AppSettings 管理者設定</a:t>
            </a:r>
          </a:p>
          <a:p>
            <a:pPr marL="182880" indent="-182880">
              <a:lnSpc>
                <a:spcPct val="125000"/>
              </a:lnSpc>
              <a:spcBef>
                <a:spcPts val="550"/>
              </a:spcBef>
              <a:buClr>
                <a:srgbClr val="0369A1"/>
              </a:buClr>
              <a:buFont typeface="Meiryo"/>
              <a:buChar char="▪"/>
            </a:pPr>
            <a:r>
              <a:rPr sz="1050" b="0">
                <a:solidFill>
                  <a:srgbClr val="14223A"/>
                </a:solidFill>
                <a:latin typeface="Meiryo"/>
                <a:cs typeface="Meiryo"/>
                <a:ea typeface="Meiryo"/>
              </a:rPr>
              <a:t>TenantKey 暗号鍵</a:t>
            </a:r>
          </a:p>
        </p:txBody>
      </p:sp>
      <p:sp>
        <p:nvSpPr>
          <p:cNvPr id="10" name="Rounded Rectangle 9"/>
          <p:cNvSpPr/>
          <p:nvPr/>
        </p:nvSpPr>
        <p:spPr>
          <a:xfrm>
            <a:off x="4242816" y="1170432"/>
            <a:ext cx="3703320" cy="3977639"/>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242816" y="1170432"/>
            <a:ext cx="3703320" cy="4023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外部サービス(9本)</a:t>
            </a:r>
          </a:p>
        </p:txBody>
      </p:sp>
      <p:sp>
        <p:nvSpPr>
          <p:cNvPr id="12" name="TextBox 11"/>
          <p:cNvSpPr txBox="1"/>
          <p:nvPr/>
        </p:nvSpPr>
        <p:spPr>
          <a:xfrm>
            <a:off x="4425696" y="1691640"/>
            <a:ext cx="3337560" cy="3383280"/>
          </a:xfrm>
          <a:prstGeom prst="rect">
            <a:avLst/>
          </a:prstGeom>
          <a:noFill/>
        </p:spPr>
        <p:txBody>
          <a:bodyPr wrap="square" lIns="0" rIns="0" tIns="0" bIns="0">
            <a:spAutoFit/>
          </a:bodyPr>
          <a:lstStyle/>
          <a:p>
            <a:pPr marL="182880" indent="-182880">
              <a:lnSpc>
                <a:spcPct val="125000"/>
              </a:lnSpc>
              <a:spcBef>
                <a:spcPts val="0"/>
              </a:spcBef>
              <a:buClr>
                <a:srgbClr val="6D28D9"/>
              </a:buClr>
              <a:buFont typeface="Meiryo"/>
              <a:buChar char="▪"/>
            </a:pPr>
            <a:r>
              <a:rPr sz="1050" b="0">
                <a:solidFill>
                  <a:srgbClr val="14223A"/>
                </a:solidFill>
                <a:latin typeface="Meiryo"/>
                <a:cs typeface="Meiryo"/>
                <a:ea typeface="Meiryo"/>
              </a:rPr>
              <a:t>ReportAi 日報の文章生成(Gemini)</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Notifier 通知(Google Chat)</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Mailer メール送信</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Calendar 予定の読み取り</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Maps 距離の計算</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Storage 画像の保存(GCS想定)</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MirrorSender スプレッドシートへの送信</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Mirror 送信予定の積み込み</a:t>
            </a:r>
          </a:p>
          <a:p>
            <a:pPr marL="182880" indent="-182880">
              <a:lnSpc>
                <a:spcPct val="125000"/>
              </a:lnSpc>
              <a:spcBef>
                <a:spcPts val="550"/>
              </a:spcBef>
              <a:buClr>
                <a:srgbClr val="6D28D9"/>
              </a:buClr>
              <a:buFont typeface="Meiryo"/>
              <a:buChar char="▪"/>
            </a:pPr>
            <a:r>
              <a:rPr sz="1050" b="0">
                <a:solidFill>
                  <a:srgbClr val="14223A"/>
                </a:solidFill>
                <a:latin typeface="Meiryo"/>
                <a:cs typeface="Meiryo"/>
                <a:ea typeface="Meiryo"/>
              </a:rPr>
              <a:t>Schedule 予定の取得</a:t>
            </a:r>
          </a:p>
        </p:txBody>
      </p:sp>
      <p:sp>
        <p:nvSpPr>
          <p:cNvPr id="13" name="Rounded Rectangle 12"/>
          <p:cNvSpPr/>
          <p:nvPr/>
        </p:nvSpPr>
        <p:spPr>
          <a:xfrm>
            <a:off x="8074151" y="1170432"/>
            <a:ext cx="3703320" cy="3977639"/>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074151" y="1170432"/>
            <a:ext cx="3703320" cy="402336"/>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横断的な関心(5本)</a:t>
            </a:r>
          </a:p>
        </p:txBody>
      </p:sp>
      <p:sp>
        <p:nvSpPr>
          <p:cNvPr id="15" name="TextBox 14"/>
          <p:cNvSpPr txBox="1"/>
          <p:nvPr/>
        </p:nvSpPr>
        <p:spPr>
          <a:xfrm>
            <a:off x="8257031" y="1691640"/>
            <a:ext cx="3337560" cy="3383280"/>
          </a:xfrm>
          <a:prstGeom prst="rect">
            <a:avLst/>
          </a:prstGeom>
          <a:noFill/>
        </p:spPr>
        <p:txBody>
          <a:bodyPr wrap="square" lIns="0" rIns="0" tIns="0" bIns="0">
            <a:spAutoFit/>
          </a:bodyPr>
          <a:lstStyle/>
          <a:p>
            <a:pPr marL="182880" indent="-182880">
              <a:lnSpc>
                <a:spcPct val="125000"/>
              </a:lnSpc>
              <a:spcBef>
                <a:spcPts val="0"/>
              </a:spcBef>
              <a:buClr>
                <a:srgbClr val="047857"/>
              </a:buClr>
              <a:buFont typeface="Meiryo"/>
              <a:buChar char="▪"/>
            </a:pPr>
            <a:r>
              <a:rPr sz="1050" b="0">
                <a:solidFill>
                  <a:srgbClr val="14223A"/>
                </a:solidFill>
                <a:latin typeface="Meiryo"/>
                <a:cs typeface="Meiryo"/>
                <a:ea typeface="Meiryo"/>
              </a:rPr>
              <a:t>UnitOfWork 複数の書き込みを1つのトランザクションに</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Crypto 資格情報の暗号化・復号</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KeyManagement 鍵を包む・ほどく(KMS)</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AuditLog 監査ログの記録</a:t>
            </a:r>
          </a:p>
          <a:p>
            <a:pPr marL="182880" indent="-182880">
              <a:lnSpc>
                <a:spcPct val="125000"/>
              </a:lnSpc>
              <a:spcBef>
                <a:spcPts val="550"/>
              </a:spcBef>
              <a:buClr>
                <a:srgbClr val="047857"/>
              </a:buClr>
              <a:buFont typeface="Meiryo"/>
              <a:buChar char="▪"/>
            </a:pPr>
            <a:r>
              <a:rPr sz="1050" b="0">
                <a:solidFill>
                  <a:srgbClr val="14223A"/>
                </a:solidFill>
                <a:latin typeface="Meiryo"/>
                <a:cs typeface="Meiryo"/>
                <a:ea typeface="Meiryo"/>
              </a:rPr>
              <a:t>OutboxRepository 送信待ち行列の管理</a:t>
            </a:r>
          </a:p>
        </p:txBody>
      </p:sp>
      <p:sp>
        <p:nvSpPr>
          <p:cNvPr id="16" name="Rounded Rectangle 15"/>
          <p:cNvSpPr/>
          <p:nvPr/>
        </p:nvSpPr>
        <p:spPr>
          <a:xfrm>
            <a:off x="457200" y="5303520"/>
            <a:ext cx="5486400" cy="1005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5303520"/>
            <a:ext cx="68580" cy="10058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67512" y="541324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「窓口だけ定義する」ことの実利</a:t>
            </a:r>
          </a:p>
        </p:txBody>
      </p:sp>
      <p:sp>
        <p:nvSpPr>
          <p:cNvPr id="19" name="TextBox 18"/>
          <p:cNvSpPr txBox="1"/>
          <p:nvPr/>
        </p:nvSpPr>
        <p:spPr>
          <a:xfrm>
            <a:off x="667512" y="5715000"/>
            <a:ext cx="5111496" cy="502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テストでは偽の実装を渡すだけで済む。データベースも外部APIも起動しないため、828件のテストが約35秒で終わる</a:t>
            </a:r>
          </a:p>
        </p:txBody>
      </p:sp>
      <p:sp>
        <p:nvSpPr>
          <p:cNvPr id="20" name="Rounded Rectangle 19"/>
          <p:cNvSpPr/>
          <p:nvPr/>
        </p:nvSpPr>
        <p:spPr>
          <a:xfrm>
            <a:off x="6245352" y="5303520"/>
            <a:ext cx="5486400" cy="10058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45352" y="5303520"/>
            <a:ext cx="68580" cy="10058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28232" y="5394959"/>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窓口の束(Container)</a:t>
            </a:r>
          </a:p>
        </p:txBody>
      </p:sp>
      <p:sp>
        <p:nvSpPr>
          <p:cNvPr id="23" name="TextBox 22"/>
          <p:cNvSpPr txBox="1"/>
          <p:nvPr/>
        </p:nvSpPr>
        <p:spPr>
          <a:xfrm>
            <a:off x="6428232" y="5650992"/>
            <a:ext cx="5138928" cy="58521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全ポートの実装をまとめた「束」を1つ作り、それを usecase に渡します。Node.js用とブラウザ用の2種類の束が、同じ型で用意されています。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リクエストを1本追う</a:t>
            </a:r>
            <a:r>
              <a:rPr sz="1250" b="0" i="0">
                <a:solidFill>
                  <a:srgbClr val="64748B"/>
                </a:solidFill>
                <a:latin typeface="Meiryo"/>
                <a:cs typeface="Meiryo"/>
                <a:ea typeface="Meiryo"/>
              </a:rPr>
              <a:t>   「日報を保存する」で何が起きるか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packages/core/src/usecases/reports.ts / packages/api/src/routes/reports.ts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11</a:t>
            </a:r>
          </a:p>
        </p:txBody>
      </p:sp>
      <p:sp>
        <p:nvSpPr>
          <p:cNvPr id="7" name="Rounded Rectangle 6"/>
          <p:cNvSpPr/>
          <p:nvPr/>
        </p:nvSpPr>
        <p:spPr>
          <a:xfrm>
            <a:off x="457200" y="1664208"/>
            <a:ext cx="2633472" cy="603504"/>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94360" y="1728216"/>
            <a:ext cx="2377440" cy="219456"/>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① 保存ボタン</a:t>
            </a:r>
          </a:p>
        </p:txBody>
      </p:sp>
      <p:sp>
        <p:nvSpPr>
          <p:cNvPr id="9" name="TextBox 8"/>
          <p:cNvSpPr txBox="1"/>
          <p:nvPr/>
        </p:nvSpPr>
        <p:spPr>
          <a:xfrm>
            <a:off x="594360" y="1956816"/>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入力内容と Cookie を送る</a:t>
            </a:r>
          </a:p>
        </p:txBody>
      </p:sp>
      <p:sp>
        <p:nvSpPr>
          <p:cNvPr id="10" name="Rounded Rectangle 9"/>
          <p:cNvSpPr/>
          <p:nvPr/>
        </p:nvSpPr>
        <p:spPr>
          <a:xfrm>
            <a:off x="3337560" y="2377440"/>
            <a:ext cx="2633472" cy="603504"/>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474720" y="2441448"/>
            <a:ext cx="2377440" cy="219456"/>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② 入口の検査</a:t>
            </a:r>
          </a:p>
        </p:txBody>
      </p:sp>
      <p:sp>
        <p:nvSpPr>
          <p:cNvPr id="12" name="TextBox 11"/>
          <p:cNvSpPr txBox="1"/>
          <p:nvPr/>
        </p:nvSpPr>
        <p:spPr>
          <a:xfrm>
            <a:off x="3474720" y="2670048"/>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Cookie照合 → 権限確認 → Origin照合 → 入力検証</a:t>
            </a:r>
          </a:p>
        </p:txBody>
      </p:sp>
      <p:cxnSp>
        <p:nvCxnSpPr>
          <p:cNvPr id="13" name="Connector 12"/>
          <p:cNvCxnSpPr/>
          <p:nvPr/>
        </p:nvCxnSpPr>
        <p:spPr>
          <a:xfrm>
            <a:off x="1773936" y="2267712"/>
            <a:ext cx="2880360"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17920" y="3090672"/>
            <a:ext cx="2633472" cy="603504"/>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55080" y="3154679"/>
            <a:ext cx="2377440" cy="219456"/>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③ 業務の手順</a:t>
            </a:r>
          </a:p>
        </p:txBody>
      </p:sp>
      <p:sp>
        <p:nvSpPr>
          <p:cNvPr id="16" name="TextBox 15"/>
          <p:cNvSpPr txBox="1"/>
          <p:nvPr/>
        </p:nvSpPr>
        <p:spPr>
          <a:xfrm>
            <a:off x="6355080" y="3383279"/>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usecase が「日報を保存する」手順を実行</a:t>
            </a:r>
          </a:p>
        </p:txBody>
      </p:sp>
      <p:cxnSp>
        <p:nvCxnSpPr>
          <p:cNvPr id="17" name="Connector 16"/>
          <p:cNvCxnSpPr/>
          <p:nvPr/>
        </p:nvCxnSpPr>
        <p:spPr>
          <a:xfrm>
            <a:off x="4654296" y="2980944"/>
            <a:ext cx="2880360"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98280" y="3803904"/>
            <a:ext cx="2633472" cy="603504"/>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235440" y="3867912"/>
            <a:ext cx="2377440" cy="219456"/>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④ 1つのトランザクション</a:t>
            </a:r>
          </a:p>
        </p:txBody>
      </p:sp>
      <p:sp>
        <p:nvSpPr>
          <p:cNvPr id="20" name="TextBox 19"/>
          <p:cNvSpPr txBox="1"/>
          <p:nvPr/>
        </p:nvSpPr>
        <p:spPr>
          <a:xfrm>
            <a:off x="9235440" y="4096512"/>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日報の行 + 送信予定(outbox)を揃って確定</a:t>
            </a:r>
          </a:p>
        </p:txBody>
      </p:sp>
      <p:cxnSp>
        <p:nvCxnSpPr>
          <p:cNvPr id="21" name="Connector 20"/>
          <p:cNvCxnSpPr/>
          <p:nvPr/>
        </p:nvCxnSpPr>
        <p:spPr>
          <a:xfrm>
            <a:off x="7534656" y="3694176"/>
            <a:ext cx="2880359"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7920" y="4517136"/>
            <a:ext cx="2633472" cy="603504"/>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355080" y="4581144"/>
            <a:ext cx="2377440" cy="219456"/>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⑤ 外への通知</a:t>
            </a:r>
          </a:p>
        </p:txBody>
      </p:sp>
      <p:sp>
        <p:nvSpPr>
          <p:cNvPr id="24" name="TextBox 23"/>
          <p:cNvSpPr txBox="1"/>
          <p:nvPr/>
        </p:nvSpPr>
        <p:spPr>
          <a:xfrm>
            <a:off x="6355080" y="4809744"/>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Google Chat へ通知(txの外)</a:t>
            </a:r>
          </a:p>
        </p:txBody>
      </p:sp>
      <p:cxnSp>
        <p:nvCxnSpPr>
          <p:cNvPr id="25" name="Connector 24"/>
          <p:cNvCxnSpPr/>
          <p:nvPr/>
        </p:nvCxnSpPr>
        <p:spPr>
          <a:xfrm flipH="1">
            <a:off x="7534656" y="4407408"/>
            <a:ext cx="2880359"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98280" y="5230368"/>
            <a:ext cx="2633472" cy="603504"/>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35440" y="5294376"/>
            <a:ext cx="2377440" cy="219456"/>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⑥ 後から送信</a:t>
            </a:r>
          </a:p>
        </p:txBody>
      </p:sp>
      <p:sp>
        <p:nvSpPr>
          <p:cNvPr id="28" name="TextBox 27"/>
          <p:cNvSpPr txBox="1"/>
          <p:nvPr/>
        </p:nvSpPr>
        <p:spPr>
          <a:xfrm>
            <a:off x="9235440" y="5522976"/>
            <a:ext cx="2423160" cy="347472"/>
          </a:xfrm>
          <a:prstGeom prst="rect">
            <a:avLst/>
          </a:prstGeom>
          <a:noFill/>
        </p:spPr>
        <p:txBody>
          <a:bodyPr wrap="square" lIns="0" rIns="0" tIns="0" bIns="0" anchor="t">
            <a:spAutoFit/>
          </a:bodyPr>
          <a:lstStyle/>
          <a:p>
            <a:pPr algn="l">
              <a:lnSpc>
                <a:spcPct val="122000"/>
              </a:lnSpc>
              <a:buNone/>
            </a:pPr>
            <a:r>
              <a:rPr sz="950" b="0" i="0">
                <a:solidFill>
                  <a:srgbClr val="14223A"/>
                </a:solidFill>
                <a:latin typeface="Meiryo"/>
                <a:cs typeface="Meiryo"/>
                <a:ea typeface="Meiryo"/>
              </a:rPr>
              <a:t>ワーカーがスプレッドシートへ書き戻す</a:t>
            </a:r>
          </a:p>
        </p:txBody>
      </p:sp>
      <p:cxnSp>
        <p:nvCxnSpPr>
          <p:cNvPr id="29" name="Connector 28"/>
          <p:cNvCxnSpPr/>
          <p:nvPr/>
        </p:nvCxnSpPr>
        <p:spPr>
          <a:xfrm>
            <a:off x="7534656" y="5120640"/>
            <a:ext cx="2880359" cy="109728"/>
          </a:xfrm>
          <a:prstGeom prst="bentConnector3">
            <a:avLst/>
          </a:prstGeom>
          <a:ln w="1778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57200" y="1143000"/>
            <a:ext cx="2633472" cy="3657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ブラウザ</a:t>
            </a:r>
          </a:p>
        </p:txBody>
      </p:sp>
      <p:sp>
        <p:nvSpPr>
          <p:cNvPr id="31" name="Rectangle 30"/>
          <p:cNvSpPr/>
          <p:nvPr/>
        </p:nvSpPr>
        <p:spPr>
          <a:xfrm>
            <a:off x="3337560" y="1143000"/>
            <a:ext cx="2633472"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api(入口)</a:t>
            </a:r>
          </a:p>
        </p:txBody>
      </p:sp>
      <p:sp>
        <p:nvSpPr>
          <p:cNvPr id="32" name="Rectangle 31"/>
          <p:cNvSpPr/>
          <p:nvPr/>
        </p:nvSpPr>
        <p:spPr>
          <a:xfrm>
            <a:off x="6217920" y="1143000"/>
            <a:ext cx="2633472" cy="3657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core(業務)</a:t>
            </a:r>
          </a:p>
        </p:txBody>
      </p:sp>
      <p:sp>
        <p:nvSpPr>
          <p:cNvPr id="33" name="Rectangle 32"/>
          <p:cNvSpPr/>
          <p:nvPr/>
        </p:nvSpPr>
        <p:spPr>
          <a:xfrm>
            <a:off x="9098280" y="1143000"/>
            <a:ext cx="2633472"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db / 外部</a:t>
            </a:r>
          </a:p>
        </p:txBody>
      </p:sp>
      <p:sp>
        <p:nvSpPr>
          <p:cNvPr id="34" name="Rounded Rectangle 33"/>
          <p:cNvSpPr/>
          <p:nvPr/>
        </p:nvSpPr>
        <p:spPr>
          <a:xfrm>
            <a:off x="457200" y="5870448"/>
            <a:ext cx="11277295" cy="45720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5961888"/>
            <a:ext cx="10911535" cy="274320"/>
          </a:xfrm>
          <a:prstGeom prst="rect">
            <a:avLst/>
          </a:prstGeom>
          <a:noFill/>
        </p:spPr>
        <p:txBody>
          <a:bodyPr wrap="square" lIns="0" rIns="0" tIns="0" bIns="0" anchor="t">
            <a:spAutoFit/>
          </a:bodyPr>
          <a:lstStyle/>
          <a:p>
            <a:pPr algn="l">
              <a:lnSpc>
                <a:spcPct val="125000"/>
              </a:lnSpc>
              <a:buNone/>
            </a:pPr>
            <a:r>
              <a:rPr sz="1100" b="0" i="0">
                <a:solidFill>
                  <a:srgbClr val="14223A"/>
                </a:solidFill>
                <a:latin typeface="Meiryo"/>
                <a:cs typeface="Meiryo"/>
                <a:ea typeface="Meiryo"/>
              </a:rPr>
              <a:t>要点:④で「日報の行」と「送信予定」を同じトランザクションで確定させる。片方だけ通ると、誰にも気づかれない取り残しが生まれる。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3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外部との連携</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現行のGAS版との共存、認証、AI、そして公開デモ</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現行のGAS版とどう共存するか</a:t>
            </a:r>
            <a:r>
              <a:rPr sz="1250" b="0" i="0">
                <a:solidFill>
                  <a:srgbClr val="64748B"/>
                </a:solidFill>
                <a:latin typeface="Meiryo"/>
                <a:cs typeface="Meiryo"/>
                <a:ea typeface="Meiryo"/>
              </a:rPr>
              <a:t>   正データはPostgreSQL、スプレッドシートは「写し」</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packages/core/src/usecases/mirrorWorker.ts / packages/integrations/src/gas-bridge</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13</a:t>
            </a:r>
          </a:p>
        </p:txBody>
      </p:sp>
      <p:sp>
        <p:nvSpPr>
          <p:cNvPr id="7" name="Rounded Rectangle 6"/>
          <p:cNvSpPr/>
          <p:nvPr/>
        </p:nvSpPr>
        <p:spPr>
          <a:xfrm>
            <a:off x="457200" y="1188720"/>
            <a:ext cx="2377440" cy="73152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47857"/>
                </a:solidFill>
                <a:latin typeface="Meiryo"/>
                <a:cs typeface="Meiryo"/>
                <a:ea typeface="Meiryo"/>
              </a:rPr>
              <a:t>PostgreSQL
(正データ)</a:t>
            </a:r>
          </a:p>
        </p:txBody>
      </p:sp>
      <p:sp>
        <p:nvSpPr>
          <p:cNvPr id="8" name="Rounded Rectangle 7"/>
          <p:cNvSpPr/>
          <p:nvPr/>
        </p:nvSpPr>
        <p:spPr>
          <a:xfrm>
            <a:off x="3291840" y="1188720"/>
            <a:ext cx="2377440" cy="73152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369A1"/>
                </a:solidFill>
                <a:latin typeface="Meiryo"/>
                <a:cs typeface="Meiryo"/>
                <a:ea typeface="Meiryo"/>
              </a:rPr>
              <a:t>outbox_jobs
送信待ち行列</a:t>
            </a:r>
          </a:p>
        </p:txBody>
      </p:sp>
      <p:sp>
        <p:nvSpPr>
          <p:cNvPr id="9" name="Rounded Rectangle 8"/>
          <p:cNvSpPr/>
          <p:nvPr/>
        </p:nvSpPr>
        <p:spPr>
          <a:xfrm>
            <a:off x="6126480" y="1188720"/>
            <a:ext cx="2377440" cy="73152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C2410C"/>
                </a:solidFill>
                <a:latin typeface="Meiryo"/>
                <a:cs typeface="Meiryo"/>
                <a:ea typeface="Meiryo"/>
              </a:rPr>
              <a:t>ミラーワーカー
(定期実行)</a:t>
            </a:r>
          </a:p>
        </p:txBody>
      </p:sp>
      <p:sp>
        <p:nvSpPr>
          <p:cNvPr id="10" name="Rounded Rectangle 9"/>
          <p:cNvSpPr/>
          <p:nvPr/>
        </p:nvSpPr>
        <p:spPr>
          <a:xfrm>
            <a:off x="8961120" y="1188720"/>
            <a:ext cx="2770632" cy="731520"/>
          </a:xfrm>
          <a:prstGeom prst="roundRect">
            <a:avLst>
              <a:gd name="adj" fmla="val 14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B45309"/>
                </a:solidFill>
                <a:latin typeface="Meiryo"/>
                <a:cs typeface="Meiryo"/>
                <a:ea typeface="Meiryo"/>
              </a:rPr>
              <a:t>GAS Web App 1本
→ スプレッドシート</a:t>
            </a:r>
          </a:p>
        </p:txBody>
      </p:sp>
      <p:cxnSp>
        <p:nvCxnSpPr>
          <p:cNvPr id="11" name="Connector 10"/>
          <p:cNvCxnSpPr/>
          <p:nvPr/>
        </p:nvCxnSpPr>
        <p:spPr>
          <a:xfrm>
            <a:off x="2880360" y="155448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155448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549640" y="155448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148840"/>
            <a:ext cx="5486400" cy="190195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148840"/>
            <a:ext cx="68580" cy="190195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7512" y="225856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この方針にした理由(doc/proposal/gas-bridge.md)</a:t>
            </a:r>
          </a:p>
        </p:txBody>
      </p:sp>
      <p:sp>
        <p:nvSpPr>
          <p:cNvPr id="17" name="TextBox 16"/>
          <p:cNvSpPr txBox="1"/>
          <p:nvPr/>
        </p:nvSpPr>
        <p:spPr>
          <a:xfrm>
            <a:off x="667512" y="2560320"/>
            <a:ext cx="5111496" cy="1399031"/>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新規のGoogle API連携より、既存のGASブリッジを優先した。①新規の課金・認証情報の準備を避ける ②GAS側で実証済みのロジック(イベント分類・タグ解析・スタッフ名の照合)を再実装しない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スプレッドシートを止めるときは、ミラーのアダプタを外すだけで済む(業務ロジックは無変更)</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多重に動かしても安全(SKIP LOCKED)。処理中のまま5分放置された行は再取得の対象になる</a:t>
            </a:r>
          </a:p>
        </p:txBody>
      </p:sp>
      <p:sp>
        <p:nvSpPr>
          <p:cNvPr id="18" name="Rounded Rectangle 17"/>
          <p:cNvSpPr/>
          <p:nvPr/>
        </p:nvSpPr>
        <p:spPr>
          <a:xfrm>
            <a:off x="6245352" y="2148840"/>
            <a:ext cx="5486400" cy="190195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148840"/>
            <a:ext cx="68580" cy="190195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25856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失敗を終端にしない設計</a:t>
            </a:r>
          </a:p>
        </p:txBody>
      </p:sp>
      <p:sp>
        <p:nvSpPr>
          <p:cNvPr id="21" name="TextBox 20"/>
          <p:cNvSpPr txBox="1"/>
          <p:nvPr/>
        </p:nvSpPr>
        <p:spPr>
          <a:xfrm>
            <a:off x="6455664" y="2560320"/>
            <a:ext cx="5111496" cy="1399031"/>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送信に失敗しても捨てない。5秒から倍々(上限1時間)で再試行し、8回で失敗扱いにする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失敗扱いになった件数はエラーログに出るので、運用が気づける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同じ内容を二重に送らないよう、送信予定には一意キー(idempotency_key)を持たせている</a:t>
            </a:r>
          </a:p>
        </p:txBody>
      </p:sp>
      <p:sp>
        <p:nvSpPr>
          <p:cNvPr id="22" name="TextBox 21"/>
          <p:cNvSpPr txBox="1"/>
          <p:nvPr/>
        </p:nvSpPr>
        <p:spPr>
          <a:xfrm>
            <a:off x="457200" y="4206240"/>
            <a:ext cx="11277295" cy="274320"/>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この依存のしかたに残る問題(判断事項①)</a:t>
            </a:r>
          </a:p>
        </p:txBody>
      </p:sp>
      <p:sp>
        <p:nvSpPr>
          <p:cNvPr id="23" name="Rounded Rectangle 22"/>
          <p:cNvSpPr/>
          <p:nvPr/>
        </p:nvSpPr>
        <p:spPr>
          <a:xfrm>
            <a:off x="457200"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4系統が1本に集中</a:t>
            </a:r>
          </a:p>
        </p:txBody>
      </p:sp>
      <p:sp>
        <p:nvSpPr>
          <p:cNvPr id="26" name="TextBox 25"/>
          <p:cNvSpPr txBox="1"/>
          <p:nvPr/>
        </p:nvSpPr>
        <p:spPr>
          <a:xfrm>
            <a:off x="640080"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メール・地図・予定・スプレッドシートすべてがGAS Web App 1本を経由。実行時間制限・クォータあり、SLAなし</a:t>
            </a:r>
          </a:p>
        </p:txBody>
      </p:sp>
      <p:sp>
        <p:nvSpPr>
          <p:cNvPr id="27" name="Rounded Rectangle 26"/>
          <p:cNvSpPr/>
          <p:nvPr/>
        </p:nvSpPr>
        <p:spPr>
          <a:xfrm>
            <a:off x="3310128"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310128"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493008"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まだ一度もデプロイしていない</a:t>
            </a:r>
          </a:p>
        </p:txBody>
      </p:sp>
      <p:sp>
        <p:nvSpPr>
          <p:cNvPr id="30" name="TextBox 29"/>
          <p:cNvSpPr txBox="1"/>
          <p:nvPr/>
        </p:nvSpPr>
        <p:spPr>
          <a:xfrm>
            <a:off x="3493008"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スプレッドシートへの書き戻しとメール送信は、一度も本番で動いたことがない。メール送信の処理はGAS側に存在すらしない</a:t>
            </a:r>
          </a:p>
        </p:txBody>
      </p:sp>
      <p:sp>
        <p:nvSpPr>
          <p:cNvPr id="31" name="Rounded Rectangle 30"/>
          <p:cNvSpPr/>
          <p:nvPr/>
        </p:nvSpPr>
        <p:spPr>
          <a:xfrm>
            <a:off x="6163056"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163056"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45936"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secret がURLに載る</a:t>
            </a:r>
          </a:p>
        </p:txBody>
      </p:sp>
      <p:sp>
        <p:nvSpPr>
          <p:cNvPr id="34" name="TextBox 33"/>
          <p:cNvSpPr txBox="1"/>
          <p:nvPr/>
        </p:nvSpPr>
        <p:spPr>
          <a:xfrm>
            <a:off x="6345936"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GASはカスタムヘッダーを読めないため、認証用の文字列をURLのクエリに付ける。実行ログやプロキシに残る。交換手順は未整備</a:t>
            </a:r>
          </a:p>
        </p:txBody>
      </p:sp>
      <p:sp>
        <p:nvSpPr>
          <p:cNvPr id="35" name="Rounded Rectangle 34"/>
          <p:cNvSpPr/>
          <p:nvPr/>
        </p:nvSpPr>
        <p:spPr>
          <a:xfrm>
            <a:off x="9015984" y="4526280"/>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9015984" y="4526280"/>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198863" y="4599432"/>
            <a:ext cx="2377440" cy="4572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失敗分の再投入が手作業</a:t>
            </a:r>
          </a:p>
        </p:txBody>
      </p:sp>
      <p:sp>
        <p:nvSpPr>
          <p:cNvPr id="38" name="TextBox 37"/>
          <p:cNvSpPr txBox="1"/>
          <p:nvPr/>
        </p:nvSpPr>
        <p:spPr>
          <a:xfrm>
            <a:off x="9198863" y="4983480"/>
            <a:ext cx="2377440" cy="68580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失敗扱いになった送信予定を戻す操作は、管理画面から行えない</a:t>
            </a:r>
          </a:p>
        </p:txBody>
      </p:sp>
      <p:sp>
        <p:nvSpPr>
          <p:cNvPr id="39" name="Rounded Rectangle 38"/>
          <p:cNvSpPr/>
          <p:nvPr/>
        </p:nvSpPr>
        <p:spPr>
          <a:xfrm>
            <a:off x="457200" y="5764911"/>
            <a:ext cx="11277295" cy="617601"/>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57200" y="5764911"/>
            <a:ext cx="68580" cy="617601"/>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5856351"/>
            <a:ext cx="10911535"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選択肢</a:t>
            </a:r>
          </a:p>
        </p:txBody>
      </p:sp>
      <p:sp>
        <p:nvSpPr>
          <p:cNvPr id="42" name="TextBox 41"/>
          <p:cNvSpPr txBox="1"/>
          <p:nvPr/>
        </p:nvSpPr>
        <p:spPr>
          <a:xfrm>
            <a:off x="640080" y="6112383"/>
            <a:ext cx="10929823" cy="19697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(a) この依存のまま早期にデプロイして運用設計を詰める  (b) メール送信だけ別経路(SES / SendGrid等)に逃がす  (c) スプレッドシート連携そのものを移行対象から外す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認証とセッション</a:t>
            </a:r>
            <a:r>
              <a:rPr sz="1250" b="0" i="0">
                <a:solidFill>
                  <a:srgbClr val="64748B"/>
                </a:solidFill>
                <a:latin typeface="Meiryo"/>
                <a:cs typeface="Meiryo"/>
                <a:ea typeface="Meiryo"/>
              </a:rPr>
              <a:t>   提案書のFirebase Authから自前実装に変更した</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packages/core/src/usecases/{auth,passwordReset}.ts / packages/api/src/session.ts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14</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150" b="0" i="0">
                <a:solidFill>
                  <a:srgbClr val="14223A"/>
                </a:solidFill>
                <a:latin typeface="Meiryo"/>
                <a:cs typeface="Meiryo"/>
                <a:ea typeface="Meiryo"/>
              </a:rPr>
              <a:t>変更した理由:GAS版の既存パスワードをそのまま引き継ぎ、スタッフに再設定を強いないため。初回ログイン時に古い方式のハッシュを黙って新方式へ入れ替える。</a:t>
            </a:r>
          </a:p>
        </p:txBody>
      </p:sp>
      <p:sp>
        <p:nvSpPr>
          <p:cNvPr id="8" name="Rounded Rectangle 7"/>
          <p:cNvSpPr/>
          <p:nvPr/>
        </p:nvSpPr>
        <p:spPr>
          <a:xfrm>
            <a:off x="457200" y="1481328"/>
            <a:ext cx="2103120" cy="914400"/>
          </a:xfrm>
          <a:prstGeom prst="roundRect">
            <a:avLst>
              <a:gd name="adj" fmla="val 12000"/>
            </a:avLst>
          </a:prstGeom>
          <a:solidFill>
            <a:srgbClr val="E0F2FE"/>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94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① ログイン</a:t>
            </a:r>
          </a:p>
        </p:txBody>
      </p:sp>
      <p:sp>
        <p:nvSpPr>
          <p:cNvPr id="10" name="TextBox 9"/>
          <p:cNvSpPr txBox="1"/>
          <p:nvPr/>
        </p:nvSpPr>
        <p:spPr>
          <a:xfrm>
            <a:off x="594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法人 + メール +
パスワード</a:t>
            </a:r>
          </a:p>
        </p:txBody>
      </p:sp>
      <p:cxnSp>
        <p:nvCxnSpPr>
          <p:cNvPr id="11" name="Connector 10"/>
          <p:cNvCxnSpPr/>
          <p:nvPr/>
        </p:nvCxnSpPr>
        <p:spPr>
          <a:xfrm>
            <a:off x="2578608" y="1938528"/>
            <a:ext cx="146304"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3200" y="1481328"/>
            <a:ext cx="2103120" cy="914400"/>
          </a:xfrm>
          <a:prstGeom prst="roundRect">
            <a:avLst>
              <a:gd name="adj" fmla="val 12000"/>
            </a:avLst>
          </a:prstGeom>
          <a:solidFill>
            <a:srgbClr val="EDE9FE"/>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880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6D28D9"/>
                </a:solidFill>
                <a:latin typeface="Meiryo"/>
                <a:cs typeface="Meiryo"/>
                <a:ea typeface="Meiryo"/>
              </a:rPr>
              <a:t>② 検証</a:t>
            </a:r>
          </a:p>
        </p:txBody>
      </p:sp>
      <p:sp>
        <p:nvSpPr>
          <p:cNvPr id="14" name="TextBox 13"/>
          <p:cNvSpPr txBox="1"/>
          <p:nvPr/>
        </p:nvSpPr>
        <p:spPr>
          <a:xfrm>
            <a:off x="2880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argon2id で照合
(コストを明示指定)</a:t>
            </a:r>
          </a:p>
        </p:txBody>
      </p:sp>
      <p:cxnSp>
        <p:nvCxnSpPr>
          <p:cNvPr id="15" name="Connector 14"/>
          <p:cNvCxnSpPr/>
          <p:nvPr/>
        </p:nvCxnSpPr>
        <p:spPr>
          <a:xfrm>
            <a:off x="4864607" y="1938528"/>
            <a:ext cx="146305"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0" y="1481328"/>
            <a:ext cx="2103120" cy="914400"/>
          </a:xfrm>
          <a:prstGeom prst="roundRect">
            <a:avLst>
              <a:gd name="adj" fmla="val 12000"/>
            </a:avLst>
          </a:prstGeom>
          <a:solidFill>
            <a:srgbClr val="D1FAE5"/>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66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③ 発行</a:t>
            </a:r>
          </a:p>
        </p:txBody>
      </p:sp>
      <p:sp>
        <p:nvSpPr>
          <p:cNvPr id="18" name="TextBox 17"/>
          <p:cNvSpPr txBox="1"/>
          <p:nvPr/>
        </p:nvSpPr>
        <p:spPr>
          <a:xfrm>
            <a:off x="5166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32バイトの乱数トークン
DBにはハッシュのみ保存</a:t>
            </a:r>
          </a:p>
        </p:txBody>
      </p:sp>
      <p:cxnSp>
        <p:nvCxnSpPr>
          <p:cNvPr id="19" name="Connector 18"/>
          <p:cNvCxnSpPr/>
          <p:nvPr/>
        </p:nvCxnSpPr>
        <p:spPr>
          <a:xfrm>
            <a:off x="7150607" y="1938528"/>
            <a:ext cx="146305"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15200" y="1481328"/>
            <a:ext cx="2103120" cy="914400"/>
          </a:xfrm>
          <a:prstGeom prst="roundRect">
            <a:avLst>
              <a:gd name="adj" fmla="val 12000"/>
            </a:avLst>
          </a:prstGeom>
          <a:solidFill>
            <a:srgbClr val="D1FAE5"/>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52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④ 配布</a:t>
            </a:r>
          </a:p>
        </p:txBody>
      </p:sp>
      <p:sp>
        <p:nvSpPr>
          <p:cNvPr id="22" name="TextBox 21"/>
          <p:cNvSpPr txBox="1"/>
          <p:nvPr/>
        </p:nvSpPr>
        <p:spPr>
          <a:xfrm>
            <a:off x="7452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httpOnly Cookie
SameSite=Lax / 7日</a:t>
            </a:r>
          </a:p>
        </p:txBody>
      </p:sp>
      <p:cxnSp>
        <p:nvCxnSpPr>
          <p:cNvPr id="23" name="Connector 22"/>
          <p:cNvCxnSpPr/>
          <p:nvPr/>
        </p:nvCxnSpPr>
        <p:spPr>
          <a:xfrm>
            <a:off x="9436608" y="1938528"/>
            <a:ext cx="146304"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01200" y="1481328"/>
            <a:ext cx="2103120" cy="914400"/>
          </a:xfrm>
          <a:prstGeom prst="roundRect">
            <a:avLst>
              <a:gd name="adj" fmla="val 12000"/>
            </a:avLst>
          </a:prstGeom>
          <a:solidFill>
            <a:srgbClr val="E0F2FE"/>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738360" y="1554480"/>
            <a:ext cx="1828799"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⑤ 以後の要求</a:t>
            </a:r>
          </a:p>
        </p:txBody>
      </p:sp>
      <p:sp>
        <p:nvSpPr>
          <p:cNvPr id="26" name="TextBox 25"/>
          <p:cNvSpPr txBox="1"/>
          <p:nvPr/>
        </p:nvSpPr>
        <p:spPr>
          <a:xfrm>
            <a:off x="9738360" y="1810512"/>
            <a:ext cx="1828799" cy="54864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Cookie照合 → 法人を特定
→ RLSのスコープを張る</a:t>
            </a:r>
          </a:p>
        </p:txBody>
      </p:sp>
      <p:sp>
        <p:nvSpPr>
          <p:cNvPr id="27" name="Rounded Rectangle 26"/>
          <p:cNvSpPr/>
          <p:nvPr/>
        </p:nvSpPr>
        <p:spPr>
          <a:xfrm>
            <a:off x="457200" y="2606040"/>
            <a:ext cx="5486400" cy="187451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57200" y="2606040"/>
            <a:ext cx="68580" cy="1874519"/>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67512" y="271576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総当たり・列挙を塞いだところ</a:t>
            </a:r>
          </a:p>
        </p:txBody>
      </p:sp>
      <p:sp>
        <p:nvSpPr>
          <p:cNvPr id="30" name="TextBox 29"/>
          <p:cNvSpPr txBox="1"/>
          <p:nvPr/>
        </p:nvSpPr>
        <p:spPr>
          <a:xfrm>
            <a:off x="667512" y="3017520"/>
            <a:ext cx="5111496" cy="137159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連続10回の失敗で15分ロック、成功でリセット。恒久ロックにはしない(狙って失敗させれば人を締め出せるため)</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ロック中かどうかで応答を変えない(アカウントの有無が分かってしまうため)</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再設定は、存在しない宛先でも同じ応答を返す(ユーザー列挙を塞ぐ)</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6桁コードは検証子だけを保存。30分・誤入力5回で無効</a:t>
            </a:r>
          </a:p>
        </p:txBody>
      </p:sp>
      <p:sp>
        <p:nvSpPr>
          <p:cNvPr id="31" name="Rounded Rectangle 30"/>
          <p:cNvSpPr/>
          <p:nvPr/>
        </p:nvSpPr>
        <p:spPr>
          <a:xfrm>
            <a:off x="6245352" y="2606040"/>
            <a:ext cx="5486400" cy="1874519"/>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245352" y="2606040"/>
            <a:ext cx="68580" cy="1874519"/>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55664" y="271576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書き込みを守るところ</a:t>
            </a:r>
          </a:p>
        </p:txBody>
      </p:sp>
      <p:sp>
        <p:nvSpPr>
          <p:cNvPr id="34" name="TextBox 33"/>
          <p:cNvSpPr txBox="1"/>
          <p:nvPr/>
        </p:nvSpPr>
        <p:spPr>
          <a:xfrm>
            <a:off x="6455664" y="3017520"/>
            <a:ext cx="5111496" cy="137159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初期パスワードのまま他のAPIを叩くと403(入口の1か所で判定)</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書き込み系は Origin を照合してクロスサイトからの要求を弾く</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パスワードの差し替えは、行をロックして「差し替え → セッション全破棄」を1つのトランザクションで行う</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ログインの成否・パスワード変更・管理者操作を「誰が・誰を」付きでログに残す</a:t>
            </a:r>
          </a:p>
        </p:txBody>
      </p:sp>
      <p:sp>
        <p:nvSpPr>
          <p:cNvPr id="35" name="TextBox 34"/>
          <p:cNvSpPr txBox="1"/>
          <p:nvPr/>
        </p:nvSpPr>
        <p:spPr>
          <a:xfrm>
            <a:off x="457200" y="4572000"/>
            <a:ext cx="11277295" cy="274320"/>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残っている弱点</a:t>
            </a:r>
          </a:p>
        </p:txBody>
      </p:sp>
      <p:sp>
        <p:nvSpPr>
          <p:cNvPr id="36" name="Rounded Rectangle 35"/>
          <p:cNvSpPr/>
          <p:nvPr/>
        </p:nvSpPr>
        <p:spPr>
          <a:xfrm>
            <a:off x="457200" y="4892040"/>
            <a:ext cx="3685032" cy="9601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57200" y="4892040"/>
            <a:ext cx="68580" cy="9601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 y="4974336"/>
            <a:ext cx="3337560"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絞り込みがアカウント単位のみ</a:t>
            </a:r>
          </a:p>
        </p:txBody>
      </p:sp>
      <p:sp>
        <p:nvSpPr>
          <p:cNvPr id="39" name="TextBox 38"/>
          <p:cNvSpPr txBox="1"/>
          <p:nvPr/>
        </p:nvSpPr>
        <p:spPr>
          <a:xfrm>
            <a:off x="640080" y="5230368"/>
            <a:ext cx="3337560" cy="54864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IPや端末単位のレート制限は前段(WAF / Cloud Armor)が必要</a:t>
            </a:r>
          </a:p>
        </p:txBody>
      </p:sp>
      <p:sp>
        <p:nvSpPr>
          <p:cNvPr id="40" name="Rounded Rectangle 39"/>
          <p:cNvSpPr/>
          <p:nvPr/>
        </p:nvSpPr>
        <p:spPr>
          <a:xfrm>
            <a:off x="4251960" y="4892040"/>
            <a:ext cx="3685032" cy="9601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251960" y="4892040"/>
            <a:ext cx="68580" cy="9601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434840" y="4974336"/>
            <a:ext cx="3337560"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古い方式のハッシュが残る</a:t>
            </a:r>
          </a:p>
        </p:txBody>
      </p:sp>
      <p:sp>
        <p:nvSpPr>
          <p:cNvPr id="43" name="TextBox 42"/>
          <p:cNvSpPr txBox="1"/>
          <p:nvPr/>
        </p:nvSpPr>
        <p:spPr>
          <a:xfrm>
            <a:off x="4434840" y="5230368"/>
            <a:ext cx="3337560" cy="54864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一度もログインしないスタッフの古いハッシュは、期限なく残り続ける</a:t>
            </a:r>
          </a:p>
        </p:txBody>
      </p:sp>
      <p:sp>
        <p:nvSpPr>
          <p:cNvPr id="44" name="Rounded Rectangle 43"/>
          <p:cNvSpPr/>
          <p:nvPr/>
        </p:nvSpPr>
        <p:spPr>
          <a:xfrm>
            <a:off x="8046720" y="4892040"/>
            <a:ext cx="3685032" cy="9601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8046720" y="4892040"/>
            <a:ext cx="68580" cy="9601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229600" y="4974336"/>
            <a:ext cx="3337560"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セッションは絶対期限7日のみ</a:t>
            </a:r>
          </a:p>
        </p:txBody>
      </p:sp>
      <p:sp>
        <p:nvSpPr>
          <p:cNvPr id="47" name="TextBox 46"/>
          <p:cNvSpPr txBox="1"/>
          <p:nvPr/>
        </p:nvSpPr>
        <p:spPr>
          <a:xfrm>
            <a:off x="8229600" y="5230368"/>
            <a:ext cx="3337560" cy="548640"/>
          </a:xfrm>
          <a:prstGeom prst="rect">
            <a:avLst/>
          </a:prstGeom>
          <a:noFill/>
        </p:spPr>
        <p:txBody>
          <a:bodyPr wrap="square" lIns="0" rIns="0" tIns="0" bIns="0" anchor="t">
            <a:spAutoFit/>
          </a:bodyPr>
          <a:lstStyle/>
          <a:p>
            <a:pPr algn="l">
              <a:lnSpc>
                <a:spcPct val="128000"/>
              </a:lnSpc>
              <a:buNone/>
            </a:pPr>
            <a:r>
              <a:rPr sz="950" b="0" i="0">
                <a:solidFill>
                  <a:srgbClr val="14223A"/>
                </a:solidFill>
                <a:latin typeface="Meiryo"/>
                <a:cs typeface="Meiryo"/>
                <a:ea typeface="Meiryo"/>
              </a:rPr>
              <a:t>一定時間操作が無ければ切れる仕組みや、同時ログイン数の制限は無い</a:t>
            </a:r>
          </a:p>
        </p:txBody>
      </p:sp>
      <p:sp>
        <p:nvSpPr>
          <p:cNvPr id="48" name="Rounded Rectangle 47"/>
          <p:cNvSpPr/>
          <p:nvPr/>
        </p:nvSpPr>
        <p:spPr>
          <a:xfrm>
            <a:off x="457200" y="5961888"/>
            <a:ext cx="11277295" cy="384048"/>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0080" y="6035040"/>
            <a:ext cx="10911535" cy="274320"/>
          </a:xfrm>
          <a:prstGeom prst="rect">
            <a:avLst/>
          </a:prstGeom>
          <a:noFill/>
        </p:spPr>
        <p:txBody>
          <a:bodyPr wrap="square" lIns="0" rIns="0" tIns="0" bIns="0" anchor="t">
            <a:spAutoFit/>
          </a:bodyPr>
          <a:lstStyle/>
          <a:p>
            <a:pPr algn="l">
              <a:lnSpc>
                <a:spcPct val="125000"/>
              </a:lnSpc>
              <a:buNone/>
            </a:pPr>
            <a:r>
              <a:rPr sz="1050" b="0" i="0">
                <a:solidFill>
                  <a:srgbClr val="14223A"/>
                </a:solidFill>
                <a:latin typeface="Meiryo"/>
                <a:cs typeface="Meiryo"/>
                <a:ea typeface="Meiryo"/>
              </a:rPr>
              <a:t>認証は「失敗する経路」を数え上げて塞ぐ作業でした。テストも、失敗すべきときに失敗することを中心に書いています。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AI(Gemini)と通知の扱い</a:t>
            </a:r>
            <a:r>
              <a:rPr sz="1250" b="0" i="0">
                <a:solidFill>
                  <a:srgbClr val="64748B"/>
                </a:solidFill>
                <a:latin typeface="Meiryo"/>
                <a:cs typeface="Meiryo"/>
                <a:ea typeface="Meiryo"/>
              </a:rPr>
              <a:t>   生成物より「元の入力」を残すことを優先している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packages/core/src/usecases/reportAi.ts / ports/ai.ts, notifier.ts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15</a:t>
            </a:r>
          </a:p>
        </p:txBody>
      </p:sp>
      <p:sp>
        <p:nvSpPr>
          <p:cNvPr id="7" name="Rounded Rectangle 6"/>
          <p:cNvSpPr/>
          <p:nvPr/>
        </p:nvSpPr>
        <p:spPr>
          <a:xfrm>
            <a:off x="457200" y="1234440"/>
            <a:ext cx="2468880" cy="96012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スタッフの口語メモ
「今日は公園で…」</a:t>
            </a:r>
          </a:p>
        </p:txBody>
      </p:sp>
      <p:sp>
        <p:nvSpPr>
          <p:cNvPr id="8" name="Rounded Rectangle 7"/>
          <p:cNvSpPr/>
          <p:nvPr/>
        </p:nvSpPr>
        <p:spPr>
          <a:xfrm>
            <a:off x="3383280" y="1234440"/>
            <a:ext cx="2468880" cy="96012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Gemini API
文章生成</a:t>
            </a:r>
          </a:p>
        </p:txBody>
      </p:sp>
      <p:sp>
        <p:nvSpPr>
          <p:cNvPr id="9" name="Rounded Rectangle 8"/>
          <p:cNvSpPr/>
          <p:nvPr/>
        </p:nvSpPr>
        <p:spPr>
          <a:xfrm>
            <a:off x="6309360" y="1234440"/>
            <a:ext cx="2651760" cy="96012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社内向けレポート
保護者向けレポート</a:t>
            </a:r>
          </a:p>
        </p:txBody>
      </p:sp>
      <p:sp>
        <p:nvSpPr>
          <p:cNvPr id="10" name="Rounded Rectangle 9"/>
          <p:cNvSpPr/>
          <p:nvPr/>
        </p:nvSpPr>
        <p:spPr>
          <a:xfrm>
            <a:off x="9418320" y="1234440"/>
            <a:ext cx="2313432" cy="96012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47857"/>
                </a:solidFill>
                <a:latin typeface="Meiryo"/>
                <a:cs typeface="Meiryo"/>
                <a:ea typeface="Meiryo"/>
              </a:rPr>
              <a:t>スタッフが確認・修正
してから保存</a:t>
            </a:r>
          </a:p>
        </p:txBody>
      </p:sp>
      <p:cxnSp>
        <p:nvCxnSpPr>
          <p:cNvPr id="11" name="Connector 10"/>
          <p:cNvCxnSpPr/>
          <p:nvPr/>
        </p:nvCxnSpPr>
        <p:spPr>
          <a:xfrm>
            <a:off x="2971800" y="1709928"/>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97880" y="1709928"/>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006840" y="1709928"/>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42316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423160"/>
            <a:ext cx="68580" cy="16916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7512" y="253288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設計上の判断</a:t>
            </a:r>
          </a:p>
        </p:txBody>
      </p:sp>
      <p:sp>
        <p:nvSpPr>
          <p:cNvPr id="17" name="TextBox 16"/>
          <p:cNvSpPr txBox="1"/>
          <p:nvPr/>
        </p:nvSpPr>
        <p:spPr>
          <a:xfrm>
            <a:off x="667512" y="283464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Meiryo"/>
                <a:cs typeface="Meiryo"/>
                <a:ea typeface="Meiryo"/>
              </a:rPr>
              <a:t>生成前の口語メモも列として保存する</a:t>
            </a:r>
            <a:r>
              <a:rPr sz="1050" b="0">
                <a:solidFill>
                  <a:srgbClr val="14223A"/>
                </a:solidFill>
                <a:latin typeface="Meiryo"/>
                <a:cs typeface="Meiryo"/>
                <a:ea typeface="Meiryo"/>
              </a:rPr>
              <a:t>. 生成物だけを残すと、あとから「元は何と書かれていたか」を確かめられない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AIが使えない環境では、何もしない実装に落ちる(画面は生成なしで動く)</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領収書のOCRも同じ形。読み取れなかった場合は空にして、人が直せるようにする</a:t>
            </a:r>
          </a:p>
        </p:txBody>
      </p:sp>
      <p:sp>
        <p:nvSpPr>
          <p:cNvPr id="18" name="Rounded Rectangle 17"/>
          <p:cNvSpPr/>
          <p:nvPr/>
        </p:nvSpPr>
        <p:spPr>
          <a:xfrm>
            <a:off x="6245352" y="242316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423160"/>
            <a:ext cx="68580" cy="16916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53288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APIキーと通知先の持ち方</a:t>
            </a:r>
          </a:p>
        </p:txBody>
      </p:sp>
      <p:sp>
        <p:nvSpPr>
          <p:cNvPr id="21" name="TextBox 20"/>
          <p:cNvSpPr txBox="1"/>
          <p:nvPr/>
        </p:nvSpPr>
        <p:spPr>
          <a:xfrm>
            <a:off x="6455664" y="283464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APIキーとGoogle ChatのWebhook URLは、法人ごとの管理者設定として保存する</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この3項目だけはアプリ側で暗号化している</a:t>
            </a:r>
            <a:r>
              <a:rPr sz="1050" b="0">
                <a:solidFill>
                  <a:srgbClr val="14223A"/>
                </a:solidFill>
                <a:latin typeface="Meiryo"/>
                <a:cs typeface="Meiryo"/>
                <a:ea typeface="Meiryo"/>
              </a:rPr>
              <a:t>(業務データは平文。詳細は doc/slides/db-review.pptx P13)</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未設定の場合は環境変数の既定値にフォールバックする</a:t>
            </a:r>
          </a:p>
        </p:txBody>
      </p:sp>
      <p:sp>
        <p:nvSpPr>
          <p:cNvPr id="22" name="TextBox 21"/>
          <p:cNvSpPr txBox="1"/>
          <p:nvPr/>
        </p:nvSpPr>
        <p:spPr>
          <a:xfrm>
            <a:off x="457200" y="4251960"/>
            <a:ext cx="11277295" cy="274320"/>
          </a:xfrm>
          <a:prstGeom prst="rect">
            <a:avLst/>
          </a:prstGeom>
          <a:noFill/>
        </p:spPr>
        <p:txBody>
          <a:bodyPr wrap="square" lIns="0" rIns="0" tIns="0" bIns="0" anchor="t">
            <a:spAutoFit/>
          </a:bodyPr>
          <a:lstStyle/>
          <a:p>
            <a:pPr algn="l">
              <a:lnSpc>
                <a:spcPct val="125000"/>
              </a:lnSpc>
              <a:buNone/>
            </a:pPr>
            <a:r>
              <a:rPr sz="1250" b="1" i="0">
                <a:solidFill>
                  <a:srgbClr val="14223A"/>
                </a:solidFill>
                <a:latin typeface="Meiryo"/>
                <a:cs typeface="Meiryo"/>
                <a:ea typeface="Meiryo"/>
              </a:rPr>
              <a:t>通知(Google Chat)の位置づけ</a:t>
            </a:r>
          </a:p>
        </p:txBody>
      </p:sp>
      <p:sp>
        <p:nvSpPr>
          <p:cNvPr id="23" name="TextBox 22"/>
          <p:cNvSpPr txBox="1"/>
          <p:nvPr/>
        </p:nvSpPr>
        <p:spPr>
          <a:xfrm>
            <a:off x="457200" y="4553712"/>
            <a:ext cx="5486400" cy="118872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100" b="0">
                <a:solidFill>
                  <a:srgbClr val="14223A"/>
                </a:solidFill>
                <a:latin typeface="Meiryo"/>
                <a:cs typeface="Meiryo"/>
                <a:ea typeface="Meiryo"/>
              </a:rPr>
              <a:t>日報・領収書の登録時に、決まった書式のテキストを送る(GAS版と同じ文面)</a:t>
            </a:r>
          </a:p>
          <a:p>
            <a:pPr marL="182880" indent="-182880">
              <a:lnSpc>
                <a:spcPct val="130000"/>
              </a:lnSpc>
              <a:spcBef>
                <a:spcPts val="600"/>
              </a:spcBef>
              <a:buClr>
                <a:srgbClr val="0369A1"/>
              </a:buClr>
              <a:buFont typeface="Meiryo"/>
              <a:buChar char="▪"/>
            </a:pPr>
            <a:r>
              <a:rPr sz="1100" b="0">
                <a:solidFill>
                  <a:srgbClr val="14223A"/>
                </a:solidFill>
                <a:latin typeface="Meiryo"/>
                <a:cs typeface="Meiryo"/>
                <a:ea typeface="Meiryo"/>
              </a:rPr>
              <a:t>トランザクションの外で送る。通知の失敗で保存を巻き戻さない</a:t>
            </a:r>
          </a:p>
        </p:txBody>
      </p:sp>
      <p:sp>
        <p:nvSpPr>
          <p:cNvPr id="24" name="Rounded Rectangle 23"/>
          <p:cNvSpPr/>
          <p:nvPr/>
        </p:nvSpPr>
        <p:spPr>
          <a:xfrm>
            <a:off x="6245352" y="4553712"/>
            <a:ext cx="5486400" cy="123444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245352" y="4553712"/>
            <a:ext cx="68580"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28232" y="4645152"/>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未検証の部分</a:t>
            </a:r>
          </a:p>
        </p:txBody>
      </p:sp>
      <p:sp>
        <p:nvSpPr>
          <p:cNvPr id="27" name="TextBox 26"/>
          <p:cNvSpPr txBox="1"/>
          <p:nvPr/>
        </p:nvSpPr>
        <p:spPr>
          <a:xfrm>
            <a:off x="6428232" y="4901184"/>
            <a:ext cx="5138928" cy="81381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Gemini APIの実呼び出しと、GASブリッジ経由の全経路(メール送信を含む)は、自動テストでは検証していません。テストでは偽の実装に差し替えています。</a:t>
            </a:r>
          </a:p>
        </p:txBody>
      </p:sp>
      <p:sp>
        <p:nvSpPr>
          <p:cNvPr id="28" name="Rounded Rectangle 27"/>
          <p:cNvSpPr/>
          <p:nvPr/>
        </p:nvSpPr>
        <p:spPr>
          <a:xfrm>
            <a:off x="457200" y="5897880"/>
            <a:ext cx="11277295" cy="402336"/>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5971032"/>
            <a:ext cx="10911535" cy="274320"/>
          </a:xfrm>
          <a:prstGeom prst="rect">
            <a:avLst/>
          </a:prstGeom>
          <a:noFill/>
        </p:spPr>
        <p:txBody>
          <a:bodyPr wrap="square" lIns="0" rIns="0" tIns="0" bIns="0" anchor="t">
            <a:spAutoFit/>
          </a:bodyPr>
          <a:lstStyle/>
          <a:p>
            <a:pPr algn="l">
              <a:lnSpc>
                <a:spcPct val="125000"/>
              </a:lnSpc>
              <a:buNone/>
            </a:pPr>
            <a:r>
              <a:rPr sz="1050" b="0" i="0">
                <a:solidFill>
                  <a:srgbClr val="14223A"/>
                </a:solidFill>
                <a:latin typeface="Meiryo"/>
                <a:cs typeface="Meiryo"/>
                <a:ea typeface="Meiryo"/>
              </a:rPr>
              <a:t>AIは「下書きを作る道具」として位置づけ、最終的な内容の責任はスタッフが持つ形にしています。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公開デモ — 同じコードをブラウザ内で動かす</a:t>
            </a:r>
            <a:r>
              <a:rPr sz="1250" b="0" i="0">
                <a:solidFill>
                  <a:srgbClr val="64748B"/>
                </a:solidFill>
                <a:latin typeface="Meiryo"/>
                <a:cs typeface="Meiryo"/>
                <a:ea typeface="Meiryo"/>
              </a:rPr>
              <a:t>   「core が外部SDKを知らない」ことの実証でもある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packages/demo/src/*.ts / scripts/assertNoDemoInBuild.mjs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16</a:t>
            </a:r>
          </a:p>
        </p:txBody>
      </p:sp>
      <p:sp>
        <p:nvSpPr>
          <p:cNvPr id="7" name="Rounded Rectangle 6"/>
          <p:cNvSpPr/>
          <p:nvPr/>
        </p:nvSpPr>
        <p:spPr>
          <a:xfrm>
            <a:off x="457200" y="1234440"/>
            <a:ext cx="2560320" cy="100584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369A1"/>
                </a:solidFill>
                <a:latin typeface="Meiryo"/>
                <a:cs typeface="Meiryo"/>
                <a:ea typeface="Meiryo"/>
              </a:rPr>
              <a:t>ブラウザ(1枚のページ)
React の画面</a:t>
            </a:r>
          </a:p>
        </p:txBody>
      </p:sp>
      <p:sp>
        <p:nvSpPr>
          <p:cNvPr id="8" name="Rounded Rectangle 7"/>
          <p:cNvSpPr/>
          <p:nvPr/>
        </p:nvSpPr>
        <p:spPr>
          <a:xfrm>
            <a:off x="3474720" y="1234440"/>
            <a:ext cx="2651760" cy="100584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C2410C"/>
                </a:solidFill>
                <a:latin typeface="Meiryo"/>
                <a:cs typeface="Meiryo"/>
                <a:ea typeface="Meiryo"/>
              </a:rPr>
              <a:t>fetch を差し替える
サーバーへ行かせない</a:t>
            </a:r>
          </a:p>
        </p:txBody>
      </p:sp>
      <p:sp>
        <p:nvSpPr>
          <p:cNvPr id="9" name="Rounded Rectangle 8"/>
          <p:cNvSpPr/>
          <p:nvPr/>
        </p:nvSpPr>
        <p:spPr>
          <a:xfrm>
            <a:off x="6583680" y="1234440"/>
            <a:ext cx="2560320" cy="100584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6D28D9"/>
                </a:solidFill>
                <a:latin typeface="Meiryo"/>
                <a:cs typeface="Meiryo"/>
                <a:ea typeface="Meiryo"/>
              </a:rPr>
              <a:t>同じ Hono アプリ
同じルート・同じ業務ロジック</a:t>
            </a:r>
          </a:p>
        </p:txBody>
      </p:sp>
      <p:sp>
        <p:nvSpPr>
          <p:cNvPr id="10" name="Rounded Rectangle 9"/>
          <p:cNvSpPr/>
          <p:nvPr/>
        </p:nvSpPr>
        <p:spPr>
          <a:xfrm>
            <a:off x="9601200" y="1234440"/>
            <a:ext cx="2130552" cy="100584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47857"/>
                </a:solidFill>
                <a:latin typeface="Meiryo"/>
                <a:cs typeface="Meiryo"/>
                <a:ea typeface="Meiryo"/>
              </a:rPr>
              <a:t>PGlite
ブラウザ内PostgreSQL</a:t>
            </a:r>
          </a:p>
        </p:txBody>
      </p:sp>
      <p:cxnSp>
        <p:nvCxnSpPr>
          <p:cNvPr id="11" name="Connector 10"/>
          <p:cNvCxnSpPr/>
          <p:nvPr/>
        </p:nvCxnSpPr>
        <p:spPr>
          <a:xfrm>
            <a:off x="3063240" y="173736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172200" y="173736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89720" y="1737360"/>
            <a:ext cx="365760" cy="0"/>
          </a:xfrm>
          <a:prstGeom prst="line">
            <a:avLst/>
          </a:prstGeom>
          <a:ln w="2286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57200" y="2468880"/>
            <a:ext cx="5486400" cy="1828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468880"/>
            <a:ext cx="68580" cy="1828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7512" y="257860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本番と同じものが動いている</a:t>
            </a:r>
          </a:p>
        </p:txBody>
      </p:sp>
      <p:sp>
        <p:nvSpPr>
          <p:cNvPr id="17" name="TextBox 16"/>
          <p:cNvSpPr txBox="1"/>
          <p:nvPr/>
        </p:nvSpPr>
        <p:spPr>
          <a:xfrm>
            <a:off x="667512" y="2880360"/>
            <a:ext cx="5111496" cy="13258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同じマイグレーション(34テーブル)・同じ行レベルセキュリティ・同じ業務ロジック・同じAPIルート</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差し替えているのは、Node.js専用の実装と、鍵を置けない外部API(AI・地図・メール)だけ</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Service Worker ではなく fetch の差し替えにしたのは、GitHub Pages のサブパス配信で適用範囲の問題に悩まされないため</a:t>
            </a:r>
          </a:p>
        </p:txBody>
      </p:sp>
      <p:sp>
        <p:nvSpPr>
          <p:cNvPr id="18" name="Rounded Rectangle 17"/>
          <p:cNvSpPr/>
          <p:nvPr/>
        </p:nvSpPr>
        <p:spPr>
          <a:xfrm>
            <a:off x="6245352" y="2468880"/>
            <a:ext cx="5486400" cy="1828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468880"/>
            <a:ext cx="68580" cy="1828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57860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本番ビルドに混ざらないことの担保</a:t>
            </a:r>
          </a:p>
        </p:txBody>
      </p:sp>
      <p:sp>
        <p:nvSpPr>
          <p:cNvPr id="21" name="TextBox 20"/>
          <p:cNvSpPr txBox="1"/>
          <p:nvPr/>
        </p:nvSpPr>
        <p:spPr>
          <a:xfrm>
            <a:off x="6455664" y="2880360"/>
            <a:ext cx="5111496" cy="132587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本番ビルドではデモの入口を空の実装に差し替える(ビルド設定)</a:t>
            </a:r>
          </a:p>
          <a:p>
            <a:pPr marL="182880" indent="-182880">
              <a:lnSpc>
                <a:spcPct val="132000"/>
              </a:lnSpc>
              <a:spcBef>
                <a:spcPts val="400"/>
              </a:spcBef>
              <a:buClr>
                <a:srgbClr val="0369A1"/>
              </a:buClr>
              <a:buFont typeface="Meiryo"/>
              <a:buChar char="▪"/>
            </a:pPr>
            <a:r>
              <a:rPr sz="1050" b="1">
                <a:solidFill>
                  <a:srgbClr val="14223A"/>
                </a:solidFill>
                <a:latin typeface="Meiryo"/>
                <a:cs typeface="Meiryo"/>
                <a:ea typeface="Meiryo"/>
              </a:rPr>
              <a:t>設定を読むのではなく、出来上がった成果物そのものをCIが検査する</a:t>
            </a:r>
            <a:r>
              <a:rPr sz="1050" b="0">
                <a:solidFill>
                  <a:srgbClr val="14223A"/>
                </a:solidFill>
                <a:latin typeface="Meiryo"/>
                <a:cs typeface="Meiryo"/>
                <a:ea typeface="Meiryo"/>
              </a:rPr>
              <a:t>. ブラウザ内DBのファイルが含まれていないか、禁止文字列が無いかを確認</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デモの暗号鍵は公開された固定値。訪問者が入力したAPIキー等は永続化しない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デモデータは前回開いた日の翌日から「今日」まで自動で追い足す(何日か空けても履歴が続く)</a:t>
            </a:r>
          </a:p>
        </p:txBody>
      </p:sp>
      <p:sp>
        <p:nvSpPr>
          <p:cNvPr id="22" name="TextBox 21"/>
          <p:cNvSpPr txBox="1"/>
          <p:nvPr/>
        </p:nvSpPr>
        <p:spPr>
          <a:xfrm>
            <a:off x="457200" y="4434840"/>
            <a:ext cx="11277295" cy="274320"/>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デモ固有の脆さ(本番には影響しない)</a:t>
            </a:r>
          </a:p>
        </p:txBody>
      </p:sp>
      <p:sp>
        <p:nvSpPr>
          <p:cNvPr id="23" name="TextBox 22"/>
          <p:cNvSpPr txBox="1"/>
          <p:nvPr/>
        </p:nvSpPr>
        <p:spPr>
          <a:xfrm>
            <a:off x="457200" y="4754880"/>
            <a:ext cx="11277295" cy="100584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100" b="0">
                <a:solidFill>
                  <a:srgbClr val="14223A"/>
                </a:solidFill>
                <a:latin typeface="Meiryo"/>
                <a:cs typeface="Meiryo"/>
                <a:ea typeface="Meiryo"/>
              </a:rPr>
              <a:t>PGlite は1.0未満。書き出しの完了を待つために内部の仕組みを直接呼んでいるため、バージョンを完全固定している</a:t>
            </a:r>
          </a:p>
          <a:p>
            <a:pPr marL="182880" indent="-182880">
              <a:lnSpc>
                <a:spcPct val="130000"/>
              </a:lnSpc>
              <a:spcBef>
                <a:spcPts val="600"/>
              </a:spcBef>
              <a:buClr>
                <a:srgbClr val="0369A1"/>
              </a:buClr>
              <a:buFont typeface="Meiryo"/>
              <a:buChar char="▪"/>
            </a:pPr>
            <a:r>
              <a:rPr sz="1100" b="0">
                <a:solidFill>
                  <a:srgbClr val="14223A"/>
                </a:solidFill>
                <a:latin typeface="Meiryo"/>
                <a:cs typeface="Meiryo"/>
                <a:ea typeface="Meiryo"/>
              </a:rPr>
              <a:t>接続が1本しかないためトランザクションを直列化しているが、トランザクション外の単発クエリは対象外</a:t>
            </a:r>
          </a:p>
          <a:p>
            <a:pPr marL="182880" indent="-182880">
              <a:lnSpc>
                <a:spcPct val="130000"/>
              </a:lnSpc>
              <a:spcBef>
                <a:spcPts val="600"/>
              </a:spcBef>
              <a:buClr>
                <a:srgbClr val="0369A1"/>
              </a:buClr>
              <a:buFont typeface="Meiryo"/>
              <a:buChar char="▪"/>
            </a:pPr>
            <a:r>
              <a:rPr sz="1100" b="0">
                <a:solidFill>
                  <a:srgbClr val="14223A"/>
                </a:solidFill>
                <a:latin typeface="Meiryo"/>
                <a:cs typeface="Meiryo"/>
                <a:ea typeface="Meiryo"/>
              </a:rPr>
              <a:t>複数タブを同時に開いたときの排他は未実装(画面上の案内も無い)</a:t>
            </a:r>
          </a:p>
        </p:txBody>
      </p:sp>
      <p:sp>
        <p:nvSpPr>
          <p:cNvPr id="24" name="Rounded Rectangle 23"/>
          <p:cNvSpPr/>
          <p:nvPr/>
        </p:nvSpPr>
        <p:spPr>
          <a:xfrm>
            <a:off x="457200" y="5925312"/>
            <a:ext cx="11277295" cy="40233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5998464"/>
            <a:ext cx="10911535" cy="27432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デモURL:https://ohru131.github.io/katahimo-app/(admin@demo.example.com / demo1234)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4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品質と現状</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何をテストしていて、何をしていないか。そして判断いただきたいこと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何をテストし、何をしていないか</a:t>
            </a:r>
            <a:r>
              <a:rPr sz="1250" b="0" i="0">
                <a:solidFill>
                  <a:srgbClr val="64748B"/>
                </a:solidFill>
                <a:latin typeface="Meiryo"/>
                <a:cs typeface="Meiryo"/>
                <a:ea typeface="Meiryo"/>
              </a:rPr>
              <a:t>   テスト62ファイル / 828件。分布は意図的に偏らせている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vitest.config.ts / packages/core/src/usecases/testDoubles.ts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18</a:t>
            </a:r>
          </a:p>
        </p:txBody>
      </p:sp>
      <p:sp>
        <p:nvSpPr>
          <p:cNvPr id="7" name="Rounded Rectangle 6"/>
          <p:cNvSpPr/>
          <p:nvPr/>
        </p:nvSpPr>
        <p:spPr>
          <a:xfrm>
            <a:off x="457200" y="1170432"/>
            <a:ext cx="5486400" cy="30175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70432"/>
            <a:ext cx="68580" cy="30175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やっていること</a:t>
            </a:r>
          </a:p>
        </p:txBody>
      </p:sp>
      <p:sp>
        <p:nvSpPr>
          <p:cNvPr id="10" name="TextBox 9"/>
          <p:cNvSpPr txBox="1"/>
          <p:nvPr/>
        </p:nvSpPr>
        <p:spPr>
          <a:xfrm>
            <a:off x="667512" y="1581912"/>
            <a:ext cx="5111496" cy="2514599"/>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14223A"/>
                </a:solidFill>
                <a:latin typeface="Meiryo"/>
                <a:cs typeface="Meiryo"/>
                <a:ea typeface="Meiryo"/>
              </a:rPr>
              <a:t>ドメインの純関数の回帰</a:t>
            </a:r>
            <a:r>
              <a:rPr sz="1050" b="0">
                <a:solidFill>
                  <a:srgbClr val="14223A"/>
                </a:solidFill>
                <a:latin typeface="Meiryo"/>
                <a:cs typeface="Meiryo"/>
                <a:ea typeface="Meiryo"/>
              </a:rPr>
              <a:t>  勤怠計算は、GAS版をNodeで実行した結果を正解として合成データ19ケース+月次集計で完全一致。CSV解析は実サンプル398行で一致</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usecase の単体テスト</a:t>
            </a:r>
            <a:r>
              <a:rPr sz="1050" b="0">
                <a:solidFill>
                  <a:srgbClr val="14223A"/>
                </a:solidFill>
                <a:latin typeface="Meiryo"/>
                <a:cs typeface="Meiryo"/>
                <a:ea typeface="Meiryo"/>
              </a:rPr>
              <a:t>  偽の実装を渡し、「失敗すべきときに失敗する」ことを中心に検証(列挙防止・試行上限・割り込み・部分更新なし)</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トランザクション境界</a:t>
            </a:r>
            <a:r>
              <a:rPr sz="1050" b="0">
                <a:solidFill>
                  <a:srgbClr val="14223A"/>
                </a:solidFill>
                <a:latin typeface="Meiryo"/>
                <a:cs typeface="Meiryo"/>
                <a:ea typeface="Meiryo"/>
              </a:rPr>
              <a:t>  送信予定への書き込みだけを失敗させ、日報の行が残らないことを固定</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行レベルセキュリティ</a:t>
            </a:r>
            <a:r>
              <a:rPr sz="1050" b="0">
                <a:solidFill>
                  <a:srgbClr val="14223A"/>
                </a:solidFill>
                <a:latin typeface="Meiryo"/>
                <a:cs typeface="Meiryo"/>
                <a:ea typeface="Meiryo"/>
              </a:rPr>
              <a:t>  全テーブル分の静的検査と、権限を落としたロールでの実挙動の両方</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制約が実際に効くこと</a:t>
            </a:r>
            <a:r>
              <a:rPr sz="1050" b="0">
                <a:solidFill>
                  <a:srgbClr val="14223A"/>
                </a:solidFill>
                <a:latin typeface="Meiryo"/>
                <a:cs typeface="Meiryo"/>
                <a:ea typeface="Meiryo"/>
              </a:rPr>
              <a:t>  CHECK・一意制約・複合外部キーが不正なINSERTを本当に拒否することを、本番と同じマイグレーションを当てたDB上で確認(拒否理由が狙った制約名であることまで見る)</a:t>
            </a:r>
          </a:p>
        </p:txBody>
      </p:sp>
      <p:sp>
        <p:nvSpPr>
          <p:cNvPr id="11" name="Rounded Rectangle 10"/>
          <p:cNvSpPr/>
          <p:nvPr/>
        </p:nvSpPr>
        <p:spPr>
          <a:xfrm>
            <a:off x="6245352" y="1170432"/>
            <a:ext cx="5486400" cy="301752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5352" y="1170432"/>
            <a:ext cx="68580" cy="30175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55664"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やっていないこと</a:t>
            </a:r>
          </a:p>
        </p:txBody>
      </p:sp>
      <p:sp>
        <p:nvSpPr>
          <p:cNvPr id="14" name="TextBox 13"/>
          <p:cNvSpPr txBox="1"/>
          <p:nvPr/>
        </p:nvSpPr>
        <p:spPr>
          <a:xfrm>
            <a:off x="6455664" y="1581912"/>
            <a:ext cx="5111496" cy="2514599"/>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14223A"/>
                </a:solidFill>
                <a:latin typeface="Meiryo"/>
                <a:cs typeface="Meiryo"/>
                <a:ea typeface="Meiryo"/>
              </a:rPr>
              <a:t>画面のテストが0本</a:t>
            </a:r>
            <a:r>
              <a:rPr sz="1050" b="0">
                <a:solidFill>
                  <a:srgbClr val="14223A"/>
                </a:solidFill>
                <a:latin typeface="Meiryo"/>
                <a:cs typeface="Meiryo"/>
                <a:ea typeface="Meiryo"/>
              </a:rPr>
              <a:t>  ブラウザを動かす自動テスト(E2E)もReactコンポーネントのテストも無い</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APIルート層の統合テストが無い</a:t>
            </a:r>
            <a:r>
              <a:rPr sz="1050" b="0">
                <a:solidFill>
                  <a:srgbClr val="14223A"/>
                </a:solidFill>
                <a:latin typeface="Meiryo"/>
                <a:cs typeface="Meiryo"/>
                <a:ea typeface="Meiryo"/>
              </a:rPr>
              <a:t>  入口の検査は個別には検証しているが、通しでは確認していない</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実PostgreSQLに対するテストが無い</a:t>
            </a:r>
            <a:r>
              <a:rPr sz="1050" b="0">
                <a:solidFill>
                  <a:srgbClr val="14223A"/>
                </a:solidFill>
                <a:latin typeface="Meiryo"/>
                <a:cs typeface="Meiryo"/>
                <a:ea typeface="Meiryo"/>
              </a:rPr>
              <a:t>  リポジトリ層はブラウザ内DBで検証しており、本番ドライバ固有の挙動差と EXPLAIN による索引の効き方は未確認</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勤怠の実データ照合が未実施</a:t>
            </a:r>
            <a:r>
              <a:rPr sz="1050" b="0">
                <a:solidFill>
                  <a:srgbClr val="14223A"/>
                </a:solidFill>
                <a:latin typeface="Meiryo"/>
                <a:cs typeface="Meiryo"/>
                <a:ea typeface="Meiryo"/>
              </a:rPr>
              <a:t>  給与に直結する領域。実際の出勤簿との突き合わせはこれから</a:t>
            </a:r>
          </a:p>
          <a:p>
            <a:pPr marL="182880" indent="-182880">
              <a:lnSpc>
                <a:spcPct val="130000"/>
              </a:lnSpc>
              <a:spcBef>
                <a:spcPts val="600"/>
              </a:spcBef>
              <a:buClr>
                <a:srgbClr val="0369A1"/>
              </a:buClr>
              <a:buFont typeface="Meiryo"/>
              <a:buChar char="▪"/>
            </a:pPr>
            <a:r>
              <a:rPr sz="1050" b="1">
                <a:solidFill>
                  <a:srgbClr val="14223A"/>
                </a:solidFill>
                <a:latin typeface="Meiryo"/>
                <a:cs typeface="Meiryo"/>
                <a:ea typeface="Meiryo"/>
              </a:rPr>
              <a:t>負荷試験・障害注入が未実施</a:t>
            </a:r>
            <a:r>
              <a:rPr sz="1050" b="0">
                <a:solidFill>
                  <a:srgbClr val="14223A"/>
                </a:solidFill>
                <a:latin typeface="Meiryo"/>
                <a:cs typeface="Meiryo"/>
                <a:ea typeface="Meiryo"/>
              </a:rPr>
              <a:t>  送信待ち行列の滞留や再試行の挙動を、実運用の量で見たことがない</a:t>
            </a:r>
          </a:p>
        </p:txBody>
      </p:sp>
      <p:sp>
        <p:nvSpPr>
          <p:cNvPr id="15" name="Rounded Rectangle 14"/>
          <p:cNvSpPr/>
          <p:nvPr/>
        </p:nvSpPr>
        <p:spPr>
          <a:xfrm>
            <a:off x="457200" y="4315968"/>
            <a:ext cx="5486400" cy="1078992"/>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4315968"/>
            <a:ext cx="68580" cy="107899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4407407"/>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テストの書き方の方針</a:t>
            </a:r>
          </a:p>
        </p:txBody>
      </p:sp>
      <p:sp>
        <p:nvSpPr>
          <p:cNvPr id="18" name="TextBox 17"/>
          <p:cNvSpPr txBox="1"/>
          <p:nvPr/>
        </p:nvSpPr>
        <p:spPr>
          <a:xfrm>
            <a:off x="640080" y="4663440"/>
            <a:ext cx="5138928" cy="658368"/>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新しく足したテストは「直した箇所を元に戻すと落ちること」を1つずつ確認してから残しています。通るだけのテストは、あとから読む人に誤解だけを与えるためです。</a:t>
            </a:r>
          </a:p>
        </p:txBody>
      </p:sp>
      <p:sp>
        <p:nvSpPr>
          <p:cNvPr id="19" name="Rounded Rectangle 18"/>
          <p:cNvSpPr/>
          <p:nvPr/>
        </p:nvSpPr>
        <p:spPr>
          <a:xfrm>
            <a:off x="6245352" y="4315968"/>
            <a:ext cx="5486400" cy="1078992"/>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45352" y="4315968"/>
            <a:ext cx="68580" cy="107899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28232" y="4407407"/>
            <a:ext cx="5120640"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判断事項④</a:t>
            </a:r>
          </a:p>
        </p:txBody>
      </p:sp>
      <p:sp>
        <p:nvSpPr>
          <p:cNvPr id="22" name="TextBox 21"/>
          <p:cNvSpPr txBox="1"/>
          <p:nvPr/>
        </p:nvSpPr>
        <p:spPr>
          <a:xfrm>
            <a:off x="6428232" y="4663440"/>
            <a:ext cx="5138928" cy="658368"/>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薄い層のうち、どれを運用開始の前提条件にするかを判断いただきたいです。特に勤怠は給与に直結します。</a:t>
            </a:r>
          </a:p>
        </p:txBody>
      </p:sp>
      <p:sp>
        <p:nvSpPr>
          <p:cNvPr id="23" name="TextBox 22"/>
          <p:cNvSpPr txBox="1"/>
          <p:nvPr/>
        </p:nvSpPr>
        <p:spPr>
          <a:xfrm>
            <a:off x="457200" y="5486400"/>
            <a:ext cx="11277295" cy="274320"/>
          </a:xfrm>
          <a:prstGeom prst="rect">
            <a:avLst/>
          </a:prstGeom>
          <a:noFill/>
        </p:spPr>
        <p:txBody>
          <a:bodyPr wrap="square" lIns="0" rIns="0" tIns="0" bIns="0" anchor="t">
            <a:spAutoFit/>
          </a:bodyPr>
          <a:lstStyle/>
          <a:p>
            <a:pPr algn="l">
              <a:lnSpc>
                <a:spcPct val="125000"/>
              </a:lnSpc>
              <a:buNone/>
            </a:pPr>
            <a:r>
              <a:rPr sz="1250" b="1" i="0">
                <a:solidFill>
                  <a:srgbClr val="14223A"/>
                </a:solidFill>
                <a:latin typeface="Meiryo"/>
                <a:cs typeface="Meiryo"/>
                <a:ea typeface="Meiryo"/>
              </a:rPr>
              <a:t>CI(毎push、GitHub Actions)</a:t>
            </a:r>
          </a:p>
        </p:txBody>
      </p:sp>
      <p:sp>
        <p:nvSpPr>
          <p:cNvPr id="24" name="Rounded Rectangle 23"/>
          <p:cNvSpPr/>
          <p:nvPr/>
        </p:nvSpPr>
        <p:spPr>
          <a:xfrm>
            <a:off x="457200"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依存の取得</a:t>
            </a:r>
          </a:p>
        </p:txBody>
      </p:sp>
      <p:cxnSp>
        <p:nvCxnSpPr>
          <p:cNvPr id="25" name="Connector 24"/>
          <p:cNvCxnSpPr/>
          <p:nvPr/>
        </p:nvCxnSpPr>
        <p:spPr>
          <a:xfrm>
            <a:off x="1956815"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084831"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静的検査(Biome)</a:t>
            </a:r>
          </a:p>
        </p:txBody>
      </p:sp>
      <p:cxnSp>
        <p:nvCxnSpPr>
          <p:cNvPr id="27" name="Connector 26"/>
          <p:cNvCxnSpPr/>
          <p:nvPr/>
        </p:nvCxnSpPr>
        <p:spPr>
          <a:xfrm>
            <a:off x="3584447" y="5998464"/>
            <a:ext cx="109729"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712463"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型検査(tsc strict)</a:t>
            </a:r>
          </a:p>
        </p:txBody>
      </p:sp>
      <p:cxnSp>
        <p:nvCxnSpPr>
          <p:cNvPr id="29" name="Connector 28"/>
          <p:cNvCxnSpPr/>
          <p:nvPr/>
        </p:nvCxnSpPr>
        <p:spPr>
          <a:xfrm>
            <a:off x="5212079"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340096"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テスト(Vitest)</a:t>
            </a:r>
          </a:p>
        </p:txBody>
      </p:sp>
      <p:cxnSp>
        <p:nvCxnSpPr>
          <p:cNvPr id="31" name="Connector 30"/>
          <p:cNvCxnSpPr/>
          <p:nvPr/>
        </p:nvCxnSpPr>
        <p:spPr>
          <a:xfrm>
            <a:off x="6839712"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967727"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本番ビルド</a:t>
            </a:r>
          </a:p>
        </p:txBody>
      </p:sp>
      <p:cxnSp>
        <p:nvCxnSpPr>
          <p:cNvPr id="33" name="Connector 32"/>
          <p:cNvCxnSpPr/>
          <p:nvPr/>
        </p:nvCxnSpPr>
        <p:spPr>
          <a:xfrm>
            <a:off x="8467344"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595359"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デモ混入の検査</a:t>
            </a:r>
          </a:p>
        </p:txBody>
      </p:sp>
      <p:cxnSp>
        <p:nvCxnSpPr>
          <p:cNvPr id="35" name="Connector 34"/>
          <p:cNvCxnSpPr/>
          <p:nvPr/>
        </p:nvCxnSpPr>
        <p:spPr>
          <a:xfrm>
            <a:off x="10094975" y="5998464"/>
            <a:ext cx="109728" cy="0"/>
          </a:xfrm>
          <a:prstGeom prst="line">
            <a:avLst/>
          </a:prstGeom>
          <a:ln w="1651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222991" y="5806440"/>
            <a:ext cx="1490472" cy="384048"/>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0">
                <a:solidFill>
                  <a:srgbClr val="14223A"/>
                </a:solidFill>
                <a:latin typeface="Meiryo"/>
                <a:cs typeface="Meiryo"/>
                <a:ea typeface="Meiryo"/>
              </a:rPr>
              <a:t>デモビルド</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ドキュメントの記述と、実装の実態</a:t>
            </a:r>
            <a:r>
              <a:rPr sz="1250" b="0" i="0">
                <a:solidFill>
                  <a:srgbClr val="64748B"/>
                </a:solidFill>
                <a:latin typeface="Meiryo"/>
                <a:cs typeface="Meiryo"/>
                <a:ea typeface="Meiryo"/>
              </a:rPr>
              <a:t>   誤解を招きやすい点を先にお伝えします</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README「実装状況」/ doc/proposal/tech-stack.md / packages/db/src/schema</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19</a:t>
            </a:r>
          </a:p>
        </p:txBody>
      </p:sp>
      <p:graphicFrame>
        <p:nvGraphicFramePr>
          <p:cNvPr id="7" name="Table 6"/>
          <p:cNvGraphicFramePr>
            <a:graphicFrameLocks noGrp="1"/>
          </p:cNvGraphicFramePr>
          <p:nvPr/>
        </p:nvGraphicFramePr>
        <p:xfrm>
          <a:off x="457200" y="1170432"/>
          <a:ext cx="11277293" cy="4325112"/>
        </p:xfrm>
        <a:graphic>
          <a:graphicData uri="http://schemas.openxmlformats.org/drawingml/2006/table">
            <a:tbl>
              <a:tblPr firstRow="1" bandRow="1">
                <a:tableStyleId>{5C22544A-7EE6-4342-B048-85BDC9FD1C3A}</a:tableStyleId>
              </a:tblPr>
              <a:tblGrid>
                <a:gridCol w="3969607"/>
                <a:gridCol w="1443493"/>
                <a:gridCol w="5864193"/>
              </a:tblGrid>
              <a:tr h="301752">
                <a:tc>
                  <a:txBody>
                    <a:bodyPr wrap="square"/>
                    <a:lstStyle/>
                    <a:p>
                      <a:pPr algn="l">
                        <a:lnSpc>
                          <a:spcPct val="115000"/>
                        </a:lnSpc>
                        <a:buNone/>
                      </a:pPr>
                      <a:r>
                        <a:rPr sz="1050" b="1">
                          <a:solidFill>
                            <a:srgbClr val="14223A"/>
                          </a:solidFill>
                          <a:latin typeface="Meiryo"/>
                          <a:cs typeface="Meiryo"/>
                          <a:ea typeface="Meiryo"/>
                        </a:rPr>
                        <a:t>ドキュメントが語っていること</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実装</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実際の状態</a:t>
                      </a:r>
                    </a:p>
                  </a:txBody>
                  <a:tcPr marL="64008" marR="64008" marT="27432" marB="27432" anchor="ctr">
                    <a:solidFill>
                      <a:srgbClr val="E2E8F0"/>
                    </a:solidFill>
                  </a:tcPr>
                </a:tc>
              </a:tr>
              <a:tr h="402336">
                <a:tc>
                  <a:txBody>
                    <a:bodyPr wrap="square"/>
                    <a:lstStyle/>
                    <a:p>
                      <a:pPr algn="l">
                        <a:lnSpc>
                          <a:spcPct val="115000"/>
                        </a:lnSpc>
                        <a:buNone/>
                      </a:pPr>
                      <a:r>
                        <a:rPr sz="1050" b="1">
                          <a:solidFill>
                            <a:srgbClr val="14223A"/>
                          </a:solidFill>
                          <a:latin typeface="Meiryo"/>
                          <a:cs typeface="Meiryo"/>
                          <a:ea typeface="Meiryo"/>
                        </a:rPr>
                        <a:t>PostgreSQL + RLS のマルチテナント</a:t>
                      </a:r>
                    </a:p>
                  </a:txBody>
                  <a:tcPr marL="64008" marR="64008" marT="27432" marB="27432" anchor="ctr">
                    <a:solidFill>
                      <a:srgbClr val="FFFFFF"/>
                    </a:solidFill>
                  </a:tcPr>
                </a:tc>
                <a:tc>
                  <a:txBody>
                    <a:bodyPr wrap="square"/>
                    <a:lstStyle/>
                    <a:p>
                      <a:pPr algn="ctr">
                        <a:lnSpc>
                          <a:spcPct val="115000"/>
                        </a:lnSpc>
                        <a:buNone/>
                      </a:pPr>
                      <a:r>
                        <a:rPr sz="1050" b="0">
                          <a:solidFill>
                            <a:srgbClr val="047857"/>
                          </a:solidFill>
                          <a:latin typeface="Meiryo"/>
                          <a:cs typeface="Meiryo"/>
                          <a:ea typeface="Meiryo"/>
                        </a:rPr>
                        <a:t>実装済み</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34テーブル、複合外部キー、FORCE。静的検査と実DB検証をCIで実行</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Outbox によるスプレッドシートへの書き戻し</a:t>
                      </a:r>
                    </a:p>
                  </a:txBody>
                  <a:tcPr marL="64008" marR="64008" marT="27432" marB="27432" anchor="ctr">
                    <a:solidFill>
                      <a:srgbClr val="F8FAFC"/>
                    </a:solidFill>
                  </a:tcPr>
                </a:tc>
                <a:tc>
                  <a:txBody>
                    <a:bodyPr wrap="square"/>
                    <a:lstStyle/>
                    <a:p>
                      <a:pPr algn="ctr">
                        <a:lnSpc>
                          <a:spcPct val="115000"/>
                        </a:lnSpc>
                        <a:buNone/>
                      </a:pPr>
                      <a:r>
                        <a:rPr sz="1050" b="0">
                          <a:solidFill>
                            <a:srgbClr val="047857"/>
                          </a:solidFill>
                          <a:latin typeface="Meiryo"/>
                          <a:cs typeface="Meiryo"/>
                          <a:ea typeface="Meiryo"/>
                        </a:rPr>
                        <a:t>実装済み</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業務データの書き込みと同一トランザクション。再試行と失敗扱いの仕組みあり</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公開デモ</a:t>
                      </a:r>
                    </a:p>
                  </a:txBody>
                  <a:tcPr marL="64008" marR="64008" marT="27432" marB="27432" anchor="ctr">
                    <a:solidFill>
                      <a:srgbClr val="FFFFFF"/>
                    </a:solidFill>
                  </a:tcPr>
                </a:tc>
                <a:tc>
                  <a:txBody>
                    <a:bodyPr wrap="square"/>
                    <a:lstStyle/>
                    <a:p>
                      <a:pPr algn="ctr">
                        <a:lnSpc>
                          <a:spcPct val="115000"/>
                        </a:lnSpc>
                        <a:buNone/>
                      </a:pPr>
                      <a:r>
                        <a:rPr sz="1050" b="0">
                          <a:solidFill>
                            <a:srgbClr val="047857"/>
                          </a:solidFill>
                          <a:latin typeface="Meiryo"/>
                          <a:cs typeface="Meiryo"/>
                          <a:ea typeface="Meiryo"/>
                        </a:rPr>
                        <a:t>稼働中</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本番と同一のスキーマ・業務ロジック・ルートがブラウザ内で動く</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認証は Firebase Auth / Identity Platform</a:t>
                      </a:r>
                    </a:p>
                  </a:txBody>
                  <a:tcPr marL="64008" marR="64008" marT="27432" marB="27432" anchor="ctr">
                    <a:solidFill>
                      <a:srgbClr val="F8FAFC"/>
                    </a:solidFill>
                  </a:tcPr>
                </a:tc>
                <a:tc>
                  <a:txBody>
                    <a:bodyPr wrap="square"/>
                    <a:lstStyle/>
                    <a:p>
                      <a:pPr algn="ctr">
                        <a:lnSpc>
                          <a:spcPct val="115000"/>
                        </a:lnSpc>
                        <a:buNone/>
                      </a:pPr>
                      <a:r>
                        <a:rPr sz="1050" b="0">
                          <a:solidFill>
                            <a:srgbClr val="B45309"/>
                          </a:solidFill>
                          <a:latin typeface="Meiryo"/>
                          <a:cs typeface="Meiryo"/>
                          <a:ea typeface="Meiryo"/>
                        </a:rPr>
                        <a:t>方針変更</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自前の argon2id + Cookie。GAS版のパスワードを移行できるようにするため</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Cloud Run 本番デプロイ</a:t>
                      </a:r>
                    </a:p>
                  </a:txBody>
                  <a:tcPr marL="64008" marR="64008" marT="27432" marB="27432" anchor="ctr">
                    <a:solidFill>
                      <a:srgbClr val="FFFFFF"/>
                    </a:solidFill>
                  </a:tcPr>
                </a:tc>
                <a:tc>
                  <a:txBody>
                    <a:bodyPr wrap="square"/>
                    <a:lstStyle/>
                    <a:p>
                      <a:pPr algn="ctr">
                        <a:lnSpc>
                          <a:spcPct val="115000"/>
                        </a:lnSpc>
                        <a:buNone/>
                      </a:pPr>
                      <a:r>
                        <a:rPr sz="1050" b="0">
                          <a:solidFill>
                            <a:srgbClr val="B91C1C"/>
                          </a:solidFill>
                          <a:latin typeface="Meiryo"/>
                          <a:cs typeface="Meiryo"/>
                          <a:ea typeface="Meiryo"/>
                        </a:rPr>
                        <a:t>未着手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Dockerfileもインフラ定義も無い。自動化されているのはデモの公開だけ</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Sheetsミラーの実送信・メール送信</a:t>
                      </a:r>
                    </a:p>
                  </a:txBody>
                  <a:tcPr marL="64008" marR="64008" marT="27432" marB="27432" anchor="ctr">
                    <a:solidFill>
                      <a:srgbClr val="F8FAFC"/>
                    </a:solidFill>
                  </a:tcPr>
                </a:tc>
                <a:tc>
                  <a:txBody>
                    <a:bodyPr wrap="square"/>
                    <a:lstStyle/>
                    <a:p>
                      <a:pPr algn="ctr">
                        <a:lnSpc>
                          <a:spcPct val="115000"/>
                        </a:lnSpc>
                        <a:buNone/>
                      </a:pPr>
                      <a:r>
                        <a:rPr sz="1050" b="0">
                          <a:solidFill>
                            <a:srgbClr val="B45309"/>
                          </a:solidFill>
                          <a:latin typeface="Meiryo"/>
                          <a:cs typeface="Meiryo"/>
                          <a:ea typeface="Meiryo"/>
                        </a:rPr>
                        <a:t>未検証</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GASブリッジが未デプロイのため一度も動いていない。既定でミラーは無効</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Cloud KMS による鍵管理</a:t>
                      </a:r>
                    </a:p>
                  </a:txBody>
                  <a:tcPr marL="64008" marR="64008" marT="27432" marB="27432" anchor="ctr">
                    <a:solidFill>
                      <a:srgbClr val="FFFFFF"/>
                    </a:solidFill>
                  </a:tcPr>
                </a:tc>
                <a:tc>
                  <a:txBody>
                    <a:bodyPr wrap="square"/>
                    <a:lstStyle/>
                    <a:p>
                      <a:pPr algn="ctr">
                        <a:lnSpc>
                          <a:spcPct val="115000"/>
                        </a:lnSpc>
                        <a:buNone/>
                      </a:pPr>
                      <a:r>
                        <a:rPr sz="1050" b="0">
                          <a:solidFill>
                            <a:srgbClr val="B91C1C"/>
                          </a:solidFill>
                          <a:latin typeface="Meiryo"/>
                          <a:cs typeface="Meiryo"/>
                          <a:ea typeface="Meiryo"/>
                        </a:rPr>
                        <a:t>未着手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鍵を包む鍵は環境変数のまま。再暗号化バッチも無い</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予約・請求・カルテ</a:t>
                      </a:r>
                    </a:p>
                  </a:txBody>
                  <a:tcPr marL="64008" marR="64008" marT="27432" marB="27432" anchor="ctr">
                    <a:solidFill>
                      <a:srgbClr val="F8FAFC"/>
                    </a:solidFill>
                  </a:tcPr>
                </a:tc>
                <a:tc>
                  <a:txBody>
                    <a:bodyPr wrap="square"/>
                    <a:lstStyle/>
                    <a:p>
                      <a:pPr algn="ctr">
                        <a:lnSpc>
                          <a:spcPct val="115000"/>
                        </a:lnSpc>
                        <a:buNone/>
                      </a:pPr>
                      <a:r>
                        <a:rPr sz="1050" b="0">
                          <a:solidFill>
                            <a:srgbClr val="6D28D9"/>
                          </a:solidFill>
                          <a:latin typeface="Meiryo"/>
                          <a:cs typeface="Meiryo"/>
                          <a:ea typeface="Meiryo"/>
                        </a:rPr>
                        <a:t>スキーマのみ</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表・制約・ドキュメントはある。リポジトリ実装・API・画面はこれから</a:t>
                      </a:r>
                    </a:p>
                  </a:txBody>
                  <a:tcPr marL="64008" marR="64008" marT="27432" marB="27432" anchor="ctr">
                    <a:solidFill>
                      <a:srgbClr val="F8FAFC"/>
                    </a:solidFill>
                  </a:tcPr>
                </a:tc>
              </a:tr>
              <a:tr h="402336">
                <a:tc>
                  <a:txBody>
                    <a:bodyPr wrap="square"/>
                    <a:lstStyle/>
                    <a:p>
                      <a:pPr algn="l">
                        <a:lnSpc>
                          <a:spcPct val="115000"/>
                        </a:lnSpc>
                        <a:buNone/>
                      </a:pPr>
                      <a:r>
                        <a:rPr sz="1050" b="1">
                          <a:solidFill>
                            <a:srgbClr val="14223A"/>
                          </a:solidFill>
                          <a:latin typeface="Meiryo"/>
                          <a:cs typeface="Meiryo"/>
                          <a:ea typeface="Meiryo"/>
                        </a:rPr>
                        <a:t>業種差の吸収(機能フラグ)</a:t>
                      </a:r>
                    </a:p>
                  </a:txBody>
                  <a:tcPr marL="64008" marR="64008" marT="27432" marB="27432" anchor="ctr">
                    <a:solidFill>
                      <a:srgbClr val="FFFFFF"/>
                    </a:solidFill>
                  </a:tcPr>
                </a:tc>
                <a:tc>
                  <a:txBody>
                    <a:bodyPr wrap="square"/>
                    <a:lstStyle/>
                    <a:p>
                      <a:pPr algn="ctr">
                        <a:lnSpc>
                          <a:spcPct val="115000"/>
                        </a:lnSpc>
                        <a:buNone/>
                      </a:pPr>
                      <a:r>
                        <a:rPr sz="1050" b="0">
                          <a:solidFill>
                            <a:srgbClr val="B91C1C"/>
                          </a:solidFill>
                          <a:latin typeface="Meiryo"/>
                          <a:cs typeface="Meiryo"/>
                          <a:ea typeface="Meiryo"/>
                        </a:rPr>
                        <a:t>未着手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tenant_features 等は設計方針のみで、テーブルは無い</a:t>
                      </a:r>
                    </a:p>
                  </a:txBody>
                  <a:tcPr marL="64008" marR="64008" marT="27432" marB="27432" anchor="ctr">
                    <a:solidFill>
                      <a:srgbClr val="FFFFFF"/>
                    </a:solidFill>
                  </a:tcPr>
                </a:tc>
              </a:tr>
              <a:tr h="402336">
                <a:tc>
                  <a:txBody>
                    <a:bodyPr wrap="square"/>
                    <a:lstStyle/>
                    <a:p>
                      <a:pPr algn="l">
                        <a:lnSpc>
                          <a:spcPct val="115000"/>
                        </a:lnSpc>
                        <a:buNone/>
                      </a:pPr>
                      <a:r>
                        <a:rPr sz="1050" b="1">
                          <a:solidFill>
                            <a:srgbClr val="14223A"/>
                          </a:solidFill>
                          <a:latin typeface="Meiryo"/>
                          <a:cs typeface="Meiryo"/>
                          <a:ea typeface="Meiryo"/>
                        </a:rPr>
                        <a:t>勤怠計算はGAS版と一致</a:t>
                      </a:r>
                    </a:p>
                  </a:txBody>
                  <a:tcPr marL="64008" marR="64008" marT="27432" marB="27432" anchor="ctr">
                    <a:solidFill>
                      <a:srgbClr val="F8FAFC"/>
                    </a:solidFill>
                  </a:tcPr>
                </a:tc>
                <a:tc>
                  <a:txBody>
                    <a:bodyPr wrap="square"/>
                    <a:lstStyle/>
                    <a:p>
                      <a:pPr algn="ctr">
                        <a:lnSpc>
                          <a:spcPct val="115000"/>
                        </a:lnSpc>
                        <a:buNone/>
                      </a:pPr>
                      <a:r>
                        <a:rPr sz="1050" b="0">
                          <a:solidFill>
                            <a:srgbClr val="B45309"/>
                          </a:solidFill>
                          <a:latin typeface="Meiryo"/>
                          <a:cs typeface="Meiryo"/>
                          <a:ea typeface="Meiryo"/>
                        </a:rPr>
                        <a:t>合成データのみ</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実際の出勤簿での照合はこれから</a:t>
                      </a:r>
                    </a:p>
                  </a:txBody>
                  <a:tcPr marL="64008" marR="64008" marT="27432" marB="27432" anchor="ctr">
                    <a:solidFill>
                      <a:srgbClr val="F8FAFC"/>
                    </a:solidFill>
                  </a:tcPr>
                </a:tc>
              </a:tr>
            </a:tbl>
          </a:graphicData>
        </a:graphic>
      </p:graphicFrame>
      <p:sp>
        <p:nvSpPr>
          <p:cNvPr id="8" name="Rounded Rectangle 7"/>
          <p:cNvSpPr/>
          <p:nvPr/>
        </p:nvSpPr>
        <p:spPr>
          <a:xfrm>
            <a:off x="457200" y="5486400"/>
            <a:ext cx="11277295" cy="83032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486400"/>
            <a:ext cx="68580" cy="83032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577840"/>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このページがいちばん大事かもしれません</a:t>
            </a:r>
          </a:p>
        </p:txBody>
      </p:sp>
      <p:sp>
        <p:nvSpPr>
          <p:cNvPr id="11" name="TextBox 10"/>
          <p:cNvSpPr txBox="1"/>
          <p:nvPr/>
        </p:nvSpPr>
        <p:spPr>
          <a:xfrm>
            <a:off x="640080" y="583387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提案書だけを読むと、すでに揃っているように見えてしまいます。赤い行は着手すらしていません。ご判断いただきたいのは「この土台の上に、赤を積んでいってよいか」です。土台に構造的な問題があるなら、積む前に直したいと考えていま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ご判断いただきたいこと</a:t>
            </a:r>
            <a:r>
              <a:rPr sz="1250" b="0" i="0">
                <a:solidFill>
                  <a:srgbClr val="64748B"/>
                </a:solidFill>
                <a:latin typeface="Meiryo"/>
                <a:cs typeface="Meiryo"/>
                <a:ea typeface="Meiryo"/>
              </a:rPr>
              <a:t>   優先度順。いずれも「直せない」ものではなく「今やるか、いつやるか」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データベース設計の論点は doc/slides/db-review.pptx 第3〜4章</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20</a:t>
            </a:r>
          </a:p>
        </p:txBody>
      </p:sp>
      <p:sp>
        <p:nvSpPr>
          <p:cNvPr id="7" name="Rounded Rectangle 6"/>
          <p:cNvSpPr/>
          <p:nvPr/>
        </p:nvSpPr>
        <p:spPr>
          <a:xfrm>
            <a:off x="457200" y="114300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93268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234440"/>
            <a:ext cx="365760" cy="274320"/>
          </a:xfrm>
          <a:prstGeom prst="rect">
            <a:avLst/>
          </a:prstGeom>
          <a:noFill/>
        </p:spPr>
        <p:txBody>
          <a:bodyPr wrap="square" lIns="0" rIns="0" tIns="0" bIns="0" anchor="t">
            <a:spAutoFit/>
          </a:bodyPr>
          <a:lstStyle/>
          <a:p>
            <a:pPr algn="l">
              <a:lnSpc>
                <a:spcPct val="125000"/>
              </a:lnSpc>
              <a:buNone/>
            </a:pPr>
            <a:r>
              <a:rPr sz="1300" b="1" i="0">
                <a:solidFill>
                  <a:srgbClr val="B91C1C"/>
                </a:solidFill>
                <a:latin typeface="Meiryo"/>
                <a:cs typeface="Meiryo"/>
                <a:ea typeface="Meiryo"/>
              </a:rPr>
              <a:t>①</a:t>
            </a:r>
          </a:p>
        </p:txBody>
      </p:sp>
      <p:sp>
        <p:nvSpPr>
          <p:cNvPr id="10" name="TextBox 9"/>
          <p:cNvSpPr txBox="1"/>
          <p:nvPr/>
        </p:nvSpPr>
        <p:spPr>
          <a:xfrm>
            <a:off x="1051560" y="122529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GASブリッジ1本への依存</a:t>
            </a:r>
          </a:p>
        </p:txBody>
      </p:sp>
      <p:sp>
        <p:nvSpPr>
          <p:cNvPr id="11" name="TextBox 10"/>
          <p:cNvSpPr txBox="1"/>
          <p:nvPr/>
        </p:nvSpPr>
        <p:spPr>
          <a:xfrm>
            <a:off x="1051560" y="152704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メール・地図・予定・スプレッドシートの4系統を1つのGAS Web Appに集約。SLAは無く、認証用の文字列がURLに載る。しかもまだ一度もデプロイしていない。</a:t>
            </a:r>
          </a:p>
        </p:txBody>
      </p:sp>
      <p:sp>
        <p:nvSpPr>
          <p:cNvPr id="12" name="Rounded Rectangle 11"/>
          <p:cNvSpPr/>
          <p:nvPr/>
        </p:nvSpPr>
        <p:spPr>
          <a:xfrm>
            <a:off x="6949440" y="125272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86600" y="132588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(a) この依存のまま早期にデプロイして運用設計を詰める / (b) メールだけ別経路に逃がす / (c) スプレッドシート連携を移行対象から外す</a:t>
            </a:r>
          </a:p>
        </p:txBody>
      </p:sp>
      <p:sp>
        <p:nvSpPr>
          <p:cNvPr id="14" name="Rounded Rectangle 13"/>
          <p:cNvSpPr/>
          <p:nvPr/>
        </p:nvSpPr>
        <p:spPr>
          <a:xfrm>
            <a:off x="457200" y="214884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148840"/>
            <a:ext cx="68580" cy="9326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2240280"/>
            <a:ext cx="365760" cy="274320"/>
          </a:xfrm>
          <a:prstGeom prst="rect">
            <a:avLst/>
          </a:prstGeom>
          <a:noFill/>
        </p:spPr>
        <p:txBody>
          <a:bodyPr wrap="square" lIns="0" rIns="0" tIns="0" bIns="0" anchor="t">
            <a:spAutoFit/>
          </a:bodyPr>
          <a:lstStyle/>
          <a:p>
            <a:pPr algn="l">
              <a:lnSpc>
                <a:spcPct val="125000"/>
              </a:lnSpc>
              <a:buNone/>
            </a:pPr>
            <a:r>
              <a:rPr sz="1300" b="1" i="0">
                <a:solidFill>
                  <a:srgbClr val="B45309"/>
                </a:solidFill>
                <a:latin typeface="Meiryo"/>
                <a:cs typeface="Meiryo"/>
                <a:ea typeface="Meiryo"/>
              </a:rPr>
              <a:t>②</a:t>
            </a:r>
          </a:p>
        </p:txBody>
      </p:sp>
      <p:sp>
        <p:nvSpPr>
          <p:cNvPr id="17" name="TextBox 16"/>
          <p:cNvSpPr txBox="1"/>
          <p:nvPr/>
        </p:nvSpPr>
        <p:spPr>
          <a:xfrm>
            <a:off x="1051560" y="223113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鍵管理を本番相当にする時期</a:t>
            </a:r>
          </a:p>
        </p:txBody>
      </p:sp>
      <p:sp>
        <p:nvSpPr>
          <p:cNvPr id="18" name="TextBox 17"/>
          <p:cNvSpPr txBox="1"/>
          <p:nvPr/>
        </p:nvSpPr>
        <p:spPr>
          <a:xfrm>
            <a:off x="1051560" y="253288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封筒暗号化の形はでき、鍵の世代も並存させているが、鍵を包む鍵は環境変数のまま。再暗号化バッチも無い。</a:t>
            </a:r>
          </a:p>
        </p:txBody>
      </p:sp>
      <p:sp>
        <p:nvSpPr>
          <p:cNvPr id="19" name="Rounded Rectangle 18"/>
          <p:cNvSpPr/>
          <p:nvPr/>
        </p:nvSpPr>
        <p:spPr>
          <a:xfrm>
            <a:off x="6949440" y="225856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86600" y="233172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Cloud KMSを入れる前に、本番データを溜め始めてよいか</a:t>
            </a:r>
          </a:p>
        </p:txBody>
      </p:sp>
      <p:sp>
        <p:nvSpPr>
          <p:cNvPr id="21" name="Rounded Rectangle 20"/>
          <p:cNvSpPr/>
          <p:nvPr/>
        </p:nvSpPr>
        <p:spPr>
          <a:xfrm>
            <a:off x="457200" y="315468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57200" y="3154680"/>
            <a:ext cx="68580" cy="93268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3246120"/>
            <a:ext cx="365760" cy="274320"/>
          </a:xfrm>
          <a:prstGeom prst="rect">
            <a:avLst/>
          </a:prstGeom>
          <a:noFill/>
        </p:spPr>
        <p:txBody>
          <a:bodyPr wrap="square" lIns="0" rIns="0" tIns="0" bIns="0" anchor="t">
            <a:spAutoFit/>
          </a:bodyPr>
          <a:lstStyle/>
          <a:p>
            <a:pPr algn="l">
              <a:lnSpc>
                <a:spcPct val="125000"/>
              </a:lnSpc>
              <a:buNone/>
            </a:pPr>
            <a:r>
              <a:rPr sz="1300" b="1" i="0">
                <a:solidFill>
                  <a:srgbClr val="6D28D9"/>
                </a:solidFill>
                <a:latin typeface="Meiryo"/>
                <a:cs typeface="Meiryo"/>
                <a:ea typeface="Meiryo"/>
              </a:rPr>
              <a:t>③</a:t>
            </a:r>
          </a:p>
        </p:txBody>
      </p:sp>
      <p:sp>
        <p:nvSpPr>
          <p:cNvPr id="24" name="TextBox 23"/>
          <p:cNvSpPr txBox="1"/>
          <p:nvPr/>
        </p:nvSpPr>
        <p:spPr>
          <a:xfrm>
            <a:off x="1051560" y="323697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先行整備した5ドメインの進め方</a:t>
            </a:r>
          </a:p>
        </p:txBody>
      </p:sp>
      <p:sp>
        <p:nvSpPr>
          <p:cNvPr id="25" name="TextBox 24"/>
          <p:cNvSpPr txBox="1"/>
          <p:nvPr/>
        </p:nvSpPr>
        <p:spPr>
          <a:xfrm>
            <a:off x="1051560" y="353872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予約・請求・カルテ・訪問最適化・移動手当は、表と制約だけ先に用意してある。予約の二重取りだけはDBで止められておらず、アプリ側の責任になっている。</a:t>
            </a:r>
          </a:p>
        </p:txBody>
      </p:sp>
      <p:sp>
        <p:nvSpPr>
          <p:cNvPr id="26" name="Rounded Rectangle 25"/>
          <p:cNvSpPr/>
          <p:nvPr/>
        </p:nvSpPr>
        <p:spPr>
          <a:xfrm>
            <a:off x="6949440" y="326440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086600" y="333756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どのドメインから実装に進めるか / 二重取り防止をどこで担保するか</a:t>
            </a:r>
          </a:p>
        </p:txBody>
      </p:sp>
      <p:sp>
        <p:nvSpPr>
          <p:cNvPr id="28" name="Rounded Rectangle 27"/>
          <p:cNvSpPr/>
          <p:nvPr/>
        </p:nvSpPr>
        <p:spPr>
          <a:xfrm>
            <a:off x="457200" y="416052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4160520"/>
            <a:ext cx="68580" cy="9326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4251960"/>
            <a:ext cx="365760" cy="274320"/>
          </a:xfrm>
          <a:prstGeom prst="rect">
            <a:avLst/>
          </a:prstGeom>
          <a:noFill/>
        </p:spPr>
        <p:txBody>
          <a:bodyPr wrap="square" lIns="0" rIns="0" tIns="0" bIns="0" anchor="t">
            <a:spAutoFit/>
          </a:bodyPr>
          <a:lstStyle/>
          <a:p>
            <a:pPr algn="l">
              <a:lnSpc>
                <a:spcPct val="125000"/>
              </a:lnSpc>
              <a:buNone/>
            </a:pPr>
            <a:r>
              <a:rPr sz="1300" b="1" i="0">
                <a:solidFill>
                  <a:srgbClr val="B45309"/>
                </a:solidFill>
                <a:latin typeface="Meiryo"/>
                <a:cs typeface="Meiryo"/>
                <a:ea typeface="Meiryo"/>
              </a:rPr>
              <a:t>④</a:t>
            </a:r>
          </a:p>
        </p:txBody>
      </p:sp>
      <p:sp>
        <p:nvSpPr>
          <p:cNvPr id="31" name="TextBox 30"/>
          <p:cNvSpPr txBox="1"/>
          <p:nvPr/>
        </p:nvSpPr>
        <p:spPr>
          <a:xfrm>
            <a:off x="1051560" y="424281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テストの薄い層をどこまで埋めるか</a:t>
            </a:r>
          </a:p>
        </p:txBody>
      </p:sp>
      <p:sp>
        <p:nvSpPr>
          <p:cNvPr id="32" name="TextBox 31"/>
          <p:cNvSpPr txBox="1"/>
          <p:nvPr/>
        </p:nvSpPr>
        <p:spPr>
          <a:xfrm>
            <a:off x="1051560" y="454456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ドメインとusecaseは厚いが、APIルート・実PostgreSQL・画面は手動確認のまま。</a:t>
            </a:r>
          </a:p>
        </p:txBody>
      </p:sp>
      <p:sp>
        <p:nvSpPr>
          <p:cNvPr id="33" name="Rounded Rectangle 32"/>
          <p:cNvSpPr/>
          <p:nvPr/>
        </p:nvSpPr>
        <p:spPr>
          <a:xfrm>
            <a:off x="6949440" y="427024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086600" y="434340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どれを運用開始の前提条件にするか(特に勤怠は給与に直結)</a:t>
            </a:r>
          </a:p>
        </p:txBody>
      </p:sp>
      <p:sp>
        <p:nvSpPr>
          <p:cNvPr id="35" name="Rounded Rectangle 34"/>
          <p:cNvSpPr/>
          <p:nvPr/>
        </p:nvSpPr>
        <p:spPr>
          <a:xfrm>
            <a:off x="457200" y="5166360"/>
            <a:ext cx="11277295" cy="93268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57200" y="5166360"/>
            <a:ext cx="68580" cy="93268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8368" y="5257800"/>
            <a:ext cx="365760" cy="274320"/>
          </a:xfrm>
          <a:prstGeom prst="rect">
            <a:avLst/>
          </a:prstGeom>
          <a:noFill/>
        </p:spPr>
        <p:txBody>
          <a:bodyPr wrap="square" lIns="0" rIns="0" tIns="0" bIns="0" anchor="t">
            <a:spAutoFit/>
          </a:bodyPr>
          <a:lstStyle/>
          <a:p>
            <a:pPr algn="l">
              <a:lnSpc>
                <a:spcPct val="125000"/>
              </a:lnSpc>
              <a:buNone/>
            </a:pPr>
            <a:r>
              <a:rPr sz="1300" b="1" i="0">
                <a:solidFill>
                  <a:srgbClr val="B45309"/>
                </a:solidFill>
                <a:latin typeface="Meiryo"/>
                <a:cs typeface="Meiryo"/>
                <a:ea typeface="Meiryo"/>
              </a:rPr>
              <a:t>⑤</a:t>
            </a:r>
          </a:p>
        </p:txBody>
      </p:sp>
      <p:sp>
        <p:nvSpPr>
          <p:cNvPr id="38" name="TextBox 37"/>
          <p:cNvSpPr txBox="1"/>
          <p:nvPr/>
        </p:nvSpPr>
        <p:spPr>
          <a:xfrm>
            <a:off x="1051560" y="5248656"/>
            <a:ext cx="3200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単一障害点と運用の受け皿</a:t>
            </a:r>
          </a:p>
        </p:txBody>
      </p:sp>
      <p:sp>
        <p:nvSpPr>
          <p:cNvPr id="39" name="TextBox 38"/>
          <p:cNvSpPr txBox="1"/>
          <p:nvPr/>
        </p:nvSpPr>
        <p:spPr>
          <a:xfrm>
            <a:off x="1051560" y="5550408"/>
            <a:ext cx="5669280" cy="502920"/>
          </a:xfrm>
          <a:prstGeom prst="rect">
            <a:avLst/>
          </a:prstGeom>
          <a:noFill/>
        </p:spPr>
        <p:txBody>
          <a:bodyPr wrap="square" lIns="0" rIns="0" tIns="0" bIns="0" anchor="t">
            <a:spAutoFit/>
          </a:bodyPr>
          <a:lstStyle/>
          <a:p>
            <a:pPr algn="l">
              <a:lnSpc>
                <a:spcPct val="128000"/>
              </a:lnSpc>
              <a:buNone/>
            </a:pPr>
            <a:r>
              <a:rPr sz="1000" b="0" i="0">
                <a:solidFill>
                  <a:srgbClr val="64748B"/>
                </a:solidFill>
                <a:latin typeface="Meiryo"/>
                <a:cs typeface="Meiryo"/>
                <a:ea typeface="Meiryo"/>
              </a:rPr>
              <a:t>失敗した送信予定の再投入、送信待ち行列の滞留、鍵の交換。いずれも今は手作業。</a:t>
            </a:r>
          </a:p>
        </p:txBody>
      </p:sp>
      <p:sp>
        <p:nvSpPr>
          <p:cNvPr id="40" name="Rounded Rectangle 39"/>
          <p:cNvSpPr/>
          <p:nvPr/>
        </p:nvSpPr>
        <p:spPr>
          <a:xfrm>
            <a:off x="6949440" y="5276088"/>
            <a:ext cx="4663440" cy="713232"/>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086600" y="5349240"/>
            <a:ext cx="4389120" cy="64008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運用画面を作るか、手順書で足りるか</a:t>
            </a:r>
          </a:p>
        </p:txBody>
      </p:sp>
      <p:sp>
        <p:nvSpPr>
          <p:cNvPr id="42" name="TextBox 41"/>
          <p:cNvSpPr txBox="1"/>
          <p:nvPr/>
        </p:nvSpPr>
        <p:spPr>
          <a:xfrm>
            <a:off x="457200" y="6199632"/>
            <a:ext cx="11277295" cy="274320"/>
          </a:xfrm>
          <a:prstGeom prst="rect">
            <a:avLst/>
          </a:prstGeom>
          <a:noFill/>
        </p:spPr>
        <p:txBody>
          <a:bodyPr wrap="square" lIns="0" rIns="0" tIns="0" bIns="0" anchor="t">
            <a:spAutoFit/>
          </a:bodyPr>
          <a:lstStyle/>
          <a:p>
            <a:pPr algn="l">
              <a:lnSpc>
                <a:spcPct val="125000"/>
              </a:lnSpc>
              <a:buNone/>
            </a:pPr>
            <a:r>
              <a:rPr sz="1100" b="1" i="0">
                <a:solidFill>
                  <a:srgbClr val="14223A"/>
                </a:solidFill>
                <a:latin typeface="Meiryo"/>
                <a:cs typeface="Meiryo"/>
                <a:ea typeface="Meiryo"/>
              </a:rPr>
              <a:t>私の推奨:メール送信だけ別経路に逃がしたうえで、予約から実装に進めること。ただし意見ですので、ご判断をいただきたいです。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まとめ</a:t>
            </a:r>
            <a:r>
              <a:rPr sz="1250" b="0" i="0">
                <a:solidFill>
                  <a:srgbClr val="64748B"/>
                </a:solidFill>
                <a:latin typeface="Meiryo"/>
                <a:cs typeface="Meiryo"/>
                <a:ea typeface="Meiryo"/>
              </a:rPr>
              <a:t>   左は自信を持って言えること、右は判断いただきたいこと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21</a:t>
            </a:r>
          </a:p>
        </p:txBody>
      </p:sp>
      <p:sp>
        <p:nvSpPr>
          <p:cNvPr id="6" name="Rounded Rectangle 5"/>
          <p:cNvSpPr/>
          <p:nvPr/>
        </p:nvSpPr>
        <p:spPr>
          <a:xfrm>
            <a:off x="457200" y="1170432"/>
            <a:ext cx="5486400" cy="42062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70432"/>
            <a:ext cx="68580" cy="42062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67512"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この構成で守れていると考えているもの</a:t>
            </a:r>
          </a:p>
        </p:txBody>
      </p:sp>
      <p:sp>
        <p:nvSpPr>
          <p:cNvPr id="9" name="TextBox 8"/>
          <p:cNvSpPr txBox="1"/>
          <p:nvPr/>
        </p:nvSpPr>
        <p:spPr>
          <a:xfrm>
            <a:off x="667512" y="1581912"/>
            <a:ext cx="5111496" cy="37033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業務ロジックが外部SDKを一切知らない。結果として、同じコードがNode.jsとブラウザの両方で動く(公開デモで実証)</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依存の矢印が中心へ向かって一方通行。逆流は1本もない(package.json で確認できる)</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揃って成立すべき書き込みが、1つのトランザクションで確定する。壊れたらテストが落ちるようにしてある</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テナント分離が二重(アプリ側とデータベース側)。効いていることを静的検査と実DBの両方で検証</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認証の失敗経路(列挙・総当たり・割り込み・部分更新・クロスサイト)を数え上げて塞いだ</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34テーブルすべてで同じスキーマ規約。新しい表を足す手順が決まっている</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毎pushで静的検査・型検査・828件のテスト・本番ビルド・混入検査まで自動実行</a:t>
            </a:r>
          </a:p>
        </p:txBody>
      </p:sp>
      <p:sp>
        <p:nvSpPr>
          <p:cNvPr id="10" name="Rounded Rectangle 9"/>
          <p:cNvSpPr/>
          <p:nvPr/>
        </p:nvSpPr>
        <p:spPr>
          <a:xfrm>
            <a:off x="6245352" y="1170432"/>
            <a:ext cx="5486400" cy="42062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45352" y="1170432"/>
            <a:ext cx="68580" cy="42062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5664"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6D28D9"/>
                </a:solidFill>
                <a:latin typeface="Meiryo"/>
                <a:cs typeface="Meiryo"/>
                <a:ea typeface="Meiryo"/>
              </a:rPr>
              <a:t>判断をいただきたいもの</a:t>
            </a:r>
          </a:p>
        </p:txBody>
      </p:sp>
      <p:sp>
        <p:nvSpPr>
          <p:cNvPr id="13" name="TextBox 12"/>
          <p:cNvSpPr txBox="1"/>
          <p:nvPr/>
        </p:nvSpPr>
        <p:spPr>
          <a:xfrm>
            <a:off x="6455664" y="1581912"/>
            <a:ext cx="5111496" cy="37033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GASブリッジ1本への依存と、その運用設計(判断事項①)</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鍵管理を本番相当にする時期(②)</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先行整備した5ドメインを実装へ進める順番(③)</a:t>
            </a:r>
          </a:p>
          <a:p>
            <a:pPr marL="182880" indent="-182880">
              <a:lnSpc>
                <a:spcPct val="132000"/>
              </a:lnSpc>
              <a:spcBef>
                <a:spcPts val="700"/>
              </a:spcBef>
              <a:buClr>
                <a:srgbClr val="0369A1"/>
              </a:buClr>
              <a:buFont typeface="Meiryo"/>
              <a:buChar char="▪"/>
            </a:pPr>
            <a:r>
              <a:rPr sz="1100" b="0">
                <a:solidFill>
                  <a:srgbClr val="14223A"/>
                </a:solidFill>
                <a:latin typeface="Meiryo"/>
                <a:cs typeface="Meiryo"/>
                <a:ea typeface="Meiryo"/>
              </a:rPr>
              <a:t>テストの薄い層と、運用の受け皿をどこまで作るか(④⑤)</a:t>
            </a:r>
          </a:p>
          <a:p>
            <a:pPr marL="182880" indent="-182880">
              <a:lnSpc>
                <a:spcPct val="132000"/>
              </a:lnSpc>
              <a:spcBef>
                <a:spcPts val="700"/>
              </a:spcBef>
              <a:buClr>
                <a:srgbClr val="0369A1"/>
              </a:buClr>
              <a:buFont typeface="Meiryo"/>
              <a:buChar char="▪"/>
            </a:pPr>
            <a:r>
              <a:rPr sz="1100" b="1">
                <a:solidFill>
                  <a:srgbClr val="14223A"/>
                </a:solidFill>
                <a:latin typeface="Meiryo"/>
                <a:cs typeface="Meiryo"/>
                <a:ea typeface="Meiryo"/>
              </a:rPr>
              <a:t>データベース設計の論点は別資料</a:t>
            </a:r>
            <a:r>
              <a:rPr sz="1100" b="0">
                <a:solidFill>
                  <a:srgbClr val="14223A"/>
                </a:solidFill>
                <a:latin typeface="Meiryo"/>
                <a:cs typeface="Meiryo"/>
                <a:ea typeface="Meiryo"/>
              </a:rPr>
              <a:t>:customers 39列の肥大化、業務データを平文にした前提、予約の二重取り防止、廃棄手順、監査の時期(doc/slides/db-review.pptx 第3〜4章)</a:t>
            </a:r>
          </a:p>
          <a:p>
            <a:pPr marL="182880" indent="-182880">
              <a:lnSpc>
                <a:spcPct val="132000"/>
              </a:lnSpc>
              <a:spcBef>
                <a:spcPts val="700"/>
              </a:spcBef>
              <a:buClr>
                <a:srgbClr val="0369A1"/>
              </a:buClr>
              <a:buFont typeface="Meiryo"/>
              <a:buChar char="▪"/>
            </a:pPr>
            <a:r>
              <a:rPr sz="1100" b="1">
                <a:solidFill>
                  <a:srgbClr val="14223A"/>
                </a:solidFill>
                <a:latin typeface="Meiryo"/>
                <a:cs typeface="Meiryo"/>
                <a:ea typeface="Meiryo"/>
              </a:rPr>
              <a:t>いちばん知りたいこと</a:t>
            </a:r>
            <a:r>
              <a:rPr sz="1100" b="0">
                <a:solidFill>
                  <a:srgbClr val="14223A"/>
                </a:solidFill>
                <a:latin typeface="Meiryo"/>
                <a:cs typeface="Meiryo"/>
                <a:ea typeface="Meiryo"/>
              </a:rPr>
              <a:t>:自分では気づきようがない構造的な問題が、他にあるかどうか</a:t>
            </a:r>
          </a:p>
        </p:txBody>
      </p:sp>
      <p:sp>
        <p:nvSpPr>
          <p:cNvPr id="14" name="Rounded Rectangle 13"/>
          <p:cNvSpPr/>
          <p:nvPr/>
        </p:nvSpPr>
        <p:spPr>
          <a:xfrm>
            <a:off x="457200" y="5532120"/>
            <a:ext cx="11277295" cy="83032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5532120"/>
            <a:ext cx="68580" cy="83032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5623559"/>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参照</a:t>
            </a:r>
          </a:p>
        </p:txBody>
      </p:sp>
      <p:sp>
        <p:nvSpPr>
          <p:cNvPr id="17" name="TextBox 16"/>
          <p:cNvSpPr txBox="1"/>
          <p:nvPr/>
        </p:nvSpPr>
        <p:spPr>
          <a:xfrm>
            <a:off x="640080" y="587959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資料の一覧と読む順は doc/README.md。設計の背景は doc/proposal/、データベースの詳細は doc/db/、説明用スライドは doc/slides/(本資料と、データベース構造レビュー・業務確認用の3本)。  —  公開デモ:https://ohru131.github.io/katahimo-app/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