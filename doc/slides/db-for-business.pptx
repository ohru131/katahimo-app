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システム側で守られる決めごと。入力ミスがあっても、この内容に反する登録はできないようになっています。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データベースとExcelの言葉の対応</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同じものが2件登録されるのを防ぐ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4542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4542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この資料での呼び方)の言葉だけを使います。専門用語は参考として括弧で添えるだけにします。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Excelと違い、全員が同時に入力できる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数十万件でも一覧表示が遅くならない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行の挿入や並べ替えで式がずれない。計算はその都度行う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記録として残ること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取り消しても行は残す(グレー表示)。記録が痕跡なく消えることがない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そのため、運用を始める前に、足りない項目をご指摘ください。</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。登録の時点で止まります。</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つながりが防ぐこと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になる状態」を作れないようにしてあります。
これにより、顧客名簿には無いのに日報だけ残っているような、あとから原因を追えない不整合が起きません。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90855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90855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守りたい条件はデータの置き場所そのものに書いておく方針です。Excelの入力規則はコピー&amp;ペーストで破れますが、こちらは経路を問わず効きます。</a:t>
            </a:r>
          </a:p>
        </p:txBody>
      </p:sp>
      <p:sp>
        <p:nvSpPr>
          <p:cNvPr id="11" name="Rounded Rectangle 10"/>
          <p:cNvSpPr/>
          <p:nvPr/>
        </p:nvSpPr>
        <p:spPr>
          <a:xfrm>
            <a:off x="457200" y="5303520"/>
            <a:ext cx="11277295" cy="9601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03520"/>
            <a:ext cx="68580" cy="9601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1324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ご確認いただきたいのは「選べる値」の中身です</a:t>
            </a:r>
          </a:p>
        </p:txBody>
      </p:sp>
      <p:sp>
        <p:nvSpPr>
          <p:cNvPr id="14" name="TextBox 13"/>
          <p:cNvSpPr txBox="1"/>
          <p:nvPr/>
        </p:nvSpPr>
        <p:spPr>
          <a:xfrm>
            <a:off x="667512" y="5715000"/>
            <a:ext cx="10902391" cy="4571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はできますが、運用開始後だと「どれにも当てはまらない」データが先に溜まり、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業務の流れのどこで、どのシートに記録が残るか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業務の流れと、記録が残る場所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4542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4542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上の6つが業務の流れです。それぞれの段階で、その下に書いたシートに記録が残ります。第3章以降は、この順番に沿って1つずつご確認いただきます。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割当を自動で組むための材料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顧客・日報・事故報告・領収書・勤怠・クーポン・AIの文面・AIの調整材料(年齢帯・教育の言葉・関心度と負担の基準・ご家庭の設定)</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「入れ物だけ」は、記録する場所は決めたが画面がまだ無い状態です。いまなら項目を変えやすい段階です。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98755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3736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31519"/>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98755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813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3736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3736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1993392"/>
            <a:ext cx="3712463" cy="98755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1993392"/>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39112"/>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35915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35915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61518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249424"/>
            <a:ext cx="3712463" cy="731519"/>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249424"/>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295144"/>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61518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249424"/>
            <a:ext cx="3712463" cy="98755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249424"/>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295144"/>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61518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61518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871215"/>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127248"/>
            <a:ext cx="3712463" cy="12435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127248"/>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172968"/>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49300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49300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749039"/>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749039"/>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00507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127248"/>
            <a:ext cx="3712463" cy="12435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127248"/>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172968"/>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49300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49300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74904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74904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00507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383280"/>
            <a:ext cx="3712463" cy="731519"/>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383280"/>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429000"/>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74904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74904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261104"/>
            <a:ext cx="3712463" cy="12435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261104"/>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306824"/>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62686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62686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4882896"/>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4882896"/>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1389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1389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517136"/>
            <a:ext cx="3712463" cy="1755648"/>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51713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56285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4882896"/>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4882896"/>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1389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138928"/>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39496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394960"/>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65099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650992"/>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590702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5907024"/>
            <a:ext cx="1691639" cy="219456"/>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9896741" y="1791843"/>
            <a:ext cx="1691449"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9837019" y="3060572"/>
            <a:ext cx="1751171"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442849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442849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92557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442849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44284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92557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7" name="Rounded Rectangle 16"/>
          <p:cNvSpPr/>
          <p:nvPr/>
        </p:nvSpPr>
        <p:spPr>
          <a:xfrm>
            <a:off x="6187287" y="2169160"/>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9" name="TextBox 18"/>
          <p:cNvSpPr txBox="1"/>
          <p:nvPr/>
        </p:nvSpPr>
        <p:spPr>
          <a:xfrm>
            <a:off x="6644487" y="2260600"/>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20" name="Rounded Rectangle 19"/>
          <p:cNvSpPr/>
          <p:nvPr/>
        </p:nvSpPr>
        <p:spPr>
          <a:xfrm>
            <a:off x="457200" y="289356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2" name="TextBox 21"/>
          <p:cNvSpPr txBox="1"/>
          <p:nvPr/>
        </p:nvSpPr>
        <p:spPr>
          <a:xfrm>
            <a:off x="914400" y="298500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6" name="Rounded Rectangle 25"/>
          <p:cNvSpPr/>
          <p:nvPr/>
        </p:nvSpPr>
        <p:spPr>
          <a:xfrm>
            <a:off x="457200" y="361797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69112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8" name="TextBox 27"/>
          <p:cNvSpPr txBox="1"/>
          <p:nvPr/>
        </p:nvSpPr>
        <p:spPr>
          <a:xfrm>
            <a:off x="914400" y="370941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9" name="Rounded Rectangle 28"/>
          <p:cNvSpPr/>
          <p:nvPr/>
        </p:nvSpPr>
        <p:spPr>
          <a:xfrm>
            <a:off x="6187287" y="382473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278727" y="389788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31" name="TextBox 30"/>
          <p:cNvSpPr txBox="1"/>
          <p:nvPr/>
        </p:nvSpPr>
        <p:spPr>
          <a:xfrm>
            <a:off x="6644487" y="391617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32" name="Rounded Rectangle 31"/>
          <p:cNvSpPr/>
          <p:nvPr/>
        </p:nvSpPr>
        <p:spPr>
          <a:xfrm>
            <a:off x="457200" y="41356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48640" y="42087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34" name="TextBox 33"/>
          <p:cNvSpPr txBox="1"/>
          <p:nvPr/>
        </p:nvSpPr>
        <p:spPr>
          <a:xfrm>
            <a:off x="914400" y="42270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スタッフは業務上の担当者であり、システムにログインする人でもあります。1人1行で、認証まわりの情報も同じ行に持ちます。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500594" y="1791843"/>
            <a:ext cx="1087596"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97218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97218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270631"/>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59981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69125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59981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69125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32422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39737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41566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32422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9737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41566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504863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1217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14007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504863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1217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14007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56628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63943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65772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鍵の場所・駐車の仕方・アレルギー・前回からの引き継ぎなど、訪問する人が事前に知っておくべきことを1件1行で記録します。写真も添付できます。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235164" y="1791843"/>
            <a:ext cx="1353026"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235164" y="2851023"/>
            <a:ext cx="1353026"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97218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97218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270631"/>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59981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69125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599815"/>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691255"/>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32422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39737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41566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53097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60413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62241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504863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1217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14007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525538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285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34682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これから行く約束の記録。実際に行った記録(日報)とは別に持つ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予約は約束、日報は実績です。片方しか無い状態(予約なしの緊急訪問、キャンセルで日報が無い予約)が普通に起きるため、シートを分けています。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9969734" y="1791843"/>
            <a:ext cx="1618456"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235164" y="2641473"/>
            <a:ext cx="1353026"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9837019" y="3700653"/>
            <a:ext cx="1751171"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367879" y="4550283"/>
            <a:ext cx="1220311"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307809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07809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575178"/>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受付枠は「毎週火曜9-17時は可」に「今週の火曜だけ不可」を重ねられる。重なったら「不可」を優先する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307809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07809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575178"/>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437654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70573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7788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79717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70573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7788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79717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543013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50329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52157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543013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50329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52157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235164" y="2010918"/>
            <a:ext cx="1353026"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235164" y="3070098"/>
            <a:ext cx="1353026"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2770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日報は項目ごとに欄が分かれているため、欄ごとの集計ができる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277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3026156"/>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5534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4678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355340"/>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46780"/>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407974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529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7118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28650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5965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7794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80415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87730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89559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80415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773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9559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32180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39495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41324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9969734" y="1791843"/>
            <a:ext cx="1618456"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83362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83362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33070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請求区分の初期値は「会社経費」。選び忘れても、お客様への請求にはならない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83362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83362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33070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413207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46125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5344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55269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46125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5344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55269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97890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5206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703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51856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2588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2771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11" name="Rounded Rectangle 10"/>
          <p:cNvSpPr/>
          <p:nvPr/>
        </p:nvSpPr>
        <p:spPr>
          <a:xfrm>
            <a:off x="6187287"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631311" y="2010918"/>
            <a:ext cx="1956879"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9863562" y="2860548"/>
            <a:ext cx="1724628"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Rounded Rectangle 6"/>
          <p:cNvSpPr/>
          <p:nvPr/>
        </p:nvSpPr>
        <p:spPr>
          <a:xfrm>
            <a:off x="457200" y="1115568"/>
            <a:ext cx="5547207" cy="228066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066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77774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想定していない項目を送ると、無視せずエラーにする</a:t>
            </a:r>
          </a:p>
        </p:txBody>
      </p:sp>
      <p:sp>
        <p:nvSpPr>
          <p:cNvPr id="11" name="Rounded Rectangle 10"/>
          <p:cNvSpPr/>
          <p:nvPr/>
        </p:nvSpPr>
        <p:spPr>
          <a:xfrm>
            <a:off x="6187287" y="1115568"/>
            <a:ext cx="5547207" cy="228066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28066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77774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57911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90829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98145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99973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90829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98145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99973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442595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49910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51739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63270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70585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72414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94360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501675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503504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535711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54302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544855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9837019" y="2010918"/>
            <a:ext cx="1751171"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9837019" y="3070098"/>
            <a:ext cx="1751171"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9704304" y="3919728"/>
            <a:ext cx="1883886"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Rounded Rectangle 6"/>
          <p:cNvSpPr/>
          <p:nvPr/>
        </p:nvSpPr>
        <p:spPr>
          <a:xfrm>
            <a:off x="457200" y="1115568"/>
            <a:ext cx="11277295" cy="179171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9171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28879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「1人1回」「1人年1回」の上限は、画面を通らない経路でも守られる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廃止するときは行を消さず「無効」にする(過去の使用記録の参照先が残る)</a:t>
            </a:r>
          </a:p>
        </p:txBody>
      </p:sp>
      <p:sp>
        <p:nvSpPr>
          <p:cNvPr id="11" name="TextBox 10"/>
          <p:cNvSpPr txBox="1"/>
          <p:nvPr/>
        </p:nvSpPr>
        <p:spPr>
          <a:xfrm>
            <a:off x="457200" y="309016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41934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4925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51078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41934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4925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51078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414375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42169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23519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414375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42169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23519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8681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9413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9596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86816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9413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9596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367879" y="1791843"/>
            <a:ext cx="1220311"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102449" y="2641473"/>
            <a:ext cx="1485741"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235164" y="3700653"/>
            <a:ext cx="1353026"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235164" y="4759833"/>
            <a:ext cx="1353026"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235164" y="1188720"/>
            <a:ext cx="1353026"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Rounded Rectangle 6"/>
          <p:cNvSpPr/>
          <p:nvPr/>
        </p:nvSpPr>
        <p:spPr>
          <a:xfrm>
            <a:off x="457200" y="1115568"/>
            <a:ext cx="5547207" cy="283362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83362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33070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83362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83362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33070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413207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46125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5344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55269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46125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5344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55269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97890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505206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50703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518566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52588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52771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70331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7764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79475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
        <p:nvSpPr>
          <p:cNvPr id="11" name="Rounded Rectangle 10"/>
          <p:cNvSpPr/>
          <p:nvPr/>
        </p:nvSpPr>
        <p:spPr>
          <a:xfrm>
            <a:off x="6187287"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3" name="TextBox 12"/>
          <p:cNvSpPr txBox="1"/>
          <p:nvPr/>
        </p:nvSpPr>
        <p:spPr>
          <a:xfrm>
            <a:off x="6644487"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4" name="Rounded Rectangle 13"/>
          <p:cNvSpPr/>
          <p:nvPr/>
        </p:nvSpPr>
        <p:spPr>
          <a:xfrm>
            <a:off x="6187287" y="196240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278727" y="203555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6" name="TextBox 15"/>
          <p:cNvSpPr txBox="1"/>
          <p:nvPr/>
        </p:nvSpPr>
        <p:spPr>
          <a:xfrm>
            <a:off x="6644487" y="205384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誰をどのお宅に行かせるかを決めるための材料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9969734" y="2010918"/>
            <a:ext cx="1618456"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102449" y="3070098"/>
            <a:ext cx="1485741"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9837019" y="3919728"/>
            <a:ext cx="1751171"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9837019" y="4769358"/>
            <a:ext cx="1751171"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233166" y="1188720"/>
            <a:ext cx="2355024"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Rounded Rectangle 6"/>
          <p:cNvSpPr/>
          <p:nvPr/>
        </p:nvSpPr>
        <p:spPr>
          <a:xfrm>
            <a:off x="457200"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2770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277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3026156"/>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55340"/>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46780"/>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35534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4678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407974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1529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17118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28650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35965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37794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59740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6705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68884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80415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7730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9559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手当の単価をマスタに持ち、実際の移動を区間として1本ずつ記録します。自動車だけを前提にしていた現行システムを、他の手段にも広げる形です。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102449" y="1791843"/>
            <a:ext cx="1485741"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77787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235164" y="2851023"/>
            <a:ext cx="1353026"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12534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Rounded Rectangle 6"/>
          <p:cNvSpPr/>
          <p:nvPr/>
        </p:nvSpPr>
        <p:spPr>
          <a:xfrm>
            <a:off x="457200"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2770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277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3026156"/>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5534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4678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35534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4678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407974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529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7118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407974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529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7118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59740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6705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68884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80415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7730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9559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ログイン・通知・設定など、システムを動かすための部分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直接の業務データではありませんが、抜けが無いかの確認対象として一覧に入れます。一番下の「法人ごとの設定」は、実務の運用値が入る場所です。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235164" y="1791843"/>
            <a:ext cx="1353026"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56832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9837019" y="2641473"/>
            <a:ext cx="1751171"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291579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41795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41795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49110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9969734" y="3491103"/>
            <a:ext cx="1618456"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76542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26758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758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4073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235164" y="4340733"/>
            <a:ext cx="1353026"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61505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11721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11721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036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235164" y="5190363"/>
            <a:ext cx="1353026"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46468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235164" y="1188720"/>
            <a:ext cx="1353026"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Rounded Rectangle 6"/>
          <p:cNvSpPr/>
          <p:nvPr/>
        </p:nvSpPr>
        <p:spPr>
          <a:xfrm>
            <a:off x="457200"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2770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7277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277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247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3026156"/>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5534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4678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35534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2849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4678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87299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4614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6443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407974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5290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7118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AIに日報の下書きを作らせるときの指示文を、法人ごとに書き換えられる仕組みです。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9764026" y="1791843"/>
            <a:ext cx="1824164"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文面の種類(日報生成・日報の文体ルール・事故報告生成・領収書の読み取り・日報メモ欄の入力例・事故報告メモ欄の入力例・事故報告の記載要領・ヒヤリハットの記載要領) / 版番号 / 本文 / 変更メモ / 編集した人 / 保存日時</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9777298" y="2851023"/>
            <a:ext cx="1810893"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9837019" y="3700653"/>
            <a:ext cx="1751171"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511868" y="4550283"/>
            <a:ext cx="2076323"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32676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2676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39991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235164" y="5399913"/>
            <a:ext cx="1353026"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67423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45</a:t>
            </a:r>
          </a:p>
        </p:txBody>
      </p:sp>
      <p:sp>
        <p:nvSpPr>
          <p:cNvPr id="7" name="Rounded Rectangle 6"/>
          <p:cNvSpPr/>
          <p:nvPr/>
        </p:nvSpPr>
        <p:spPr>
          <a:xfrm>
            <a:off x="457200"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97218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p:txBody>
      </p:sp>
      <p:sp>
        <p:nvSpPr>
          <p:cNvPr id="11" name="Rounded Rectangle 10"/>
          <p:cNvSpPr/>
          <p:nvPr/>
        </p:nvSpPr>
        <p:spPr>
          <a:xfrm>
            <a:off x="6187287" y="1115568"/>
            <a:ext cx="5547207" cy="197218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97218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46926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日報に使われなかったAI生成の記録は1年で削除し、日報から参照される記録は保持する(保持期間の日数は未決)</a:t>
            </a:r>
          </a:p>
        </p:txBody>
      </p:sp>
      <p:sp>
        <p:nvSpPr>
          <p:cNvPr id="15" name="TextBox 14"/>
          <p:cNvSpPr txBox="1"/>
          <p:nvPr/>
        </p:nvSpPr>
        <p:spPr>
          <a:xfrm>
            <a:off x="457200" y="3270631"/>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59981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69125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59981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67296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69125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32422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39737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41566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32422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9737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41566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504863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1217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14007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保護者の負担になるため避けたい言い回しがあれば挙げてください</a:t>
            </a:r>
          </a:p>
        </p:txBody>
      </p:sp>
      <p:sp>
        <p:nvSpPr>
          <p:cNvPr id="31" name="Rounded Rectangle 30"/>
          <p:cNvSpPr/>
          <p:nvPr/>
        </p:nvSpPr>
        <p:spPr>
          <a:xfrm>
            <a:off x="6187287" y="504863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12178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14007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1円未満は持ちません。消費税の端数処理は決めた場所で1回だけ行うので、Excelの表示桁による誤差は起きません。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領収書・請求書・予約は、訂正しても行を消しません。取り消しの印と理由を残します。記録が痕跡なく消えることはありません。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実務への影響が大きい2つの決めごとです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48</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使った時点の割引率を、使用記録の側に控えとして持つ。マスタを直しても過去の請求額は変わらない。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graphicFrame>
        <p:nvGraphicFramePr>
          <p:cNvPr id="7" name="Table 6"/>
          <p:cNvGraphicFramePr>
            <a:graphicFrameLocks noGrp="1"/>
          </p:cNvGraphicFramePr>
          <p:nvPr/>
        </p:nvGraphicFramePr>
        <p:xfrm>
          <a:off x="457200" y="1115568"/>
          <a:ext cx="11277294" cy="4023360"/>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教育への関心度★・負担の大きさ(PSI)の判定基準の中身(貴社の言葉で)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日報の文面を組み替える材料(キーワード表・言い回し)が空のまま</a:t>
                      </a:r>
                    </a:p>
                  </a:txBody>
                  <a:tcPr marL="64008" marR="64008" marT="27432" marB="27432" anchor="ctr">
                    <a:solidFill>
                      <a:srgbClr val="F8FAFC"/>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上の12件は、いずれも業務の決めごとであって、システムの都合ではありません。決まり次第、そのとおりに作ります。現時点で決まっているものがあれば教えてください。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51</a:t>
            </a:r>
          </a:p>
        </p:txBody>
      </p:sp>
      <p:sp>
        <p:nvSpPr>
          <p:cNvPr id="6" name="Rounded Rectangle 5"/>
          <p:cNvSpPr/>
          <p:nvPr/>
        </p:nvSpPr>
        <p:spPr>
          <a:xfrm>
            <a:off x="457200" y="1115568"/>
            <a:ext cx="5632704"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日報AIの年齢帯・教育の言葉・判定基準・ご家庭の設定・生成の記録</a:t>
            </a:r>
          </a:p>
        </p:txBody>
      </p:sp>
      <p:sp>
        <p:nvSpPr>
          <p:cNvPr id="10" name="Rounded Rectangle 9"/>
          <p:cNvSpPr/>
          <p:nvPr/>
        </p:nvSpPr>
        <p:spPr>
          <a:xfrm>
            <a:off x="6272784" y="1115568"/>
            <a:ext cx="5632704"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377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p:txBody>
      </p:sp>
      <p:sp>
        <p:nvSpPr>
          <p:cNvPr id="14" name="Rounded Rectangle 13"/>
          <p:cNvSpPr/>
          <p:nvPr/>
        </p:nvSpPr>
        <p:spPr>
          <a:xfrm>
            <a:off x="457200" y="3675887"/>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675887"/>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767327"/>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いまご確認いただきたい理由</a:t>
            </a:r>
          </a:p>
        </p:txBody>
      </p:sp>
      <p:sp>
        <p:nvSpPr>
          <p:cNvPr id="17" name="TextBox 16"/>
          <p:cNvSpPr txBox="1"/>
          <p:nvPr/>
        </p:nvSpPr>
        <p:spPr>
          <a:xfrm>
            <a:off x="658368" y="4041648"/>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入っていないので、「この項目は要らない」「この項目が足りない」というご指摘を、いまなら短時間で反映できます。
左側の「画面まで動くもの」も本番運用は始めていないため、同じく変更できます。</a:t>
            </a:r>
          </a:p>
        </p:txBody>
      </p:sp>
      <p:sp>
        <p:nvSpPr>
          <p:cNvPr id="18" name="Rounded Rectangle 17"/>
          <p:cNvSpPr/>
          <p:nvPr/>
        </p:nvSpPr>
        <p:spPr>
          <a:xfrm>
            <a:off x="457200" y="5029200"/>
            <a:ext cx="11277295" cy="12618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5029200"/>
            <a:ext cx="68580" cy="12618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13892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440680"/>
            <a:ext cx="10902391" cy="75895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Excelの見出し行を見るつもりでご覧ください。「この項目が無いと困る」が1つでもあれば、お知らせください。</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「この業務はそういうものではない」といった前提のズレのご指摘は、後の大きな手戻りを防ぎます。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金額に直結するため、後から直すときの影響が大きい箇所で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234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62356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62356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74243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分量が多いので、章ごとに分けてご返信いただいても構いません。気づいた順にお送りいただく形でも問題ありません。</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55</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この資料の内容</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