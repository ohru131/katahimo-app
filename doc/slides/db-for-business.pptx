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828800"/>
            <a:ext cx="10058400" cy="365760"/>
          </a:xfrm>
          <a:prstGeom prst="rect">
            <a:avLst/>
          </a:prstGeom>
          <a:noFill/>
        </p:spPr>
        <p:txBody>
          <a:bodyPr wrap="square" lIns="0" rIns="0" tIns="0" bIns="0" anchor="t">
            <a:spAutoFit/>
          </a:bodyPr>
          <a:lstStyle/>
          <a:p>
            <a:pPr algn="l">
              <a:lnSpc>
                <a:spcPct val="125000"/>
              </a:lnSpc>
              <a:buNone/>
            </a:pPr>
            <a:r>
              <a:rPr sz="1350" b="1" i="0">
                <a:solidFill>
                  <a:srgbClr val="7DD3FC"/>
                </a:solidFill>
                <a:latin typeface="Meiryo"/>
                <a:cs typeface="Meiryo"/>
                <a:ea typeface="Meiryo"/>
              </a:rPr>
              <a:t>業務内容の確認のお願い</a:t>
            </a:r>
          </a:p>
        </p:txBody>
      </p:sp>
      <p:sp>
        <p:nvSpPr>
          <p:cNvPr id="5" name="TextBox 4"/>
          <p:cNvSpPr txBox="1"/>
          <p:nvPr/>
        </p:nvSpPr>
        <p:spPr>
          <a:xfrm>
            <a:off x="1005840" y="2240280"/>
            <a:ext cx="10241280" cy="1463040"/>
          </a:xfrm>
          <a:prstGeom prst="rect">
            <a:avLst/>
          </a:prstGeom>
          <a:noFill/>
        </p:spPr>
        <p:txBody>
          <a:bodyPr wrap="square" lIns="0" rIns="0" tIns="0" bIns="0" anchor="t">
            <a:spAutoFit/>
          </a:bodyPr>
          <a:lstStyle/>
          <a:p>
            <a:pPr algn="l">
              <a:lnSpc>
                <a:spcPct val="118000"/>
              </a:lnSpc>
              <a:buNone/>
            </a:pPr>
            <a:r>
              <a:rPr sz="3800" b="1" i="0">
                <a:solidFill>
                  <a:srgbClr val="FFFFFF"/>
                </a:solidFill>
                <a:latin typeface="Meiryo"/>
                <a:cs typeface="Meiryo"/>
                <a:ea typeface="Meiryo"/>
              </a:rPr>
              <a:t>新しい業務システムで
「何を記録するか」の確認資料</a:t>
            </a:r>
          </a:p>
        </p:txBody>
      </p:sp>
      <p:sp>
        <p:nvSpPr>
          <p:cNvPr id="6" name="TextBox 5"/>
          <p:cNvSpPr txBox="1"/>
          <p:nvPr/>
        </p:nvSpPr>
        <p:spPr>
          <a:xfrm>
            <a:off x="1005840" y="3977639"/>
            <a:ext cx="10058400" cy="457200"/>
          </a:xfrm>
          <a:prstGeom prst="rect">
            <a:avLst/>
          </a:prstGeom>
          <a:noFill/>
        </p:spPr>
        <p:txBody>
          <a:bodyPr wrap="square" lIns="0" rIns="0" tIns="0" bIns="0" anchor="t">
            <a:spAutoFit/>
          </a:bodyPr>
          <a:lstStyle/>
          <a:p>
            <a:pPr algn="l">
              <a:lnSpc>
                <a:spcPct val="140000"/>
              </a:lnSpc>
              <a:buNone/>
            </a:pPr>
            <a:r>
              <a:rPr sz="1600" b="0" i="0">
                <a:solidFill>
                  <a:srgbClr val="CBD5E1"/>
                </a:solidFill>
                <a:latin typeface="Meiryo"/>
                <a:cs typeface="Meiryo"/>
                <a:ea typeface="Meiryo"/>
              </a:rPr>
              <a:t>訪問保育(ベビーシッター)業務システム katahimo-app — データベース設計</a:t>
            </a:r>
          </a:p>
        </p:txBody>
      </p:sp>
      <p:cxnSp>
        <p:nvCxnSpPr>
          <p:cNvPr id="7" name="Connector 6"/>
          <p:cNvCxnSpPr/>
          <p:nvPr/>
        </p:nvCxnSpPr>
        <p:spPr>
          <a:xfrm>
            <a:off x="1005840" y="4681728"/>
            <a:ext cx="3749040" cy="0"/>
          </a:xfrm>
          <a:prstGeom prst="line">
            <a:avLst/>
          </a:prstGeom>
          <a:ln w="15240">
            <a:solidFill>
              <a:srgbClr val="47556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864608"/>
            <a:ext cx="10058400" cy="914400"/>
          </a:xfrm>
          <a:prstGeom prst="rect">
            <a:avLst/>
          </a:prstGeom>
          <a:noFill/>
        </p:spPr>
        <p:txBody>
          <a:bodyPr wrap="square" lIns="0" rIns="0" tIns="0" bIns="0" anchor="t">
            <a:spAutoFit/>
          </a:bodyPr>
          <a:lstStyle/>
          <a:p>
            <a:pPr algn="l">
              <a:lnSpc>
                <a:spcPct val="155000"/>
              </a:lnSpc>
              <a:buNone/>
            </a:pPr>
            <a:r>
              <a:rPr sz="1250" b="0" i="0">
                <a:solidFill>
                  <a:srgbClr val="94A3B8"/>
                </a:solidFill>
                <a:latin typeface="Meiryo"/>
                <a:cs typeface="Meiryo"/>
                <a:ea typeface="Meiryo"/>
              </a:rPr>
              <a:t>データベースの知識は不要です。Excelのシートと見出し行に置き換えてご説明します。
お願いしたいのは「この項目で業務が回るか」「足りないものは無いか」のご確認です。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この資料でお願いしたいこと</a:t>
            </a:r>
            <a:r>
              <a:rPr sz="1250" b="0" i="0">
                <a:solidFill>
                  <a:srgbClr val="64748B"/>
                </a:solidFill>
                <a:latin typeface="Meiryo"/>
                <a:cs typeface="Meiryo"/>
                <a:ea typeface="Meiryo"/>
              </a:rPr>
              <a:t>   はじめに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a:t>
            </a:r>
          </a:p>
        </p:txBody>
      </p:sp>
      <p:sp>
        <p:nvSpPr>
          <p:cNvPr id="6" name="Rounded Rectangle 5"/>
          <p:cNvSpPr/>
          <p:nvPr/>
        </p:nvSpPr>
        <p:spPr>
          <a:xfrm>
            <a:off x="457200" y="1115568"/>
            <a:ext cx="3712463"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15568"/>
            <a:ext cx="68580" cy="2286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25295"/>
            <a:ext cx="3383279"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お願いしたいこと</a:t>
            </a:r>
          </a:p>
        </p:txBody>
      </p:sp>
      <p:sp>
        <p:nvSpPr>
          <p:cNvPr id="9" name="TextBox 8"/>
          <p:cNvSpPr txBox="1"/>
          <p:nvPr/>
        </p:nvSpPr>
        <p:spPr>
          <a:xfrm>
            <a:off x="667512" y="1527048"/>
            <a:ext cx="3337560"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いま作っている業務システムが、</a:t>
            </a:r>
            <a:r>
              <a:rPr sz="1150" b="1">
                <a:solidFill>
                  <a:srgbClr val="14223A"/>
                </a:solidFill>
                <a:latin typeface="Meiryo"/>
                <a:cs typeface="Meiryo"/>
                <a:ea typeface="Meiryo"/>
              </a:rPr>
              <a:t>業務に必要な情報をひととおり記録できているか</a:t>
            </a:r>
            <a:r>
              <a:rPr sz="1150" b="0">
                <a:solidFill>
                  <a:srgbClr val="14223A"/>
                </a:solidFill>
                <a:latin typeface="Meiryo"/>
                <a:cs typeface="Meiryo"/>
                <a:ea typeface="Meiryo"/>
              </a:rPr>
              <a:t>をご確認ください。</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「この項目が無いと困る」「この区分が足りない」を挙げていただくのが目的です。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細かい言い回しや画面の見た目は、この資料の対象ではありません。</a:t>
            </a:r>
          </a:p>
        </p:txBody>
      </p:sp>
      <p:sp>
        <p:nvSpPr>
          <p:cNvPr id="10" name="Rounded Rectangle 9"/>
          <p:cNvSpPr/>
          <p:nvPr/>
        </p:nvSpPr>
        <p:spPr>
          <a:xfrm>
            <a:off x="4352544" y="1115568"/>
            <a:ext cx="3712463"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52544" y="1115568"/>
            <a:ext cx="68580" cy="22860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62855" y="1225295"/>
            <a:ext cx="3383279"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いまどの段階か</a:t>
            </a:r>
          </a:p>
        </p:txBody>
      </p:sp>
      <p:sp>
        <p:nvSpPr>
          <p:cNvPr id="13" name="TextBox 12"/>
          <p:cNvSpPr txBox="1"/>
          <p:nvPr/>
        </p:nvSpPr>
        <p:spPr>
          <a:xfrm>
            <a:off x="4562855" y="1527048"/>
            <a:ext cx="3337560"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まだ本稼働していません。</a:t>
            </a:r>
            <a:r>
              <a:rPr sz="1150" b="0">
                <a:solidFill>
                  <a:srgbClr val="14223A"/>
                </a:solidFill>
                <a:latin typeface="Meiryo"/>
                <a:cs typeface="Meiryo"/>
                <a:ea typeface="Meiryo"/>
              </a:rPr>
              <a:t>大きく作り直すこともできる段階です。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いま見つかる抜けは、直すのに費用も時間もほとんどかかりません。</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運用開始後に見つかると、</a:t>
            </a:r>
            <a:r>
              <a:rPr sz="1150" b="1">
                <a:solidFill>
                  <a:srgbClr val="14223A"/>
                </a:solidFill>
                <a:latin typeface="Meiryo"/>
                <a:cs typeface="Meiryo"/>
                <a:ea typeface="Meiryo"/>
              </a:rPr>
              <a:t>入力済みのデータを全件直す作業</a:t>
            </a:r>
            <a:r>
              <a:rPr sz="1150" b="0">
                <a:solidFill>
                  <a:srgbClr val="14223A"/>
                </a:solidFill>
                <a:latin typeface="Meiryo"/>
                <a:cs typeface="Meiryo"/>
                <a:ea typeface="Meiryo"/>
              </a:rPr>
              <a:t>が発生します。</a:t>
            </a:r>
          </a:p>
        </p:txBody>
      </p:sp>
      <p:sp>
        <p:nvSpPr>
          <p:cNvPr id="14" name="Rounded Rectangle 13"/>
          <p:cNvSpPr/>
          <p:nvPr/>
        </p:nvSpPr>
        <p:spPr>
          <a:xfrm>
            <a:off x="8247888" y="1115568"/>
            <a:ext cx="3712463"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247888" y="1115568"/>
            <a:ext cx="68580" cy="22860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58200" y="1225295"/>
            <a:ext cx="3383279"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どなたに見ていただきたいか</a:t>
            </a:r>
          </a:p>
        </p:txBody>
      </p:sp>
      <p:sp>
        <p:nvSpPr>
          <p:cNvPr id="17" name="TextBox 16"/>
          <p:cNvSpPr txBox="1"/>
          <p:nvPr/>
        </p:nvSpPr>
        <p:spPr>
          <a:xfrm>
            <a:off x="8458200" y="1527048"/>
            <a:ext cx="3337560"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実際に日々の入力・確認をされている実務担当の方</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締め・請求・給与など、月次の処理をされている方</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例外対応(キャンセル、事故、訂正)の判断をされている責任者の方</a:t>
            </a:r>
          </a:p>
        </p:txBody>
      </p:sp>
      <p:sp>
        <p:nvSpPr>
          <p:cNvPr id="18" name="Rounded Rectangle 17"/>
          <p:cNvSpPr/>
          <p:nvPr/>
        </p:nvSpPr>
        <p:spPr>
          <a:xfrm>
            <a:off x="457200" y="3657600"/>
            <a:ext cx="11277295" cy="908558"/>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657600"/>
            <a:ext cx="68580" cy="90855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749039"/>
            <a:ext cx="10874959"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データベースの知識は要りません</a:t>
            </a:r>
          </a:p>
        </p:txBody>
      </p:sp>
      <p:sp>
        <p:nvSpPr>
          <p:cNvPr id="21" name="TextBox 20"/>
          <p:cNvSpPr txBox="1"/>
          <p:nvPr/>
        </p:nvSpPr>
        <p:spPr>
          <a:xfrm>
            <a:off x="658368" y="4023360"/>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この資料では、データベースを「Excelのブック」、テーブルを「シート」、列を「見出し行」に置き換えて説明します。次のページから、その対応をご説明します。専門用語は括弧で添えるだけにして、本文では使いません。</a:t>
            </a:r>
          </a:p>
        </p:txBody>
      </p:sp>
      <p:sp>
        <p:nvSpPr>
          <p:cNvPr id="22" name="Rounded Rectangle 21"/>
          <p:cNvSpPr/>
          <p:nvPr/>
        </p:nvSpPr>
        <p:spPr>
          <a:xfrm>
            <a:off x="457200" y="4681728"/>
            <a:ext cx="5632704" cy="1554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57200" y="4681728"/>
            <a:ext cx="68580" cy="15544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7512" y="4791456"/>
            <a:ext cx="5303520"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ご確認いただきたい3つの視点</a:t>
            </a:r>
          </a:p>
        </p:txBody>
      </p:sp>
      <p:sp>
        <p:nvSpPr>
          <p:cNvPr id="25" name="TextBox 24"/>
          <p:cNvSpPr txBox="1"/>
          <p:nvPr/>
        </p:nvSpPr>
        <p:spPr>
          <a:xfrm>
            <a:off x="667512" y="5093208"/>
            <a:ext cx="5257800" cy="10515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① 項目の抜け</a:t>
            </a:r>
            <a:r>
              <a:rPr sz="1150" b="0">
                <a:solidFill>
                  <a:srgbClr val="14223A"/>
                </a:solidFill>
                <a:latin typeface="Meiryo"/>
                <a:cs typeface="Meiryo"/>
                <a:ea typeface="Meiryo"/>
              </a:rPr>
              <a:t> — 記録したい情報で、一覧に無いもの</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② 選択肢の抜け</a:t>
            </a:r>
            <a:r>
              <a:rPr sz="1150" b="0">
                <a:solidFill>
                  <a:srgbClr val="14223A"/>
                </a:solidFill>
                <a:latin typeface="Meiryo"/>
                <a:cs typeface="Meiryo"/>
                <a:ea typeface="Meiryo"/>
              </a:rPr>
              <a:t> — 「状態」「区分」に足りない選択肢</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③ ルールの食い違い</a:t>
            </a:r>
            <a:r>
              <a:rPr sz="1150" b="0">
                <a:solidFill>
                  <a:srgbClr val="14223A"/>
                </a:solidFill>
                <a:latin typeface="Meiryo"/>
                <a:cs typeface="Meiryo"/>
                <a:ea typeface="Meiryo"/>
              </a:rPr>
              <a:t> — 実際の運用と、システムの決めごとのズレ</a:t>
            </a:r>
          </a:p>
        </p:txBody>
      </p:sp>
      <p:sp>
        <p:nvSpPr>
          <p:cNvPr id="26" name="Rounded Rectangle 25"/>
          <p:cNvSpPr/>
          <p:nvPr/>
        </p:nvSpPr>
        <p:spPr>
          <a:xfrm>
            <a:off x="6272784" y="4681728"/>
            <a:ext cx="5632704" cy="1554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272784" y="4681728"/>
            <a:ext cx="68580" cy="155448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83096" y="4791456"/>
            <a:ext cx="5303520"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ご確認いただかなくてよいこと</a:t>
            </a:r>
          </a:p>
        </p:txBody>
      </p:sp>
      <p:sp>
        <p:nvSpPr>
          <p:cNvPr id="29" name="TextBox 28"/>
          <p:cNvSpPr txBox="1"/>
          <p:nvPr/>
        </p:nvSpPr>
        <p:spPr>
          <a:xfrm>
            <a:off x="6483096" y="5093208"/>
            <a:ext cx="5257800" cy="10515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英語の名前(customers など)。実務では画面に出ません</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技術的な正しさ。別途、データベースの専門家に見ていただきます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画面のデザイン・操作の手順。この資料の対象外です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この資料の読み方</a:t>
            </a:r>
            <a:r>
              <a:rPr sz="1250" b="0" i="0">
                <a:solidFill>
                  <a:srgbClr val="64748B"/>
                </a:solidFill>
                <a:latin typeface="Meiryo"/>
                <a:cs typeface="Meiryo"/>
                <a:ea typeface="Meiryo"/>
              </a:rPr>
              <a:t>   はじめに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各章は「記録している項目」→「確認していただきたいこと」の2ページ構成です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a:t>
            </a:r>
          </a:p>
        </p:txBody>
      </p:sp>
      <p:sp>
        <p:nvSpPr>
          <p:cNvPr id="7" name="Rounded Rectangle 6"/>
          <p:cNvSpPr/>
          <p:nvPr/>
        </p:nvSpPr>
        <p:spPr>
          <a:xfrm>
            <a:off x="457200" y="1115568"/>
            <a:ext cx="11277295" cy="804672"/>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80467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1234440"/>
            <a:ext cx="2651760" cy="274320"/>
          </a:xfrm>
          <a:prstGeom prst="rect">
            <a:avLst/>
          </a:prstGeom>
          <a:noFill/>
        </p:spPr>
        <p:txBody>
          <a:bodyPr wrap="square" lIns="0" rIns="0" tIns="0" bIns="0" anchor="t">
            <a:spAutoFit/>
          </a:bodyPr>
          <a:lstStyle/>
          <a:p>
            <a:pPr algn="l">
              <a:lnSpc>
                <a:spcPct val="125000"/>
              </a:lnSpc>
              <a:buNone/>
            </a:pPr>
            <a:r>
              <a:rPr sz="1300" b="1" i="0">
                <a:solidFill>
                  <a:srgbClr val="0369A1"/>
                </a:solidFill>
                <a:latin typeface="Meiryo"/>
                <a:cs typeface="Meiryo"/>
                <a:ea typeface="Meiryo"/>
              </a:rPr>
              <a:t>記録している項目</a:t>
            </a:r>
          </a:p>
        </p:txBody>
      </p:sp>
      <p:sp>
        <p:nvSpPr>
          <p:cNvPr id="10" name="TextBox 9"/>
          <p:cNvSpPr txBox="1"/>
          <p:nvPr/>
        </p:nvSpPr>
        <p:spPr>
          <a:xfrm>
            <a:off x="3474720" y="1225295"/>
            <a:ext cx="7985455" cy="585216"/>
          </a:xfrm>
          <a:prstGeom prst="rect">
            <a:avLst/>
          </a:prstGeom>
          <a:noFill/>
        </p:spPr>
        <p:txBody>
          <a:bodyPr wrap="square" lIns="0" rIns="0" tIns="0" bIns="0" anchor="t">
            <a:spAutoFit/>
          </a:bodyPr>
          <a:lstStyle/>
          <a:p>
            <a:pPr algn="l">
              <a:lnSpc>
                <a:spcPct val="140000"/>
              </a:lnSpc>
              <a:buNone/>
            </a:pPr>
            <a:r>
              <a:rPr sz="1150" b="0" i="0">
                <a:solidFill>
                  <a:srgbClr val="14223A"/>
                </a:solidFill>
                <a:latin typeface="Meiryo"/>
                <a:cs typeface="Meiryo"/>
                <a:ea typeface="Meiryo"/>
              </a:rPr>
              <a:t>そのシートに何を記録するか。Excelの見出し行にあたるものの一覧です。ここに無いものは、いまのままでは記録できません。</a:t>
            </a:r>
          </a:p>
        </p:txBody>
      </p:sp>
      <p:sp>
        <p:nvSpPr>
          <p:cNvPr id="11" name="Rounded Rectangle 10"/>
          <p:cNvSpPr/>
          <p:nvPr/>
        </p:nvSpPr>
        <p:spPr>
          <a:xfrm>
            <a:off x="457200" y="2066543"/>
            <a:ext cx="11277295" cy="804672"/>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57200" y="2066543"/>
            <a:ext cx="68580" cy="80467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76656" y="2185415"/>
            <a:ext cx="2651760" cy="274320"/>
          </a:xfrm>
          <a:prstGeom prst="rect">
            <a:avLst/>
          </a:prstGeom>
          <a:noFill/>
        </p:spPr>
        <p:txBody>
          <a:bodyPr wrap="square" lIns="0" rIns="0" tIns="0" bIns="0" anchor="t">
            <a:spAutoFit/>
          </a:bodyPr>
          <a:lstStyle/>
          <a:p>
            <a:pPr algn="l">
              <a:lnSpc>
                <a:spcPct val="125000"/>
              </a:lnSpc>
              <a:buNone/>
            </a:pPr>
            <a:r>
              <a:rPr sz="1300" b="1" i="0">
                <a:solidFill>
                  <a:srgbClr val="047857"/>
                </a:solidFill>
                <a:latin typeface="Meiryo"/>
                <a:cs typeface="Meiryo"/>
                <a:ea typeface="Meiryo"/>
              </a:rPr>
              <a:t>自動で守られること</a:t>
            </a:r>
          </a:p>
        </p:txBody>
      </p:sp>
      <p:sp>
        <p:nvSpPr>
          <p:cNvPr id="14" name="TextBox 13"/>
          <p:cNvSpPr txBox="1"/>
          <p:nvPr/>
        </p:nvSpPr>
        <p:spPr>
          <a:xfrm>
            <a:off x="3474720" y="2176272"/>
            <a:ext cx="7985455" cy="585216"/>
          </a:xfrm>
          <a:prstGeom prst="rect">
            <a:avLst/>
          </a:prstGeom>
          <a:noFill/>
        </p:spPr>
        <p:txBody>
          <a:bodyPr wrap="square" lIns="0" rIns="0" tIns="0" bIns="0" anchor="t">
            <a:spAutoFit/>
          </a:bodyPr>
          <a:lstStyle/>
          <a:p>
            <a:pPr algn="l">
              <a:lnSpc>
                <a:spcPct val="140000"/>
              </a:lnSpc>
              <a:buNone/>
            </a:pPr>
            <a:r>
              <a:rPr sz="1150" b="0" i="0">
                <a:solidFill>
                  <a:srgbClr val="14223A"/>
                </a:solidFill>
                <a:latin typeface="Meiryo"/>
                <a:cs typeface="Meiryo"/>
                <a:ea typeface="Meiryo"/>
              </a:rPr>
              <a:t>システムが勝手に守ってくれる決めごと。入力ミスがあっても、この内容に反する登録はそもそもできないようになっています。</a:t>
            </a:r>
          </a:p>
        </p:txBody>
      </p:sp>
      <p:sp>
        <p:nvSpPr>
          <p:cNvPr id="15" name="Rounded Rectangle 14"/>
          <p:cNvSpPr/>
          <p:nvPr/>
        </p:nvSpPr>
        <p:spPr>
          <a:xfrm>
            <a:off x="457200" y="3017520"/>
            <a:ext cx="11277295" cy="804672"/>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3017520"/>
            <a:ext cx="68580" cy="8046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76656" y="3136391"/>
            <a:ext cx="2651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まだ決まっていないこと</a:t>
            </a:r>
          </a:p>
        </p:txBody>
      </p:sp>
      <p:sp>
        <p:nvSpPr>
          <p:cNvPr id="18" name="TextBox 17"/>
          <p:cNvSpPr txBox="1"/>
          <p:nvPr/>
        </p:nvSpPr>
        <p:spPr>
          <a:xfrm>
            <a:off x="3474720" y="3127248"/>
            <a:ext cx="7985455" cy="585216"/>
          </a:xfrm>
          <a:prstGeom prst="rect">
            <a:avLst/>
          </a:prstGeom>
          <a:noFill/>
        </p:spPr>
        <p:txBody>
          <a:bodyPr wrap="square" lIns="0" rIns="0" tIns="0" bIns="0" anchor="t">
            <a:spAutoFit/>
          </a:bodyPr>
          <a:lstStyle/>
          <a:p>
            <a:pPr algn="l">
              <a:lnSpc>
                <a:spcPct val="140000"/>
              </a:lnSpc>
              <a:buNone/>
            </a:pPr>
            <a:r>
              <a:rPr sz="1150" b="0" i="0">
                <a:solidFill>
                  <a:srgbClr val="14223A"/>
                </a:solidFill>
                <a:latin typeface="Meiryo"/>
                <a:cs typeface="Meiryo"/>
                <a:ea typeface="Meiryo"/>
              </a:rPr>
              <a:t>設計側で決めきれていない点、または作りかけの点。ご意見をいただきたい箇所です。</a:t>
            </a:r>
          </a:p>
        </p:txBody>
      </p:sp>
      <p:sp>
        <p:nvSpPr>
          <p:cNvPr id="19" name="Rounded Rectangle 18"/>
          <p:cNvSpPr/>
          <p:nvPr/>
        </p:nvSpPr>
        <p:spPr>
          <a:xfrm>
            <a:off x="457200" y="3968496"/>
            <a:ext cx="11277295" cy="804672"/>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3968496"/>
            <a:ext cx="68580" cy="80467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6656" y="4087368"/>
            <a:ext cx="2651760"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22" name="TextBox 21"/>
          <p:cNvSpPr txBox="1"/>
          <p:nvPr/>
        </p:nvSpPr>
        <p:spPr>
          <a:xfrm>
            <a:off x="3474720" y="4078224"/>
            <a:ext cx="7985455" cy="585216"/>
          </a:xfrm>
          <a:prstGeom prst="rect">
            <a:avLst/>
          </a:prstGeom>
          <a:noFill/>
        </p:spPr>
        <p:txBody>
          <a:bodyPr wrap="square" lIns="0" rIns="0" tIns="0" bIns="0" anchor="t">
            <a:spAutoFit/>
          </a:bodyPr>
          <a:lstStyle/>
          <a:p>
            <a:pPr algn="l">
              <a:lnSpc>
                <a:spcPct val="140000"/>
              </a:lnSpc>
              <a:buNone/>
            </a:pPr>
            <a:r>
              <a:rPr sz="1150" b="0" i="0">
                <a:solidFill>
                  <a:srgbClr val="14223A"/>
                </a:solidFill>
                <a:latin typeface="Meiryo"/>
                <a:cs typeface="Meiryo"/>
                <a:ea typeface="Meiryo"/>
              </a:rPr>
              <a:t>質問の形で並べています。お答えいただくか、「これで問題ない」と一言いただければ十分です。</a:t>
            </a:r>
          </a:p>
        </p:txBody>
      </p:sp>
      <p:sp>
        <p:nvSpPr>
          <p:cNvPr id="23" name="Rounded Rectangle 22"/>
          <p:cNvSpPr/>
          <p:nvPr/>
        </p:nvSpPr>
        <p:spPr>
          <a:xfrm>
            <a:off x="457200" y="4965192"/>
            <a:ext cx="11277295" cy="908558"/>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965192"/>
            <a:ext cx="68580" cy="90855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5056631"/>
            <a:ext cx="10874959" cy="237744"/>
          </a:xfrm>
          <a:prstGeom prst="rect">
            <a:avLst/>
          </a:prstGeom>
          <a:noFill/>
        </p:spPr>
        <p:txBody>
          <a:bodyPr wrap="square" lIns="0" rIns="0" tIns="0" bIns="0" anchor="t">
            <a:spAutoFit/>
          </a:bodyPr>
          <a:lstStyle/>
          <a:p>
            <a:pPr algn="l">
              <a:lnSpc>
                <a:spcPct val="125000"/>
              </a:lnSpc>
              <a:buNone/>
            </a:pPr>
            <a:r>
              <a:rPr sz="1050" b="1" i="0">
                <a:solidFill>
                  <a:srgbClr val="64748B"/>
                </a:solidFill>
                <a:latin typeface="Meiryo"/>
                <a:cs typeface="Meiryo"/>
                <a:ea typeface="Meiryo"/>
              </a:rPr>
              <a:t>ご回答の方法</a:t>
            </a:r>
          </a:p>
        </p:txBody>
      </p:sp>
      <p:sp>
        <p:nvSpPr>
          <p:cNvPr id="26" name="TextBox 25"/>
          <p:cNvSpPr txBox="1"/>
          <p:nvPr/>
        </p:nvSpPr>
        <p:spPr>
          <a:xfrm>
            <a:off x="658368" y="5330952"/>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この資料のPowerPointファイルに直接コメントを入れていただくか、巻末の「確認シート」の形式でメール・チャットにご返信ください。「◯ページの△△について」と分かれば、形式は問いません。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第1章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まず、Excelに置き換えて理解する</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データベースの用語を、ふだん使っている言葉に言い換えます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データベースは「Excelブック」だと思ってください</a:t>
            </a:r>
            <a:r>
              <a:rPr sz="1250" b="0" i="0">
                <a:solidFill>
                  <a:srgbClr val="64748B"/>
                </a:solidFill>
                <a:latin typeface="Meiryo"/>
                <a:cs typeface="Meiryo"/>
                <a:ea typeface="Meiryo"/>
              </a:rPr>
              <a:t>   第1章 Excelに置き換える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a:t>
            </a:r>
          </a:p>
        </p:txBody>
      </p:sp>
      <p:graphicFrame>
        <p:nvGraphicFramePr>
          <p:cNvPr id="6" name="Table 5"/>
          <p:cNvGraphicFramePr>
            <a:graphicFrameLocks noGrp="1"/>
          </p:cNvGraphicFramePr>
          <p:nvPr/>
        </p:nvGraphicFramePr>
        <p:xfrm>
          <a:off x="457200" y="1115568"/>
          <a:ext cx="11277293" cy="4261104"/>
        </p:xfrm>
        <a:graphic>
          <a:graphicData uri="http://schemas.openxmlformats.org/drawingml/2006/table">
            <a:tbl>
              <a:tblPr firstRow="1" bandRow="1">
                <a:tableStyleId>{5C22544A-7EE6-4342-B048-85BDC9FD1C3A}</a:tableStyleId>
              </a:tblPr>
              <a:tblGrid>
                <a:gridCol w="2364594"/>
                <a:gridCol w="2182702"/>
                <a:gridCol w="1637026"/>
                <a:gridCol w="5092971"/>
              </a:tblGrid>
              <a:tr h="329184">
                <a:tc>
                  <a:txBody>
                    <a:bodyPr wrap="square"/>
                    <a:lstStyle/>
                    <a:p>
                      <a:pPr algn="l">
                        <a:lnSpc>
                          <a:spcPct val="115000"/>
                        </a:lnSpc>
                        <a:buNone/>
                      </a:pPr>
                      <a:r>
                        <a:rPr sz="1100" b="1">
                          <a:solidFill>
                            <a:srgbClr val="14223A"/>
                          </a:solidFill>
                          <a:latin typeface="Meiryo"/>
                          <a:cs typeface="Meiryo"/>
                          <a:ea typeface="Meiryo"/>
                        </a:rPr>
                        <a:t>Excelでいうと</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この資料での呼び方</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(専門用語)</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補足</a:t>
                      </a:r>
                    </a:p>
                  </a:txBody>
                  <a:tcPr marL="64008" marR="64008" marT="27432" marB="27432" anchor="ctr">
                    <a:solidFill>
                      <a:srgbClr val="E2E8F0"/>
                    </a:solidFill>
                  </a:tcPr>
                </a:tc>
              </a:tr>
              <a:tr h="393192">
                <a:tc>
                  <a:txBody>
                    <a:bodyPr wrap="square"/>
                    <a:lstStyle/>
                    <a:p>
                      <a:pPr algn="l">
                        <a:lnSpc>
                          <a:spcPct val="115000"/>
                        </a:lnSpc>
                        <a:buNone/>
                      </a:pPr>
                      <a:r>
                        <a:rPr sz="1100" b="1">
                          <a:solidFill>
                            <a:srgbClr val="14223A"/>
                          </a:solidFill>
                          <a:latin typeface="Meiryo"/>
                          <a:cs typeface="Meiryo"/>
                          <a:ea typeface="Meiryo"/>
                        </a:rPr>
                        <a:t>1つのブック(ファイル)</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システムのデータ全体</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データベース</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業務で使うデータが1か所にまとまっている</a:t>
                      </a:r>
                    </a:p>
                  </a:txBody>
                  <a:tcPr marL="64008" marR="64008" marT="27432" marB="27432" anchor="ctr">
                    <a:solidFill>
                      <a:srgbClr val="FFFFFF"/>
                    </a:solidFill>
                  </a:tcPr>
                </a:tc>
              </a:tr>
              <a:tr h="393192">
                <a:tc>
                  <a:txBody>
                    <a:bodyPr wrap="square"/>
                    <a:lstStyle/>
                    <a:p>
                      <a:pPr algn="l">
                        <a:lnSpc>
                          <a:spcPct val="115000"/>
                        </a:lnSpc>
                        <a:buNone/>
                      </a:pPr>
                      <a:r>
                        <a:rPr sz="1100" b="1">
                          <a:solidFill>
                            <a:srgbClr val="14223A"/>
                          </a:solidFill>
                          <a:latin typeface="Meiryo"/>
                          <a:cs typeface="Meiryo"/>
                          <a:ea typeface="Meiryo"/>
                        </a:rPr>
                        <a:t>1枚のシート</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シート</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テーブル</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今回は44枚。「顧客」「予約」「日報」など内容ごとに分かれる</a:t>
                      </a:r>
                    </a:p>
                  </a:txBody>
                  <a:tcPr marL="64008" marR="64008" marT="27432" marB="27432" anchor="ctr">
                    <a:solidFill>
                      <a:srgbClr val="F8FAFC"/>
                    </a:solidFill>
                  </a:tcPr>
                </a:tc>
              </a:tr>
              <a:tr h="393192">
                <a:tc>
                  <a:txBody>
                    <a:bodyPr wrap="square"/>
                    <a:lstStyle/>
                    <a:p>
                      <a:pPr algn="l">
                        <a:lnSpc>
                          <a:spcPct val="115000"/>
                        </a:lnSpc>
                        <a:buNone/>
                      </a:pPr>
                      <a:r>
                        <a:rPr sz="1100" b="1">
                          <a:solidFill>
                            <a:srgbClr val="14223A"/>
                          </a:solidFill>
                          <a:latin typeface="Meiryo"/>
                          <a:cs typeface="Meiryo"/>
                          <a:ea typeface="Meiryo"/>
                        </a:rPr>
                        <a:t>1行目の見出し</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項目</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列(カラム)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「氏名」「電話」など。あとから足せるが、足す作業が要る</a:t>
                      </a:r>
                    </a:p>
                  </a:txBody>
                  <a:tcPr marL="64008" marR="64008" marT="27432" marB="27432" anchor="ctr">
                    <a:solidFill>
                      <a:srgbClr val="FFFFFF"/>
                    </a:solidFill>
                  </a:tcPr>
                </a:tc>
              </a:tr>
              <a:tr h="393192">
                <a:tc>
                  <a:txBody>
                    <a:bodyPr wrap="square"/>
                    <a:lstStyle/>
                    <a:p>
                      <a:pPr algn="l">
                        <a:lnSpc>
                          <a:spcPct val="115000"/>
                        </a:lnSpc>
                        <a:buNone/>
                      </a:pPr>
                      <a:r>
                        <a:rPr sz="1100" b="1">
                          <a:solidFill>
                            <a:srgbClr val="14223A"/>
                          </a:solidFill>
                          <a:latin typeface="Meiryo"/>
                          <a:cs typeface="Meiryo"/>
                          <a:ea typeface="Meiryo"/>
                        </a:rPr>
                        <a:t>2行目以降の1行</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1件</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行(レコード)</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顧客1世帯、予約1件、日報1回 ＝ それぞれ1行</a:t>
                      </a:r>
                    </a:p>
                  </a:txBody>
                  <a:tcPr marL="64008" marR="64008" marT="27432" marB="27432" anchor="ctr">
                    <a:solidFill>
                      <a:srgbClr val="F8FAFC"/>
                    </a:solidFill>
                  </a:tcPr>
                </a:tc>
              </a:tr>
              <a:tr h="393192">
                <a:tc>
                  <a:txBody>
                    <a:bodyPr wrap="square"/>
                    <a:lstStyle/>
                    <a:p>
                      <a:pPr algn="l">
                        <a:lnSpc>
                          <a:spcPct val="115000"/>
                        </a:lnSpc>
                        <a:buNone/>
                      </a:pPr>
                      <a:r>
                        <a:rPr sz="1100" b="1">
                          <a:solidFill>
                            <a:srgbClr val="14223A"/>
                          </a:solidFill>
                          <a:latin typeface="Meiryo"/>
                          <a:cs typeface="Meiryo"/>
                          <a:ea typeface="Meiryo"/>
                        </a:rPr>
                        <a:t>A列の管理番号</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ID(見えない管理番号)</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主キー</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システムが自動で振る。重複しない</a:t>
                      </a:r>
                    </a:p>
                  </a:txBody>
                  <a:tcPr marL="64008" marR="64008" marT="27432" marB="27432" anchor="ctr">
                    <a:solidFill>
                      <a:srgbClr val="FFFFFF"/>
                    </a:solidFill>
                  </a:tcPr>
                </a:tc>
              </a:tr>
              <a:tr h="393192">
                <a:tc>
                  <a:txBody>
                    <a:bodyPr wrap="square"/>
                    <a:lstStyle/>
                    <a:p>
                      <a:pPr algn="l">
                        <a:lnSpc>
                          <a:spcPct val="115000"/>
                        </a:lnSpc>
                        <a:buNone/>
                      </a:pPr>
                      <a:r>
                        <a:rPr sz="1100" b="1">
                          <a:solidFill>
                            <a:srgbClr val="14223A"/>
                          </a:solidFill>
                          <a:latin typeface="Meiryo"/>
                          <a:cs typeface="Meiryo"/>
                          <a:ea typeface="Meiryo"/>
                        </a:rPr>
                        <a:t>VLOOKUPの参照先</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つながり</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外部キー</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「この予約はどの顧客か」を管理番号で指し示す</a:t>
                      </a:r>
                    </a:p>
                  </a:txBody>
                  <a:tcPr marL="64008" marR="64008" marT="27432" marB="27432" anchor="ctr">
                    <a:solidFill>
                      <a:srgbClr val="F8FAFC"/>
                    </a:solidFill>
                  </a:tcPr>
                </a:tc>
              </a:tr>
              <a:tr h="393192">
                <a:tc>
                  <a:txBody>
                    <a:bodyPr wrap="square"/>
                    <a:lstStyle/>
                    <a:p>
                      <a:pPr algn="l">
                        <a:lnSpc>
                          <a:spcPct val="115000"/>
                        </a:lnSpc>
                        <a:buNone/>
                      </a:pPr>
                      <a:r>
                        <a:rPr sz="1100" b="1">
                          <a:solidFill>
                            <a:srgbClr val="14223A"/>
                          </a:solidFill>
                          <a:latin typeface="Meiryo"/>
                          <a:cs typeface="Meiryo"/>
                          <a:ea typeface="Meiryo"/>
                        </a:rPr>
                        <a:t>入力規則(リスト)</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選べる値の一覧</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CHECK制約</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決めた選択肢以外は登録できない</a:t>
                      </a:r>
                    </a:p>
                  </a:txBody>
                  <a:tcPr marL="64008" marR="64008" marT="27432" marB="27432" anchor="ctr">
                    <a:solidFill>
                      <a:srgbClr val="FFFFFF"/>
                    </a:solidFill>
                  </a:tcPr>
                </a:tc>
              </a:tr>
              <a:tr h="393192">
                <a:tc>
                  <a:txBody>
                    <a:bodyPr wrap="square"/>
                    <a:lstStyle/>
                    <a:p>
                      <a:pPr algn="l">
                        <a:lnSpc>
                          <a:spcPct val="115000"/>
                        </a:lnSpc>
                        <a:buNone/>
                      </a:pPr>
                      <a:r>
                        <a:rPr sz="1100" b="1">
                          <a:solidFill>
                            <a:srgbClr val="14223A"/>
                          </a:solidFill>
                          <a:latin typeface="Meiryo"/>
                          <a:cs typeface="Meiryo"/>
                          <a:ea typeface="Meiryo"/>
                        </a:rPr>
                        <a:t>重複の削除・チェック</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重複禁止</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一意制約</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同じものが2件登録されることを、そもそも防ぐ</a:t>
                      </a:r>
                    </a:p>
                  </a:txBody>
                  <a:tcPr marL="64008" marR="64008" marT="27432" marB="27432" anchor="ctr">
                    <a:solidFill>
                      <a:srgbClr val="F8FAFC"/>
                    </a:solidFill>
                  </a:tcPr>
                </a:tc>
              </a:tr>
              <a:tr h="393192">
                <a:tc>
                  <a:txBody>
                    <a:bodyPr wrap="square"/>
                    <a:lstStyle/>
                    <a:p>
                      <a:pPr algn="l">
                        <a:lnSpc>
                          <a:spcPct val="115000"/>
                        </a:lnSpc>
                        <a:buNone/>
                      </a:pPr>
                      <a:r>
                        <a:rPr sz="1100" b="1">
                          <a:solidFill>
                            <a:srgbClr val="14223A"/>
                          </a:solidFill>
                          <a:latin typeface="Meiryo"/>
                          <a:cs typeface="Meiryo"/>
                          <a:ea typeface="Meiryo"/>
                        </a:rPr>
                        <a:t>並べ替え・フィルタ</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検索の速さの工夫</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インデックス</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件数が増えても一覧表示が遅くならないための仕掛け</a:t>
                      </a:r>
                    </a:p>
                  </a:txBody>
                  <a:tcPr marL="64008" marR="64008" marT="27432" marB="27432" anchor="ctr">
                    <a:solidFill>
                      <a:srgbClr val="FFFFFF"/>
                    </a:solidFill>
                  </a:tcPr>
                </a:tc>
              </a:tr>
              <a:tr h="393192">
                <a:tc>
                  <a:txBody>
                    <a:bodyPr wrap="square"/>
                    <a:lstStyle/>
                    <a:p>
                      <a:pPr algn="l">
                        <a:lnSpc>
                          <a:spcPct val="115000"/>
                        </a:lnSpc>
                        <a:buNone/>
                      </a:pPr>
                      <a:r>
                        <a:rPr sz="1100" b="1">
                          <a:solidFill>
                            <a:srgbClr val="14223A"/>
                          </a:solidFill>
                          <a:latin typeface="Meiryo"/>
                          <a:cs typeface="Meiryo"/>
                          <a:ea typeface="Meiryo"/>
                        </a:rPr>
                        <a:t>空欄</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未入力を許すかどうか</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NULL可否</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項目ごとに「必ず入れる/空でもよい」を決めてある</a:t>
                      </a:r>
                    </a:p>
                  </a:txBody>
                  <a:tcPr marL="64008" marR="64008" marT="27432" marB="27432" anchor="ctr">
                    <a:solidFill>
                      <a:srgbClr val="F8FAFC"/>
                    </a:solidFill>
                  </a:tcPr>
                </a:tc>
              </a:tr>
            </a:tbl>
          </a:graphicData>
        </a:graphic>
      </p:graphicFrame>
      <p:sp>
        <p:nvSpPr>
          <p:cNvPr id="7" name="Rounded Rectangle 6"/>
          <p:cNvSpPr/>
          <p:nvPr/>
        </p:nvSpPr>
        <p:spPr>
          <a:xfrm>
            <a:off x="457200" y="5596128"/>
            <a:ext cx="11277295" cy="66167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5596128"/>
            <a:ext cx="68580" cy="66167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5715000"/>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以降のページでは、左の2列(Excelでいうと / この資料での呼び方)の言葉だけを使います。専門用語は、ご興味があるときのために括弧で添えるだけにします。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Excelとは違うところ</a:t>
            </a:r>
            <a:r>
              <a:rPr sz="1250" b="0" i="0">
                <a:solidFill>
                  <a:srgbClr val="64748B"/>
                </a:solidFill>
                <a:latin typeface="Meiryo"/>
                <a:cs typeface="Meiryo"/>
                <a:ea typeface="Meiryo"/>
              </a:rPr>
              <a:t>   第1章 Excelに置き換える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「Excelで十分では?」というご質問への回答でもあります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6</a:t>
            </a:r>
          </a:p>
        </p:txBody>
      </p:sp>
      <p:sp>
        <p:nvSpPr>
          <p:cNvPr id="7" name="Rounded Rectangle 6"/>
          <p:cNvSpPr/>
          <p:nvPr/>
        </p:nvSpPr>
        <p:spPr>
          <a:xfrm>
            <a:off x="457200" y="1115568"/>
            <a:ext cx="5632704" cy="23317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233172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303520"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Excelでは難しいこと</a:t>
            </a:r>
          </a:p>
        </p:txBody>
      </p:sp>
      <p:sp>
        <p:nvSpPr>
          <p:cNvPr id="10" name="TextBox 9"/>
          <p:cNvSpPr txBox="1"/>
          <p:nvPr/>
        </p:nvSpPr>
        <p:spPr>
          <a:xfrm>
            <a:off x="667512" y="1527048"/>
            <a:ext cx="5257800" cy="1828799"/>
          </a:xfrm>
          <a:prstGeom prst="rect">
            <a:avLst/>
          </a:prstGeom>
          <a:noFill/>
        </p:spPr>
        <p:txBody>
          <a:bodyPr wrap="square" lIns="0" rIns="0" tIns="0" bIns="0">
            <a:spAutoFit/>
          </a:bodyPr>
          <a:lstStyle/>
          <a:p>
            <a:pPr marL="182880" indent="-182880">
              <a:lnSpc>
                <a:spcPct val="138000"/>
              </a:lnSpc>
              <a:spcBef>
                <a:spcPts val="0"/>
              </a:spcBef>
              <a:buClr>
                <a:srgbClr val="0369A1"/>
              </a:buClr>
              <a:buFont typeface="Meiryo"/>
              <a:buChar char="▪"/>
            </a:pPr>
            <a:r>
              <a:rPr sz="1150" b="1">
                <a:solidFill>
                  <a:srgbClr val="14223A"/>
                </a:solidFill>
                <a:latin typeface="Meiryo"/>
                <a:cs typeface="Meiryo"/>
                <a:ea typeface="Meiryo"/>
              </a:rPr>
              <a:t>同時に触れる</a:t>
            </a:r>
            <a:r>
              <a:rPr sz="1150" b="0">
                <a:solidFill>
                  <a:srgbClr val="14223A"/>
                </a:solidFill>
                <a:latin typeface="Meiryo"/>
                <a:cs typeface="Meiryo"/>
                <a:ea typeface="Meiryo"/>
              </a:rPr>
              <a:t> — Excelは誰かが開いていると編集できない。システムは全員が同時に入力できる</a:t>
            </a:r>
          </a:p>
          <a:p>
            <a:pPr marL="182880" indent="-182880">
              <a:lnSpc>
                <a:spcPct val="138000"/>
              </a:lnSpc>
              <a:spcBef>
                <a:spcPts val="400"/>
              </a:spcBef>
              <a:buClr>
                <a:srgbClr val="0369A1"/>
              </a:buClr>
              <a:buFont typeface="Meiryo"/>
              <a:buChar char="▪"/>
            </a:pPr>
            <a:r>
              <a:rPr sz="1150" b="1">
                <a:solidFill>
                  <a:srgbClr val="14223A"/>
                </a:solidFill>
                <a:latin typeface="Meiryo"/>
                <a:cs typeface="Meiryo"/>
                <a:ea typeface="Meiryo"/>
              </a:rPr>
              <a:t>行が増えても重くならない</a:t>
            </a:r>
            <a:r>
              <a:rPr sz="1150" b="0">
                <a:solidFill>
                  <a:srgbClr val="14223A"/>
                </a:solidFill>
                <a:latin typeface="Meiryo"/>
                <a:cs typeface="Meiryo"/>
                <a:ea typeface="Meiryo"/>
              </a:rPr>
              <a:t> — 数十万件でも一覧の表示が遅くならない仕掛けが入っている</a:t>
            </a:r>
          </a:p>
          <a:p>
            <a:pPr marL="182880" indent="-182880">
              <a:lnSpc>
                <a:spcPct val="138000"/>
              </a:lnSpc>
              <a:spcBef>
                <a:spcPts val="400"/>
              </a:spcBef>
              <a:buClr>
                <a:srgbClr val="0369A1"/>
              </a:buClr>
              <a:buFont typeface="Meiryo"/>
              <a:buChar char="▪"/>
            </a:pPr>
            <a:r>
              <a:rPr sz="1150" b="1">
                <a:solidFill>
                  <a:srgbClr val="14223A"/>
                </a:solidFill>
                <a:latin typeface="Meiryo"/>
                <a:cs typeface="Meiryo"/>
                <a:ea typeface="Meiryo"/>
              </a:rPr>
              <a:t>入力規則が必ず効く</a:t>
            </a:r>
            <a:r>
              <a:rPr sz="1150" b="0">
                <a:solidFill>
                  <a:srgbClr val="14223A"/>
                </a:solidFill>
                <a:latin typeface="Meiryo"/>
                <a:cs typeface="Meiryo"/>
                <a:ea typeface="Meiryo"/>
              </a:rPr>
              <a:t> — Excelの入力規則はコピー&amp;ペーストで簡単に破れる。システムでは破れない</a:t>
            </a:r>
          </a:p>
          <a:p>
            <a:pPr marL="182880" indent="-182880">
              <a:lnSpc>
                <a:spcPct val="138000"/>
              </a:lnSpc>
              <a:spcBef>
                <a:spcPts val="400"/>
              </a:spcBef>
              <a:buClr>
                <a:srgbClr val="0369A1"/>
              </a:buClr>
              <a:buFont typeface="Meiryo"/>
              <a:buChar char="▪"/>
            </a:pPr>
            <a:r>
              <a:rPr sz="1150" b="1">
                <a:solidFill>
                  <a:srgbClr val="14223A"/>
                </a:solidFill>
                <a:latin typeface="Meiryo"/>
                <a:cs typeface="Meiryo"/>
                <a:ea typeface="Meiryo"/>
              </a:rPr>
              <a:t>計算式が壊れない</a:t>
            </a:r>
            <a:r>
              <a:rPr sz="1150" b="0">
                <a:solidFill>
                  <a:srgbClr val="14223A"/>
                </a:solidFill>
                <a:latin typeface="Meiryo"/>
                <a:cs typeface="Meiryo"/>
                <a:ea typeface="Meiryo"/>
              </a:rPr>
              <a:t> — 行の挿入や並べ替えで式がずれることが無い。計算はその都度行う</a:t>
            </a:r>
          </a:p>
        </p:txBody>
      </p:sp>
      <p:sp>
        <p:nvSpPr>
          <p:cNvPr id="11" name="Rounded Rectangle 10"/>
          <p:cNvSpPr/>
          <p:nvPr/>
        </p:nvSpPr>
        <p:spPr>
          <a:xfrm>
            <a:off x="6272784" y="1115568"/>
            <a:ext cx="5632704" cy="23317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2784" y="1115568"/>
            <a:ext cx="68580" cy="2331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83096" y="1225295"/>
            <a:ext cx="5303520"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記録として強くなること</a:t>
            </a:r>
          </a:p>
        </p:txBody>
      </p:sp>
      <p:sp>
        <p:nvSpPr>
          <p:cNvPr id="14" name="TextBox 13"/>
          <p:cNvSpPr txBox="1"/>
          <p:nvPr/>
        </p:nvSpPr>
        <p:spPr>
          <a:xfrm>
            <a:off x="6483096" y="1527048"/>
            <a:ext cx="5257800" cy="1828799"/>
          </a:xfrm>
          <a:prstGeom prst="rect">
            <a:avLst/>
          </a:prstGeom>
          <a:noFill/>
        </p:spPr>
        <p:txBody>
          <a:bodyPr wrap="square" lIns="0" rIns="0" tIns="0" bIns="0">
            <a:spAutoFit/>
          </a:bodyPr>
          <a:lstStyle/>
          <a:p>
            <a:pPr marL="182880" indent="-182880">
              <a:lnSpc>
                <a:spcPct val="138000"/>
              </a:lnSpc>
              <a:spcBef>
                <a:spcPts val="0"/>
              </a:spcBef>
              <a:buClr>
                <a:srgbClr val="0369A1"/>
              </a:buClr>
              <a:buFont typeface="Meiryo"/>
              <a:buChar char="▪"/>
            </a:pPr>
            <a:r>
              <a:rPr sz="1150" b="1">
                <a:solidFill>
                  <a:srgbClr val="14223A"/>
                </a:solidFill>
                <a:latin typeface="Meiryo"/>
                <a:cs typeface="Meiryo"/>
                <a:ea typeface="Meiryo"/>
              </a:rPr>
              <a:t>記録が消えない</a:t>
            </a:r>
            <a:r>
              <a:rPr sz="1150" b="0">
                <a:solidFill>
                  <a:srgbClr val="14223A"/>
                </a:solidFill>
                <a:latin typeface="Meiryo"/>
                <a:cs typeface="Meiryo"/>
                <a:ea typeface="Meiryo"/>
              </a:rPr>
              <a:t> — 取り消しても行は残す(グレー表示)。「あったはずのものが痕跡なく消える」を作らない</a:t>
            </a:r>
          </a:p>
          <a:p>
            <a:pPr marL="182880" indent="-182880">
              <a:lnSpc>
                <a:spcPct val="138000"/>
              </a:lnSpc>
              <a:spcBef>
                <a:spcPts val="400"/>
              </a:spcBef>
              <a:buClr>
                <a:srgbClr val="0369A1"/>
              </a:buClr>
              <a:buFont typeface="Meiryo"/>
              <a:buChar char="▪"/>
            </a:pPr>
            <a:r>
              <a:rPr sz="1150" b="1">
                <a:solidFill>
                  <a:srgbClr val="14223A"/>
                </a:solidFill>
                <a:latin typeface="Meiryo"/>
                <a:cs typeface="Meiryo"/>
                <a:ea typeface="Meiryo"/>
              </a:rPr>
              <a:t>誰が・いつ が残る</a:t>
            </a:r>
            <a:r>
              <a:rPr sz="1150" b="0">
                <a:solidFill>
                  <a:srgbClr val="14223A"/>
                </a:solidFill>
                <a:latin typeface="Meiryo"/>
                <a:cs typeface="Meiryo"/>
                <a:ea typeface="Meiryo"/>
              </a:rPr>
              <a:t> — 登録日時・更新日時・入力者が自動で記録される</a:t>
            </a:r>
          </a:p>
          <a:p>
            <a:pPr marL="182880" indent="-182880">
              <a:lnSpc>
                <a:spcPct val="138000"/>
              </a:lnSpc>
              <a:spcBef>
                <a:spcPts val="400"/>
              </a:spcBef>
              <a:buClr>
                <a:srgbClr val="0369A1"/>
              </a:buClr>
              <a:buFont typeface="Meiryo"/>
              <a:buChar char="▪"/>
            </a:pPr>
            <a:r>
              <a:rPr sz="1150" b="1">
                <a:solidFill>
                  <a:srgbClr val="14223A"/>
                </a:solidFill>
                <a:latin typeface="Meiryo"/>
                <a:cs typeface="Meiryo"/>
                <a:ea typeface="Meiryo"/>
              </a:rPr>
              <a:t>見える範囲を分けられる</a:t>
            </a:r>
            <a:r>
              <a:rPr sz="1150" b="0">
                <a:solidFill>
                  <a:srgbClr val="14223A"/>
                </a:solidFill>
                <a:latin typeface="Meiryo"/>
                <a:cs typeface="Meiryo"/>
                <a:ea typeface="Meiryo"/>
              </a:rPr>
              <a:t> — スタッフは自分の分だけ、管理者は全員分、という制御ができる</a:t>
            </a:r>
          </a:p>
          <a:p>
            <a:pPr marL="182880" indent="-182880">
              <a:lnSpc>
                <a:spcPct val="138000"/>
              </a:lnSpc>
              <a:spcBef>
                <a:spcPts val="400"/>
              </a:spcBef>
              <a:buClr>
                <a:srgbClr val="0369A1"/>
              </a:buClr>
              <a:buFont typeface="Meiryo"/>
              <a:buChar char="▪"/>
            </a:pPr>
            <a:r>
              <a:rPr sz="1150" b="1">
                <a:solidFill>
                  <a:srgbClr val="14223A"/>
                </a:solidFill>
                <a:latin typeface="Meiryo"/>
                <a:cs typeface="Meiryo"/>
                <a:ea typeface="Meiryo"/>
              </a:rPr>
              <a:t>他法人のデータは見えない</a:t>
            </a:r>
            <a:r>
              <a:rPr sz="1150" b="0">
                <a:solidFill>
                  <a:srgbClr val="14223A"/>
                </a:solidFill>
                <a:latin typeface="Meiryo"/>
                <a:cs typeface="Meiryo"/>
                <a:ea typeface="Meiryo"/>
              </a:rPr>
              <a:t> — システムの作り方として、他社のデータが混ざらないようになっている</a:t>
            </a:r>
          </a:p>
        </p:txBody>
      </p:sp>
      <p:sp>
        <p:nvSpPr>
          <p:cNvPr id="15" name="Rounded Rectangle 14"/>
          <p:cNvSpPr/>
          <p:nvPr/>
        </p:nvSpPr>
        <p:spPr>
          <a:xfrm>
            <a:off x="457200" y="3657600"/>
            <a:ext cx="11277295" cy="908558"/>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3657600"/>
            <a:ext cx="68580" cy="90855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3749039"/>
            <a:ext cx="10874959"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そのかわり不便になること</a:t>
            </a:r>
          </a:p>
        </p:txBody>
      </p:sp>
      <p:sp>
        <p:nvSpPr>
          <p:cNvPr id="18" name="TextBox 17"/>
          <p:cNvSpPr txBox="1"/>
          <p:nvPr/>
        </p:nvSpPr>
        <p:spPr>
          <a:xfrm>
            <a:off x="658368" y="4023360"/>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項目(見出し)を足すのは、Excelのように「列を1本挿入」では済みません。作業と確認が必要で、運用開始後は入力済みのデータをどう埋めるかも決める必要があります。だからこそ、始める前のいまのうちに「足りない項目」を挙げていただきたい、というのがこの資料の趣旨です。</a:t>
            </a:r>
          </a:p>
        </p:txBody>
      </p:sp>
      <p:sp>
        <p:nvSpPr>
          <p:cNvPr id="19" name="Rounded Rectangle 18"/>
          <p:cNvSpPr/>
          <p:nvPr/>
        </p:nvSpPr>
        <p:spPr>
          <a:xfrm>
            <a:off x="457200" y="4754880"/>
            <a:ext cx="11277295" cy="14630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4754880"/>
            <a:ext cx="68580" cy="14630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67512" y="4864608"/>
            <a:ext cx="10948111"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「1シートにまとめた方が見やすいのでは?」について</a:t>
            </a:r>
          </a:p>
        </p:txBody>
      </p:sp>
      <p:sp>
        <p:nvSpPr>
          <p:cNvPr id="22" name="TextBox 21"/>
          <p:cNvSpPr txBox="1"/>
          <p:nvPr/>
        </p:nvSpPr>
        <p:spPr>
          <a:xfrm>
            <a:off x="667512" y="5166360"/>
            <a:ext cx="10902391" cy="9601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シートを分けるのは、</a:t>
            </a:r>
            <a:r>
              <a:rPr sz="1150" b="1">
                <a:solidFill>
                  <a:srgbClr val="14223A"/>
                </a:solidFill>
                <a:latin typeface="Meiryo"/>
                <a:cs typeface="Meiryo"/>
                <a:ea typeface="Meiryo"/>
              </a:rPr>
              <a:t>同じことを二度書かないため</a:t>
            </a:r>
            <a:r>
              <a:rPr sz="1150" b="0">
                <a:solidFill>
                  <a:srgbClr val="14223A"/>
                </a:solidFill>
                <a:latin typeface="Meiryo"/>
                <a:cs typeface="Meiryo"/>
                <a:ea typeface="Meiryo"/>
              </a:rPr>
              <a:t>です。顧客の住所を予約シートにも書いていると、引っ越したときに全部直す必要があり、直し漏れた行が残ります。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住所は「顧客」シートにだけ書き、予約からは管理番号で指し示します。これで住所を直す場所は常に1か所になります(VLOOKUPと同じ考え方です)。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「つながり」の考え方</a:t>
            </a:r>
            <a:r>
              <a:rPr sz="1250" b="0" i="0">
                <a:solidFill>
                  <a:srgbClr val="64748B"/>
                </a:solidFill>
                <a:latin typeface="Meiryo"/>
                <a:cs typeface="Meiryo"/>
                <a:ea typeface="Meiryo"/>
              </a:rPr>
              <a:t>   第1章 Excelに置き換える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このあと出てくる図の読み方です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7</a:t>
            </a:r>
          </a:p>
        </p:txBody>
      </p:sp>
      <p:sp>
        <p:nvSpPr>
          <p:cNvPr id="7" name="Rounded Rectangle 6"/>
          <p:cNvSpPr/>
          <p:nvPr/>
        </p:nvSpPr>
        <p:spPr>
          <a:xfrm>
            <a:off x="822960" y="1280160"/>
            <a:ext cx="2377440" cy="86868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300" b="1">
                <a:solidFill>
                  <a:srgbClr val="14223A"/>
                </a:solidFill>
                <a:latin typeface="Meiryo"/>
                <a:cs typeface="Meiryo"/>
                <a:ea typeface="Meiryo"/>
              </a:rPr>
              <a:t>顧客シート</a:t>
            </a:r>
          </a:p>
          <a:p>
            <a:pPr algn="ctr">
              <a:lnSpc>
                <a:spcPct val="116000"/>
              </a:lnSpc>
              <a:buNone/>
            </a:pPr>
            <a:r>
              <a:rPr sz="1050" b="0">
                <a:solidFill>
                  <a:srgbClr val="64748B"/>
                </a:solidFill>
                <a:latin typeface="Meiryo"/>
                <a:cs typeface="Meiryo"/>
                <a:ea typeface="Meiryo"/>
              </a:rPr>
              <a:t>1世帯 = 1行</a:t>
            </a:r>
          </a:p>
        </p:txBody>
      </p:sp>
      <p:sp>
        <p:nvSpPr>
          <p:cNvPr id="8" name="Rounded Rectangle 7"/>
          <p:cNvSpPr/>
          <p:nvPr/>
        </p:nvSpPr>
        <p:spPr>
          <a:xfrm>
            <a:off x="4297680" y="1280160"/>
            <a:ext cx="2377440" cy="86868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300" b="1">
                <a:solidFill>
                  <a:srgbClr val="14223A"/>
                </a:solidFill>
                <a:latin typeface="Meiryo"/>
                <a:cs typeface="Meiryo"/>
                <a:ea typeface="Meiryo"/>
              </a:rPr>
              <a:t>予約シート</a:t>
            </a:r>
          </a:p>
          <a:p>
            <a:pPr algn="ctr">
              <a:lnSpc>
                <a:spcPct val="116000"/>
              </a:lnSpc>
              <a:buNone/>
            </a:pPr>
            <a:r>
              <a:rPr sz="1050" b="0">
                <a:solidFill>
                  <a:srgbClr val="64748B"/>
                </a:solidFill>
                <a:latin typeface="Meiryo"/>
                <a:cs typeface="Meiryo"/>
                <a:ea typeface="Meiryo"/>
              </a:rPr>
              <a:t>予約1件 = 1行</a:t>
            </a:r>
          </a:p>
        </p:txBody>
      </p:sp>
      <p:sp>
        <p:nvSpPr>
          <p:cNvPr id="9" name="Rounded Rectangle 8"/>
          <p:cNvSpPr/>
          <p:nvPr/>
        </p:nvSpPr>
        <p:spPr>
          <a:xfrm>
            <a:off x="7772400" y="1280160"/>
            <a:ext cx="2377440" cy="86868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300" b="1">
                <a:solidFill>
                  <a:srgbClr val="14223A"/>
                </a:solidFill>
                <a:latin typeface="Meiryo"/>
                <a:cs typeface="Meiryo"/>
                <a:ea typeface="Meiryo"/>
              </a:rPr>
              <a:t>日報シート</a:t>
            </a:r>
          </a:p>
          <a:p>
            <a:pPr algn="ctr">
              <a:lnSpc>
                <a:spcPct val="116000"/>
              </a:lnSpc>
              <a:buNone/>
            </a:pPr>
            <a:r>
              <a:rPr sz="1050" b="0">
                <a:solidFill>
                  <a:srgbClr val="64748B"/>
                </a:solidFill>
                <a:latin typeface="Meiryo"/>
                <a:cs typeface="Meiryo"/>
                <a:ea typeface="Meiryo"/>
              </a:rPr>
              <a:t>訪問1回 = 1行</a:t>
            </a:r>
          </a:p>
        </p:txBody>
      </p:sp>
      <p:cxnSp>
        <p:nvCxnSpPr>
          <p:cNvPr id="10" name="Connector 9"/>
          <p:cNvCxnSpPr/>
          <p:nvPr/>
        </p:nvCxnSpPr>
        <p:spPr>
          <a:xfrm>
            <a:off x="3200400" y="1719072"/>
            <a:ext cx="1097280" cy="0"/>
          </a:xfrm>
          <a:prstGeom prst="line">
            <a:avLst/>
          </a:prstGeom>
          <a:ln w="20320">
            <a:solidFill>
              <a:srgbClr val="64748B"/>
            </a:solidFill>
            <a:headEnd type="oval"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75120" y="1719072"/>
            <a:ext cx="1097280" cy="0"/>
          </a:xfrm>
          <a:prstGeom prst="line">
            <a:avLst/>
          </a:prstGeom>
          <a:ln w="20320">
            <a:solidFill>
              <a:srgbClr val="64748B"/>
            </a:solidFill>
            <a:headEnd type="oval"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154680" y="1810512"/>
            <a:ext cx="1188720" cy="27432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1世帯に
予約は何件でも</a:t>
            </a:r>
          </a:p>
        </p:txBody>
      </p:sp>
      <p:sp>
        <p:nvSpPr>
          <p:cNvPr id="13" name="TextBox 12"/>
          <p:cNvSpPr txBox="1"/>
          <p:nvPr/>
        </p:nvSpPr>
        <p:spPr>
          <a:xfrm>
            <a:off x="6629400" y="1810512"/>
            <a:ext cx="1188720" cy="27432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予約1件に
日報は1件まで</a:t>
            </a:r>
          </a:p>
        </p:txBody>
      </p:sp>
      <p:sp>
        <p:nvSpPr>
          <p:cNvPr id="14" name="Rounded Rectangle 13"/>
          <p:cNvSpPr/>
          <p:nvPr/>
        </p:nvSpPr>
        <p:spPr>
          <a:xfrm>
            <a:off x="457200" y="2697480"/>
            <a:ext cx="5632704" cy="17373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697480"/>
            <a:ext cx="68580" cy="17373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807208"/>
            <a:ext cx="5303520"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図の読み方</a:t>
            </a:r>
          </a:p>
        </p:txBody>
      </p:sp>
      <p:sp>
        <p:nvSpPr>
          <p:cNvPr id="17" name="TextBox 16"/>
          <p:cNvSpPr txBox="1"/>
          <p:nvPr/>
        </p:nvSpPr>
        <p:spPr>
          <a:xfrm>
            <a:off x="667512" y="3108960"/>
            <a:ext cx="5257800" cy="12344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四角がシート(Excelの1枚のシート)</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矢印は「指し示している」向き。予約シートの1行が、顧客シートの1行を指しています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矢印の根元の丸は「何件でもつながる」、線だけは「1件まで」を表します</a:t>
            </a:r>
          </a:p>
        </p:txBody>
      </p:sp>
      <p:sp>
        <p:nvSpPr>
          <p:cNvPr id="18" name="Rounded Rectangle 17"/>
          <p:cNvSpPr/>
          <p:nvPr/>
        </p:nvSpPr>
        <p:spPr>
          <a:xfrm>
            <a:off x="6272784" y="2697480"/>
            <a:ext cx="5632704" cy="17373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72784" y="2697480"/>
            <a:ext cx="68580" cy="17373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83096" y="2807208"/>
            <a:ext cx="5303520"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なぜ「1件まで」を決めるのか</a:t>
            </a:r>
          </a:p>
        </p:txBody>
      </p:sp>
      <p:sp>
        <p:nvSpPr>
          <p:cNvPr id="21" name="TextBox 20"/>
          <p:cNvSpPr txBox="1"/>
          <p:nvPr/>
        </p:nvSpPr>
        <p:spPr>
          <a:xfrm>
            <a:off x="6483096" y="3108960"/>
            <a:ext cx="5257800" cy="12344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1つの予約に日報が2件つくと、サービス提供分の請求が二重になります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そうならないよう、</a:t>
            </a:r>
            <a:r>
              <a:rPr sz="1150" b="1">
                <a:solidFill>
                  <a:srgbClr val="14223A"/>
                </a:solidFill>
                <a:latin typeface="Meiryo"/>
                <a:cs typeface="Meiryo"/>
                <a:ea typeface="Meiryo"/>
              </a:rPr>
              <a:t>システム側で2件目を受け付けません</a:t>
            </a:r>
            <a:r>
              <a:rPr sz="1150" b="0">
                <a:solidFill>
                  <a:srgbClr val="14223A"/>
                </a:solidFill>
                <a:latin typeface="Meiryo"/>
                <a:cs typeface="Meiryo"/>
                <a:ea typeface="Meiryo"/>
              </a:rPr>
              <a:t>。人の注意力に頼りません。</a:t>
            </a:r>
          </a:p>
        </p:txBody>
      </p:sp>
      <p:sp>
        <p:nvSpPr>
          <p:cNvPr id="22" name="Rounded Rectangle 21"/>
          <p:cNvSpPr/>
          <p:nvPr/>
        </p:nvSpPr>
        <p:spPr>
          <a:xfrm>
            <a:off x="457200" y="4572000"/>
            <a:ext cx="11277295" cy="1115948"/>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57200" y="4572000"/>
            <a:ext cx="68580" cy="11159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4663440"/>
            <a:ext cx="10874959"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「つながり」が守ってくれること</a:t>
            </a:r>
          </a:p>
        </p:txBody>
      </p:sp>
      <p:sp>
        <p:nvSpPr>
          <p:cNvPr id="25" name="TextBox 24"/>
          <p:cNvSpPr txBox="1"/>
          <p:nvPr/>
        </p:nvSpPr>
        <p:spPr>
          <a:xfrm>
            <a:off x="658368" y="4937760"/>
            <a:ext cx="10874959" cy="658748"/>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予約シートに、存在しない顧客の管理番号を書くことはできません。また、予約が残っている顧客を誤って削除することもできません。Excelでいえば「VLOOKUPが #N/A になる状態」を、そもそも作れないようにしてある、ということです。
この仕組みのおかげで、「顧客名簿には無いのに日報だけ残っている」といった、あとから原因を追えない不整合が起きません。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入力のルールは、システム側にも書いてあります</a:t>
            </a:r>
            <a:r>
              <a:rPr sz="1250" b="0" i="0">
                <a:solidFill>
                  <a:srgbClr val="64748B"/>
                </a:solidFill>
                <a:latin typeface="Meiryo"/>
                <a:cs typeface="Meiryo"/>
                <a:ea typeface="Meiryo"/>
              </a:rPr>
              <a:t>   第1章 Excelに置き換える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8</a:t>
            </a:r>
          </a:p>
        </p:txBody>
      </p:sp>
      <p:graphicFrame>
        <p:nvGraphicFramePr>
          <p:cNvPr id="6" name="Table 5"/>
          <p:cNvGraphicFramePr>
            <a:graphicFrameLocks noGrp="1"/>
          </p:cNvGraphicFramePr>
          <p:nvPr/>
        </p:nvGraphicFramePr>
        <p:xfrm>
          <a:off x="457200" y="1115568"/>
          <a:ext cx="11277293" cy="2852928"/>
        </p:xfrm>
        <a:graphic>
          <a:graphicData uri="http://schemas.openxmlformats.org/drawingml/2006/table">
            <a:tbl>
              <a:tblPr firstRow="1" bandRow="1">
                <a:tableStyleId>{5C22544A-7EE6-4342-B048-85BDC9FD1C3A}</a:tableStyleId>
              </a:tblPr>
              <a:tblGrid>
                <a:gridCol w="2273648"/>
                <a:gridCol w="6366214"/>
                <a:gridCol w="2637431"/>
              </a:tblGrid>
              <a:tr h="329184">
                <a:tc>
                  <a:txBody>
                    <a:bodyPr wrap="square"/>
                    <a:lstStyle/>
                    <a:p>
                      <a:pPr algn="l">
                        <a:lnSpc>
                          <a:spcPct val="115000"/>
                        </a:lnSpc>
                        <a:buNone/>
                      </a:pPr>
                      <a:r>
                        <a:rPr sz="1100" b="1">
                          <a:solidFill>
                            <a:srgbClr val="14223A"/>
                          </a:solidFill>
                          <a:latin typeface="Meiryo"/>
                          <a:cs typeface="Meiryo"/>
                          <a:ea typeface="Meiryo"/>
                        </a:rPr>
                        <a:t>ルールの種類</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例</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破ろうとすると</a:t>
                      </a:r>
                    </a:p>
                  </a:txBody>
                  <a:tcPr marL="64008" marR="64008" marT="27432" marB="27432" anchor="ctr">
                    <a:solidFill>
                      <a:srgbClr val="E2E8F0"/>
                    </a:solidFill>
                  </a:tcPr>
                </a:tc>
              </a:tr>
              <a:tr h="420624">
                <a:tc>
                  <a:txBody>
                    <a:bodyPr wrap="square"/>
                    <a:lstStyle/>
                    <a:p>
                      <a:pPr algn="l">
                        <a:lnSpc>
                          <a:spcPct val="115000"/>
                        </a:lnSpc>
                        <a:buNone/>
                      </a:pPr>
                      <a:r>
                        <a:rPr sz="1100" b="1">
                          <a:solidFill>
                            <a:srgbClr val="14223A"/>
                          </a:solidFill>
                          <a:latin typeface="Meiryo"/>
                          <a:cs typeface="Meiryo"/>
                          <a:ea typeface="Meiryo"/>
                        </a:rPr>
                        <a:t>選べる値を限る</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予約の状態は「申込・確定・実施済・キャンセル・無連絡不来訪」のどれか</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登録できない(エラーになる)</a:t>
                      </a:r>
                    </a:p>
                  </a:txBody>
                  <a:tcPr marL="64008" marR="64008" marT="27432" marB="27432" anchor="ctr">
                    <a:solidFill>
                      <a:srgbClr val="FFFFFF"/>
                    </a:solidFill>
                  </a:tcPr>
                </a:tc>
              </a:tr>
              <a:tr h="420624">
                <a:tc>
                  <a:txBody>
                    <a:bodyPr wrap="square"/>
                    <a:lstStyle/>
                    <a:p>
                      <a:pPr algn="l">
                        <a:lnSpc>
                          <a:spcPct val="115000"/>
                        </a:lnSpc>
                        <a:buNone/>
                      </a:pPr>
                      <a:r>
                        <a:rPr sz="1100" b="1">
                          <a:solidFill>
                            <a:srgbClr val="14223A"/>
                          </a:solidFill>
                          <a:latin typeface="Meiryo"/>
                          <a:cs typeface="Meiryo"/>
                          <a:ea typeface="Meiryo"/>
                        </a:rPr>
                        <a:t>値の範囲を限る</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金額はマイナスにできない。ログイン失敗回数は0以上</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登録できない</a:t>
                      </a:r>
                    </a:p>
                  </a:txBody>
                  <a:tcPr marL="64008" marR="64008" marT="27432" marB="27432" anchor="ctr">
                    <a:solidFill>
                      <a:srgbClr val="F8FAFC"/>
                    </a:solidFill>
                  </a:tcPr>
                </a:tc>
              </a:tr>
              <a:tr h="420624">
                <a:tc>
                  <a:txBody>
                    <a:bodyPr wrap="square"/>
                    <a:lstStyle/>
                    <a:p>
                      <a:pPr algn="l">
                        <a:lnSpc>
                          <a:spcPct val="115000"/>
                        </a:lnSpc>
                        <a:buNone/>
                      </a:pPr>
                      <a:r>
                        <a:rPr sz="1100" b="1">
                          <a:solidFill>
                            <a:srgbClr val="14223A"/>
                          </a:solidFill>
                          <a:latin typeface="Meiryo"/>
                          <a:cs typeface="Meiryo"/>
                          <a:ea typeface="Meiryo"/>
                        </a:rPr>
                        <a:t>必ず対で入れる</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「キャンセル」にしたのにキャンセル日時が空、は不可</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登録できない</a:t>
                      </a:r>
                    </a:p>
                  </a:txBody>
                  <a:tcPr marL="64008" marR="64008" marT="27432" marB="27432" anchor="ctr">
                    <a:solidFill>
                      <a:srgbClr val="FFFFFF"/>
                    </a:solidFill>
                  </a:tcPr>
                </a:tc>
              </a:tr>
              <a:tr h="420624">
                <a:tc>
                  <a:txBody>
                    <a:bodyPr wrap="square"/>
                    <a:lstStyle/>
                    <a:p>
                      <a:pPr algn="l">
                        <a:lnSpc>
                          <a:spcPct val="115000"/>
                        </a:lnSpc>
                        <a:buNone/>
                      </a:pPr>
                      <a:r>
                        <a:rPr sz="1100" b="1">
                          <a:solidFill>
                            <a:srgbClr val="14223A"/>
                          </a:solidFill>
                          <a:latin typeface="Meiryo"/>
                          <a:cs typeface="Meiryo"/>
                          <a:ea typeface="Meiryo"/>
                        </a:rPr>
                        <a:t>重複を禁じる</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同じ予約に同じスタッフを2回、同じ日報に同じクーポンを2回</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2件目が登録できない</a:t>
                      </a:r>
                    </a:p>
                  </a:txBody>
                  <a:tcPr marL="64008" marR="64008" marT="27432" marB="27432" anchor="ctr">
                    <a:solidFill>
                      <a:srgbClr val="F8FAFC"/>
                    </a:solidFill>
                  </a:tcPr>
                </a:tc>
              </a:tr>
              <a:tr h="420624">
                <a:tc>
                  <a:txBody>
                    <a:bodyPr wrap="square"/>
                    <a:lstStyle/>
                    <a:p>
                      <a:pPr algn="l">
                        <a:lnSpc>
                          <a:spcPct val="115000"/>
                        </a:lnSpc>
                        <a:buNone/>
                      </a:pPr>
                      <a:r>
                        <a:rPr sz="1100" b="1">
                          <a:solidFill>
                            <a:srgbClr val="14223A"/>
                          </a:solidFill>
                          <a:latin typeface="Meiryo"/>
                          <a:cs typeface="Meiryo"/>
                          <a:ea typeface="Meiryo"/>
                        </a:rPr>
                        <a:t>計算が合うことを保証</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請求書の「合計 = 小計 − 割引 + 税」</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合わない請求書は登録できない</a:t>
                      </a:r>
                    </a:p>
                  </a:txBody>
                  <a:tcPr marL="64008" marR="64008" marT="27432" marB="27432" anchor="ctr">
                    <a:solidFill>
                      <a:srgbClr val="FFFFFF"/>
                    </a:solidFill>
                  </a:tcPr>
                </a:tc>
              </a:tr>
              <a:tr h="420624">
                <a:tc>
                  <a:txBody>
                    <a:bodyPr wrap="square"/>
                    <a:lstStyle/>
                    <a:p>
                      <a:pPr algn="l">
                        <a:lnSpc>
                          <a:spcPct val="115000"/>
                        </a:lnSpc>
                        <a:buNone/>
                      </a:pPr>
                      <a:r>
                        <a:rPr sz="1100" b="1">
                          <a:solidFill>
                            <a:srgbClr val="14223A"/>
                          </a:solidFill>
                          <a:latin typeface="Meiryo"/>
                          <a:cs typeface="Meiryo"/>
                          <a:ea typeface="Meiryo"/>
                        </a:rPr>
                        <a:t>必ずどちらか一方</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受付枠は「毎週◯曜日」か「◯月◯日」のどちらか。両方は不可</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登録できない</a:t>
                      </a:r>
                    </a:p>
                  </a:txBody>
                  <a:tcPr marL="64008" marR="64008" marT="27432" marB="27432" anchor="ctr">
                    <a:solidFill>
                      <a:srgbClr val="F8FAFC"/>
                    </a:solidFill>
                  </a:tcPr>
                </a:tc>
              </a:tr>
            </a:tbl>
          </a:graphicData>
        </a:graphic>
      </p:graphicFrame>
      <p:sp>
        <p:nvSpPr>
          <p:cNvPr id="7" name="Rounded Rectangle 6"/>
          <p:cNvSpPr/>
          <p:nvPr/>
        </p:nvSpPr>
        <p:spPr>
          <a:xfrm>
            <a:off x="457200" y="4206240"/>
            <a:ext cx="11277295" cy="1115948"/>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4206240"/>
            <a:ext cx="68580" cy="11159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4297679"/>
            <a:ext cx="10874959"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なぜ画面のチェックだけでは足りないのか</a:t>
            </a:r>
          </a:p>
        </p:txBody>
      </p:sp>
      <p:sp>
        <p:nvSpPr>
          <p:cNvPr id="10" name="TextBox 9"/>
          <p:cNvSpPr txBox="1"/>
          <p:nvPr/>
        </p:nvSpPr>
        <p:spPr>
          <a:xfrm>
            <a:off x="658368" y="4572000"/>
            <a:ext cx="10874959" cy="658748"/>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画面に入力チェックを入れても、データの取り込み(CSV)、別のシステムからの連携、不具合の修正作業などは画面を通りません。「絶対に守りたいこと」はデータの置き場所そのものに書いておく、というのが今回の方針です。Excelの入力規則がコピー&amp;ペーストで破れてしまうのに対し、こちらは経路を問わず必ず効きます。</a:t>
            </a:r>
          </a:p>
        </p:txBody>
      </p:sp>
      <p:sp>
        <p:nvSpPr>
          <p:cNvPr id="11" name="Rounded Rectangle 10"/>
          <p:cNvSpPr/>
          <p:nvPr/>
        </p:nvSpPr>
        <p:spPr>
          <a:xfrm>
            <a:off x="457200" y="5349240"/>
            <a:ext cx="11277295" cy="8686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57200" y="5349240"/>
            <a:ext cx="68580" cy="8686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67512" y="5458968"/>
            <a:ext cx="10948111"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ご確認いただきたいのは、まさにこの「選べる値」です</a:t>
            </a:r>
          </a:p>
        </p:txBody>
      </p:sp>
      <p:sp>
        <p:nvSpPr>
          <p:cNvPr id="14" name="TextBox 13"/>
          <p:cNvSpPr txBox="1"/>
          <p:nvPr/>
        </p:nvSpPr>
        <p:spPr>
          <a:xfrm>
            <a:off x="667512" y="5760720"/>
            <a:ext cx="10902391" cy="3657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各章の「確認していただきたいこと」には、選択肢が足りているかの質問を入れています。あとから選択肢を足すこと自体はできますが、運用開始後だと「どれにも当てはまらない」データが先に溜まってしまい、後追いの仕分けが必要になり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第2章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全体像 — 44枚のシートの地図</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業務の流れのどこで、どのシートに記録が生まれるか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業務の流れと、記録が生まれる場所</a:t>
            </a:r>
            <a:r>
              <a:rPr sz="1250" b="0" i="0">
                <a:solidFill>
                  <a:srgbClr val="64748B"/>
                </a:solidFill>
                <a:latin typeface="Meiryo"/>
                <a:cs typeface="Meiryo"/>
                <a:ea typeface="Meiryo"/>
              </a:rPr>
              <a:t>   第2章 全体像</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10</a:t>
            </a:r>
          </a:p>
        </p:txBody>
      </p:sp>
      <p:sp>
        <p:nvSpPr>
          <p:cNvPr id="6" name="Rounded Rectangle 5"/>
          <p:cNvSpPr/>
          <p:nvPr/>
        </p:nvSpPr>
        <p:spPr>
          <a:xfrm>
            <a:off x="457200" y="1234440"/>
            <a:ext cx="1666189" cy="1481328"/>
          </a:xfrm>
          <a:prstGeom prst="roundRect">
            <a:avLst>
              <a:gd name="adj" fmla="val 12000"/>
            </a:avLst>
          </a:prstGeom>
          <a:solidFill>
            <a:srgbClr val="E0F2FE"/>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234440"/>
            <a:ext cx="1666189" cy="38404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57200" y="1298448"/>
            <a:ext cx="1666189" cy="274320"/>
          </a:xfrm>
          <a:prstGeom prst="rect">
            <a:avLst/>
          </a:prstGeom>
          <a:noFill/>
        </p:spPr>
        <p:txBody>
          <a:bodyPr wrap="square" lIns="0" rIns="0" tIns="0" bIns="0" anchor="t">
            <a:spAutoFit/>
          </a:bodyPr>
          <a:lstStyle/>
          <a:p>
            <a:pPr algn="ctr">
              <a:lnSpc>
                <a:spcPct val="125000"/>
              </a:lnSpc>
              <a:buNone/>
            </a:pPr>
            <a:r>
              <a:rPr sz="1250" b="1" i="0">
                <a:solidFill>
                  <a:srgbClr val="FFFFFF"/>
                </a:solidFill>
                <a:latin typeface="Meiryo"/>
                <a:cs typeface="Meiryo"/>
                <a:ea typeface="Meiryo"/>
              </a:rPr>
              <a:t>お客様登録</a:t>
            </a:r>
          </a:p>
        </p:txBody>
      </p:sp>
      <p:sp>
        <p:nvSpPr>
          <p:cNvPr id="9" name="TextBox 8"/>
          <p:cNvSpPr txBox="1"/>
          <p:nvPr/>
        </p:nvSpPr>
        <p:spPr>
          <a:xfrm>
            <a:off x="566928" y="1709928"/>
            <a:ext cx="1446733" cy="822960"/>
          </a:xfrm>
          <a:prstGeom prst="rect">
            <a:avLst/>
          </a:prstGeom>
          <a:noFill/>
        </p:spPr>
        <p:txBody>
          <a:bodyPr wrap="square" lIns="0" rIns="0" tIns="0" bIns="0" anchor="t">
            <a:spAutoFit/>
          </a:bodyPr>
          <a:lstStyle/>
          <a:p>
            <a:pPr algn="ctr">
              <a:lnSpc>
                <a:spcPct val="150000"/>
              </a:lnSpc>
              <a:buNone/>
            </a:pPr>
            <a:r>
              <a:rPr sz="1050" b="0" i="0">
                <a:solidFill>
                  <a:srgbClr val="14223A"/>
                </a:solidFill>
                <a:latin typeface="Meiryo"/>
                <a:cs typeface="Meiryo"/>
                <a:ea typeface="Meiryo"/>
              </a:rPr>
              <a:t>顧客
世帯構成員
カルテ</a:t>
            </a:r>
          </a:p>
        </p:txBody>
      </p:sp>
      <p:sp>
        <p:nvSpPr>
          <p:cNvPr id="10" name="TextBox 9"/>
          <p:cNvSpPr txBox="1"/>
          <p:nvPr/>
        </p:nvSpPr>
        <p:spPr>
          <a:xfrm>
            <a:off x="457200" y="2468880"/>
            <a:ext cx="1666189" cy="219456"/>
          </a:xfrm>
          <a:prstGeom prst="rect">
            <a:avLst/>
          </a:prstGeom>
          <a:noFill/>
        </p:spPr>
        <p:txBody>
          <a:bodyPr wrap="square" lIns="0" rIns="0" tIns="0" bIns="0" anchor="t">
            <a:spAutoFit/>
          </a:bodyPr>
          <a:lstStyle/>
          <a:p>
            <a:pPr algn="ctr">
              <a:lnSpc>
                <a:spcPct val="125000"/>
              </a:lnSpc>
              <a:buNone/>
            </a:pPr>
            <a:r>
              <a:rPr sz="950" b="0" i="0">
                <a:solidFill>
                  <a:srgbClr val="0369A1"/>
                </a:solidFill>
                <a:latin typeface="Meiryo"/>
                <a:cs typeface="Meiryo"/>
                <a:ea typeface="Meiryo"/>
              </a:rPr>
              <a:t>第3・5章</a:t>
            </a:r>
          </a:p>
        </p:txBody>
      </p:sp>
      <p:cxnSp>
        <p:nvCxnSpPr>
          <p:cNvPr id="11" name="Connector 10"/>
          <p:cNvCxnSpPr/>
          <p:nvPr/>
        </p:nvCxnSpPr>
        <p:spPr>
          <a:xfrm>
            <a:off x="2150821" y="1975104"/>
            <a:ext cx="201168"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79421" y="1234440"/>
            <a:ext cx="1666189" cy="1481328"/>
          </a:xfrm>
          <a:prstGeom prst="roundRect">
            <a:avLst>
              <a:gd name="adj" fmla="val 12000"/>
            </a:avLst>
          </a:prstGeom>
          <a:solidFill>
            <a:srgbClr val="D1FAE5"/>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379421" y="1234440"/>
            <a:ext cx="1666189" cy="3840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79421" y="1298448"/>
            <a:ext cx="1666189" cy="274320"/>
          </a:xfrm>
          <a:prstGeom prst="rect">
            <a:avLst/>
          </a:prstGeom>
          <a:noFill/>
        </p:spPr>
        <p:txBody>
          <a:bodyPr wrap="square" lIns="0" rIns="0" tIns="0" bIns="0" anchor="t">
            <a:spAutoFit/>
          </a:bodyPr>
          <a:lstStyle/>
          <a:p>
            <a:pPr algn="ctr">
              <a:lnSpc>
                <a:spcPct val="125000"/>
              </a:lnSpc>
              <a:buNone/>
            </a:pPr>
            <a:r>
              <a:rPr sz="1250" b="1" i="0">
                <a:solidFill>
                  <a:srgbClr val="FFFFFF"/>
                </a:solidFill>
                <a:latin typeface="Meiryo"/>
                <a:cs typeface="Meiryo"/>
                <a:ea typeface="Meiryo"/>
              </a:rPr>
              <a:t>予約受付</a:t>
            </a:r>
          </a:p>
        </p:txBody>
      </p:sp>
      <p:sp>
        <p:nvSpPr>
          <p:cNvPr id="15" name="TextBox 14"/>
          <p:cNvSpPr txBox="1"/>
          <p:nvPr/>
        </p:nvSpPr>
        <p:spPr>
          <a:xfrm>
            <a:off x="2489149" y="1709928"/>
            <a:ext cx="1446733" cy="822960"/>
          </a:xfrm>
          <a:prstGeom prst="rect">
            <a:avLst/>
          </a:prstGeom>
          <a:noFill/>
        </p:spPr>
        <p:txBody>
          <a:bodyPr wrap="square" lIns="0" rIns="0" tIns="0" bIns="0" anchor="t">
            <a:spAutoFit/>
          </a:bodyPr>
          <a:lstStyle/>
          <a:p>
            <a:pPr algn="ctr">
              <a:lnSpc>
                <a:spcPct val="150000"/>
              </a:lnSpc>
              <a:buNone/>
            </a:pPr>
            <a:r>
              <a:rPr sz="1050" b="0" i="0">
                <a:solidFill>
                  <a:srgbClr val="14223A"/>
                </a:solidFill>
                <a:latin typeface="Meiryo"/>
                <a:cs typeface="Meiryo"/>
                <a:ea typeface="Meiryo"/>
              </a:rPr>
              <a:t>予約
サービスメニュー</a:t>
            </a:r>
          </a:p>
        </p:txBody>
      </p:sp>
      <p:sp>
        <p:nvSpPr>
          <p:cNvPr id="16" name="TextBox 15"/>
          <p:cNvSpPr txBox="1"/>
          <p:nvPr/>
        </p:nvSpPr>
        <p:spPr>
          <a:xfrm>
            <a:off x="2379421" y="2468880"/>
            <a:ext cx="1666189" cy="219456"/>
          </a:xfrm>
          <a:prstGeom prst="rect">
            <a:avLst/>
          </a:prstGeom>
          <a:noFill/>
        </p:spPr>
        <p:txBody>
          <a:bodyPr wrap="square" lIns="0" rIns="0" tIns="0" bIns="0" anchor="t">
            <a:spAutoFit/>
          </a:bodyPr>
          <a:lstStyle/>
          <a:p>
            <a:pPr algn="ctr">
              <a:lnSpc>
                <a:spcPct val="125000"/>
              </a:lnSpc>
              <a:buNone/>
            </a:pPr>
            <a:r>
              <a:rPr sz="950" b="0" i="0">
                <a:solidFill>
                  <a:srgbClr val="047857"/>
                </a:solidFill>
                <a:latin typeface="Meiryo"/>
                <a:cs typeface="Meiryo"/>
                <a:ea typeface="Meiryo"/>
              </a:rPr>
              <a:t>第6章</a:t>
            </a:r>
          </a:p>
        </p:txBody>
      </p:sp>
      <p:cxnSp>
        <p:nvCxnSpPr>
          <p:cNvPr id="17" name="Connector 16"/>
          <p:cNvCxnSpPr/>
          <p:nvPr/>
        </p:nvCxnSpPr>
        <p:spPr>
          <a:xfrm>
            <a:off x="4073042" y="1975104"/>
            <a:ext cx="201168"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01642" y="1234440"/>
            <a:ext cx="1666189" cy="1481328"/>
          </a:xfrm>
          <a:prstGeom prst="roundRect">
            <a:avLst>
              <a:gd name="adj" fmla="val 12000"/>
            </a:avLst>
          </a:prstGeom>
          <a:solidFill>
            <a:srgbClr val="CCFBF1"/>
          </a:solidFill>
          <a:ln w="1524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01642" y="1234440"/>
            <a:ext cx="1666189"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301642" y="1298448"/>
            <a:ext cx="1666189" cy="274320"/>
          </a:xfrm>
          <a:prstGeom prst="rect">
            <a:avLst/>
          </a:prstGeom>
          <a:noFill/>
        </p:spPr>
        <p:txBody>
          <a:bodyPr wrap="square" lIns="0" rIns="0" tIns="0" bIns="0" anchor="t">
            <a:spAutoFit/>
          </a:bodyPr>
          <a:lstStyle/>
          <a:p>
            <a:pPr algn="ctr">
              <a:lnSpc>
                <a:spcPct val="125000"/>
              </a:lnSpc>
              <a:buNone/>
            </a:pPr>
            <a:r>
              <a:rPr sz="1250" b="1" i="0">
                <a:solidFill>
                  <a:srgbClr val="FFFFFF"/>
                </a:solidFill>
                <a:latin typeface="Meiryo"/>
                <a:cs typeface="Meiryo"/>
                <a:ea typeface="Meiryo"/>
              </a:rPr>
              <a:t>スタッフ割当</a:t>
            </a:r>
          </a:p>
        </p:txBody>
      </p:sp>
      <p:sp>
        <p:nvSpPr>
          <p:cNvPr id="21" name="TextBox 20"/>
          <p:cNvSpPr txBox="1"/>
          <p:nvPr/>
        </p:nvSpPr>
        <p:spPr>
          <a:xfrm>
            <a:off x="4411370" y="1709928"/>
            <a:ext cx="1446733" cy="822960"/>
          </a:xfrm>
          <a:prstGeom prst="rect">
            <a:avLst/>
          </a:prstGeom>
          <a:noFill/>
        </p:spPr>
        <p:txBody>
          <a:bodyPr wrap="square" lIns="0" rIns="0" tIns="0" bIns="0" anchor="t">
            <a:spAutoFit/>
          </a:bodyPr>
          <a:lstStyle/>
          <a:p>
            <a:pPr algn="ctr">
              <a:lnSpc>
                <a:spcPct val="150000"/>
              </a:lnSpc>
              <a:buNone/>
            </a:pPr>
            <a:r>
              <a:rPr sz="1050" b="0" i="0">
                <a:solidFill>
                  <a:srgbClr val="14223A"/>
                </a:solidFill>
                <a:latin typeface="Meiryo"/>
                <a:cs typeface="Meiryo"/>
                <a:ea typeface="Meiryo"/>
              </a:rPr>
              <a:t>割当
受付枠
相性</a:t>
            </a:r>
          </a:p>
        </p:txBody>
      </p:sp>
      <p:sp>
        <p:nvSpPr>
          <p:cNvPr id="22" name="TextBox 21"/>
          <p:cNvSpPr txBox="1"/>
          <p:nvPr/>
        </p:nvSpPr>
        <p:spPr>
          <a:xfrm>
            <a:off x="4301642" y="2468880"/>
            <a:ext cx="1666189" cy="219456"/>
          </a:xfrm>
          <a:prstGeom prst="rect">
            <a:avLst/>
          </a:prstGeom>
          <a:noFill/>
        </p:spPr>
        <p:txBody>
          <a:bodyPr wrap="square" lIns="0" rIns="0" tIns="0" bIns="0" anchor="t">
            <a:spAutoFit/>
          </a:bodyPr>
          <a:lstStyle/>
          <a:p>
            <a:pPr algn="ctr">
              <a:lnSpc>
                <a:spcPct val="125000"/>
              </a:lnSpc>
              <a:buNone/>
            </a:pPr>
            <a:r>
              <a:rPr sz="950" b="0" i="0">
                <a:solidFill>
                  <a:srgbClr val="0F766E"/>
                </a:solidFill>
                <a:latin typeface="Meiryo"/>
                <a:cs typeface="Meiryo"/>
                <a:ea typeface="Meiryo"/>
              </a:rPr>
              <a:t>第6・12章</a:t>
            </a:r>
          </a:p>
        </p:txBody>
      </p:sp>
      <p:cxnSp>
        <p:nvCxnSpPr>
          <p:cNvPr id="23" name="Connector 22"/>
          <p:cNvCxnSpPr/>
          <p:nvPr/>
        </p:nvCxnSpPr>
        <p:spPr>
          <a:xfrm>
            <a:off x="5995263" y="1975104"/>
            <a:ext cx="201168"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23863" y="1234440"/>
            <a:ext cx="1666189" cy="1481328"/>
          </a:xfrm>
          <a:prstGeom prst="roundRect">
            <a:avLst>
              <a:gd name="adj" fmla="val 12000"/>
            </a:avLst>
          </a:prstGeom>
          <a:solidFill>
            <a:srgbClr val="EDE9FE"/>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23863" y="1234440"/>
            <a:ext cx="1666189" cy="3840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223863" y="1298448"/>
            <a:ext cx="1666189" cy="274320"/>
          </a:xfrm>
          <a:prstGeom prst="rect">
            <a:avLst/>
          </a:prstGeom>
          <a:noFill/>
        </p:spPr>
        <p:txBody>
          <a:bodyPr wrap="square" lIns="0" rIns="0" tIns="0" bIns="0" anchor="t">
            <a:spAutoFit/>
          </a:bodyPr>
          <a:lstStyle/>
          <a:p>
            <a:pPr algn="ctr">
              <a:lnSpc>
                <a:spcPct val="125000"/>
              </a:lnSpc>
              <a:buNone/>
            </a:pPr>
            <a:r>
              <a:rPr sz="1250" b="1" i="0">
                <a:solidFill>
                  <a:srgbClr val="FFFFFF"/>
                </a:solidFill>
                <a:latin typeface="Meiryo"/>
                <a:cs typeface="Meiryo"/>
                <a:ea typeface="Meiryo"/>
              </a:rPr>
              <a:t>訪問・実施</a:t>
            </a:r>
          </a:p>
        </p:txBody>
      </p:sp>
      <p:sp>
        <p:nvSpPr>
          <p:cNvPr id="27" name="TextBox 26"/>
          <p:cNvSpPr txBox="1"/>
          <p:nvPr/>
        </p:nvSpPr>
        <p:spPr>
          <a:xfrm>
            <a:off x="6333591" y="1709928"/>
            <a:ext cx="1446733" cy="822960"/>
          </a:xfrm>
          <a:prstGeom prst="rect">
            <a:avLst/>
          </a:prstGeom>
          <a:noFill/>
        </p:spPr>
        <p:txBody>
          <a:bodyPr wrap="square" lIns="0" rIns="0" tIns="0" bIns="0" anchor="t">
            <a:spAutoFit/>
          </a:bodyPr>
          <a:lstStyle/>
          <a:p>
            <a:pPr algn="ctr">
              <a:lnSpc>
                <a:spcPct val="150000"/>
              </a:lnSpc>
              <a:buNone/>
            </a:pPr>
            <a:r>
              <a:rPr sz="1050" b="0" i="0">
                <a:solidFill>
                  <a:srgbClr val="14223A"/>
                </a:solidFill>
                <a:latin typeface="Meiryo"/>
                <a:cs typeface="Meiryo"/>
                <a:ea typeface="Meiryo"/>
              </a:rPr>
              <a:t>日報
事故報告
領収書</a:t>
            </a:r>
          </a:p>
        </p:txBody>
      </p:sp>
      <p:sp>
        <p:nvSpPr>
          <p:cNvPr id="28" name="TextBox 27"/>
          <p:cNvSpPr txBox="1"/>
          <p:nvPr/>
        </p:nvSpPr>
        <p:spPr>
          <a:xfrm>
            <a:off x="6223863" y="2468880"/>
            <a:ext cx="1666189" cy="219456"/>
          </a:xfrm>
          <a:prstGeom prst="rect">
            <a:avLst/>
          </a:prstGeom>
          <a:noFill/>
        </p:spPr>
        <p:txBody>
          <a:bodyPr wrap="square" lIns="0" rIns="0" tIns="0" bIns="0" anchor="t">
            <a:spAutoFit/>
          </a:bodyPr>
          <a:lstStyle/>
          <a:p>
            <a:pPr algn="ctr">
              <a:lnSpc>
                <a:spcPct val="125000"/>
              </a:lnSpc>
              <a:buNone/>
            </a:pPr>
            <a:r>
              <a:rPr sz="950" b="0" i="0">
                <a:solidFill>
                  <a:srgbClr val="6D28D9"/>
                </a:solidFill>
                <a:latin typeface="Meiryo"/>
                <a:cs typeface="Meiryo"/>
                <a:ea typeface="Meiryo"/>
              </a:rPr>
              <a:t>第7・8章</a:t>
            </a:r>
          </a:p>
        </p:txBody>
      </p:sp>
      <p:cxnSp>
        <p:nvCxnSpPr>
          <p:cNvPr id="29" name="Connector 28"/>
          <p:cNvCxnSpPr/>
          <p:nvPr/>
        </p:nvCxnSpPr>
        <p:spPr>
          <a:xfrm>
            <a:off x="7917484" y="1975104"/>
            <a:ext cx="201168"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146084" y="1234440"/>
            <a:ext cx="1666189" cy="1481328"/>
          </a:xfrm>
          <a:prstGeom prst="roundRect">
            <a:avLst>
              <a:gd name="adj" fmla="val 12000"/>
            </a:avLst>
          </a:prstGeom>
          <a:solidFill>
            <a:srgbClr val="FEF3C7"/>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146084" y="1234440"/>
            <a:ext cx="1666189"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146084" y="1298448"/>
            <a:ext cx="1666189" cy="274320"/>
          </a:xfrm>
          <a:prstGeom prst="rect">
            <a:avLst/>
          </a:prstGeom>
          <a:noFill/>
        </p:spPr>
        <p:txBody>
          <a:bodyPr wrap="square" lIns="0" rIns="0" tIns="0" bIns="0" anchor="t">
            <a:spAutoFit/>
          </a:bodyPr>
          <a:lstStyle/>
          <a:p>
            <a:pPr algn="ctr">
              <a:lnSpc>
                <a:spcPct val="125000"/>
              </a:lnSpc>
              <a:buNone/>
            </a:pPr>
            <a:r>
              <a:rPr sz="1250" b="1" i="0">
                <a:solidFill>
                  <a:srgbClr val="FFFFFF"/>
                </a:solidFill>
                <a:latin typeface="Meiryo"/>
                <a:cs typeface="Meiryo"/>
                <a:ea typeface="Meiryo"/>
              </a:rPr>
              <a:t>締め・集計</a:t>
            </a:r>
          </a:p>
        </p:txBody>
      </p:sp>
      <p:sp>
        <p:nvSpPr>
          <p:cNvPr id="33" name="TextBox 32"/>
          <p:cNvSpPr txBox="1"/>
          <p:nvPr/>
        </p:nvSpPr>
        <p:spPr>
          <a:xfrm>
            <a:off x="8255812" y="1709928"/>
            <a:ext cx="1446733" cy="822960"/>
          </a:xfrm>
          <a:prstGeom prst="rect">
            <a:avLst/>
          </a:prstGeom>
          <a:noFill/>
        </p:spPr>
        <p:txBody>
          <a:bodyPr wrap="square" lIns="0" rIns="0" tIns="0" bIns="0" anchor="t">
            <a:spAutoFit/>
          </a:bodyPr>
          <a:lstStyle/>
          <a:p>
            <a:pPr algn="ctr">
              <a:lnSpc>
                <a:spcPct val="150000"/>
              </a:lnSpc>
              <a:buNone/>
            </a:pPr>
            <a:r>
              <a:rPr sz="1050" b="0" i="0">
                <a:solidFill>
                  <a:srgbClr val="14223A"/>
                </a:solidFill>
                <a:latin typeface="Meiryo"/>
                <a:cs typeface="Meiryo"/>
                <a:ea typeface="Meiryo"/>
              </a:rPr>
              <a:t>勤怠
移動区間
クーポン適用</a:t>
            </a:r>
          </a:p>
        </p:txBody>
      </p:sp>
      <p:sp>
        <p:nvSpPr>
          <p:cNvPr id="34" name="TextBox 33"/>
          <p:cNvSpPr txBox="1"/>
          <p:nvPr/>
        </p:nvSpPr>
        <p:spPr>
          <a:xfrm>
            <a:off x="8146084" y="2468880"/>
            <a:ext cx="1666189" cy="219456"/>
          </a:xfrm>
          <a:prstGeom prst="rect">
            <a:avLst/>
          </a:prstGeom>
          <a:noFill/>
        </p:spPr>
        <p:txBody>
          <a:bodyPr wrap="square" lIns="0" rIns="0" tIns="0" bIns="0" anchor="t">
            <a:spAutoFit/>
          </a:bodyPr>
          <a:lstStyle/>
          <a:p>
            <a:pPr algn="ctr">
              <a:lnSpc>
                <a:spcPct val="125000"/>
              </a:lnSpc>
              <a:buNone/>
            </a:pPr>
            <a:r>
              <a:rPr sz="950" b="0" i="0">
                <a:solidFill>
                  <a:srgbClr val="B45309"/>
                </a:solidFill>
                <a:latin typeface="Meiryo"/>
                <a:cs typeface="Meiryo"/>
                <a:ea typeface="Meiryo"/>
              </a:rPr>
              <a:t>第9・10・13章</a:t>
            </a:r>
          </a:p>
        </p:txBody>
      </p:sp>
      <p:cxnSp>
        <p:nvCxnSpPr>
          <p:cNvPr id="35" name="Connector 34"/>
          <p:cNvCxnSpPr/>
          <p:nvPr/>
        </p:nvCxnSpPr>
        <p:spPr>
          <a:xfrm>
            <a:off x="9839706" y="1975104"/>
            <a:ext cx="201168"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068306" y="1234440"/>
            <a:ext cx="1666189" cy="1481328"/>
          </a:xfrm>
          <a:prstGeom prst="roundRect">
            <a:avLst>
              <a:gd name="adj" fmla="val 12000"/>
            </a:avLst>
          </a:prstGeom>
          <a:solidFill>
            <a:srgbClr val="FCE7F3"/>
          </a:solidFill>
          <a:ln w="1524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0068306" y="1234440"/>
            <a:ext cx="1666189" cy="384048"/>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068306" y="1298448"/>
            <a:ext cx="1666189" cy="274320"/>
          </a:xfrm>
          <a:prstGeom prst="rect">
            <a:avLst/>
          </a:prstGeom>
          <a:noFill/>
        </p:spPr>
        <p:txBody>
          <a:bodyPr wrap="square" lIns="0" rIns="0" tIns="0" bIns="0" anchor="t">
            <a:spAutoFit/>
          </a:bodyPr>
          <a:lstStyle/>
          <a:p>
            <a:pPr algn="ctr">
              <a:lnSpc>
                <a:spcPct val="125000"/>
              </a:lnSpc>
              <a:buNone/>
            </a:pPr>
            <a:r>
              <a:rPr sz="1250" b="1" i="0">
                <a:solidFill>
                  <a:srgbClr val="FFFFFF"/>
                </a:solidFill>
                <a:latin typeface="Meiryo"/>
                <a:cs typeface="Meiryo"/>
                <a:ea typeface="Meiryo"/>
              </a:rPr>
              <a:t>請求・入金</a:t>
            </a:r>
          </a:p>
        </p:txBody>
      </p:sp>
      <p:sp>
        <p:nvSpPr>
          <p:cNvPr id="39" name="TextBox 38"/>
          <p:cNvSpPr txBox="1"/>
          <p:nvPr/>
        </p:nvSpPr>
        <p:spPr>
          <a:xfrm>
            <a:off x="10178034" y="1709928"/>
            <a:ext cx="1446733" cy="822960"/>
          </a:xfrm>
          <a:prstGeom prst="rect">
            <a:avLst/>
          </a:prstGeom>
          <a:noFill/>
        </p:spPr>
        <p:txBody>
          <a:bodyPr wrap="square" lIns="0" rIns="0" tIns="0" bIns="0" anchor="t">
            <a:spAutoFit/>
          </a:bodyPr>
          <a:lstStyle/>
          <a:p>
            <a:pPr algn="ctr">
              <a:lnSpc>
                <a:spcPct val="150000"/>
              </a:lnSpc>
              <a:buNone/>
            </a:pPr>
            <a:r>
              <a:rPr sz="1050" b="0" i="0">
                <a:solidFill>
                  <a:srgbClr val="14223A"/>
                </a:solidFill>
                <a:latin typeface="Meiryo"/>
                <a:cs typeface="Meiryo"/>
                <a:ea typeface="Meiryo"/>
              </a:rPr>
              <a:t>請求書
明細
入金</a:t>
            </a:r>
          </a:p>
        </p:txBody>
      </p:sp>
      <p:sp>
        <p:nvSpPr>
          <p:cNvPr id="40" name="TextBox 39"/>
          <p:cNvSpPr txBox="1"/>
          <p:nvPr/>
        </p:nvSpPr>
        <p:spPr>
          <a:xfrm>
            <a:off x="10068306" y="2468880"/>
            <a:ext cx="1666189" cy="219456"/>
          </a:xfrm>
          <a:prstGeom prst="rect">
            <a:avLst/>
          </a:prstGeom>
          <a:noFill/>
        </p:spPr>
        <p:txBody>
          <a:bodyPr wrap="square" lIns="0" rIns="0" tIns="0" bIns="0" anchor="t">
            <a:spAutoFit/>
          </a:bodyPr>
          <a:lstStyle/>
          <a:p>
            <a:pPr algn="ctr">
              <a:lnSpc>
                <a:spcPct val="125000"/>
              </a:lnSpc>
              <a:buNone/>
            </a:pPr>
            <a:r>
              <a:rPr sz="950" b="0" i="0">
                <a:solidFill>
                  <a:srgbClr val="BE185D"/>
                </a:solidFill>
                <a:latin typeface="Meiryo"/>
                <a:cs typeface="Meiryo"/>
                <a:ea typeface="Meiryo"/>
              </a:rPr>
              <a:t>第11章</a:t>
            </a:r>
          </a:p>
        </p:txBody>
      </p:sp>
      <p:sp>
        <p:nvSpPr>
          <p:cNvPr id="41" name="Rounded Rectangle 40"/>
          <p:cNvSpPr/>
          <p:nvPr/>
        </p:nvSpPr>
        <p:spPr>
          <a:xfrm>
            <a:off x="457200" y="2852928"/>
            <a:ext cx="11277295" cy="66167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57200" y="2852928"/>
            <a:ext cx="68580" cy="66167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8368" y="2971800"/>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上の6つが業務の流れです。それぞれの段階で、その下に書いたシートに記録が生まれます。第3章以降は、この順番に沿って1つずつご確認いただきます。</a:t>
            </a:r>
          </a:p>
        </p:txBody>
      </p:sp>
      <p:sp>
        <p:nvSpPr>
          <p:cNvPr id="44" name="Rounded Rectangle 43"/>
          <p:cNvSpPr/>
          <p:nvPr/>
        </p:nvSpPr>
        <p:spPr>
          <a:xfrm>
            <a:off x="457200" y="3730752"/>
            <a:ext cx="3712463" cy="248716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57200" y="3730752"/>
            <a:ext cx="68580" cy="248716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67512" y="3840480"/>
            <a:ext cx="3383279"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流れの外にあるもの</a:t>
            </a:r>
          </a:p>
        </p:txBody>
      </p:sp>
      <p:sp>
        <p:nvSpPr>
          <p:cNvPr id="47" name="TextBox 46"/>
          <p:cNvSpPr txBox="1"/>
          <p:nvPr/>
        </p:nvSpPr>
        <p:spPr>
          <a:xfrm>
            <a:off x="667512" y="4142232"/>
            <a:ext cx="3337560" cy="1984248"/>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1">
                <a:solidFill>
                  <a:srgbClr val="14223A"/>
                </a:solidFill>
                <a:latin typeface="Meiryo"/>
                <a:cs typeface="Meiryo"/>
                <a:ea typeface="Meiryo"/>
              </a:rPr>
              <a:t>スタッフ</a:t>
            </a:r>
            <a:r>
              <a:rPr sz="1100" b="0">
                <a:solidFill>
                  <a:srgbClr val="14223A"/>
                </a:solidFill>
                <a:latin typeface="Meiryo"/>
                <a:cs typeface="Meiryo"/>
                <a:ea typeface="Meiryo"/>
              </a:rPr>
              <a:t>(第4章) — 全体で使う名簿</a:t>
            </a:r>
          </a:p>
          <a:p>
            <a:pPr marL="182880" indent="-182880">
              <a:lnSpc>
                <a:spcPct val="132000"/>
              </a:lnSpc>
              <a:spcBef>
                <a:spcPts val="400"/>
              </a:spcBef>
              <a:buClr>
                <a:srgbClr val="0369A1"/>
              </a:buClr>
              <a:buFont typeface="Meiryo"/>
              <a:buChar char="▪"/>
            </a:pPr>
            <a:r>
              <a:rPr sz="1100" b="1">
                <a:solidFill>
                  <a:srgbClr val="14223A"/>
                </a:solidFill>
                <a:latin typeface="Meiryo"/>
                <a:cs typeface="Meiryo"/>
                <a:ea typeface="Meiryo"/>
              </a:rPr>
              <a:t>特性・相性</a:t>
            </a:r>
            <a:r>
              <a:rPr sz="1100" b="0">
                <a:solidFill>
                  <a:srgbClr val="14223A"/>
                </a:solidFill>
                <a:latin typeface="Meiryo"/>
                <a:cs typeface="Meiryo"/>
                <a:ea typeface="Meiryo"/>
              </a:rPr>
              <a:t>(第12章) — 割当を機械に手伝わせるための材料</a:t>
            </a:r>
          </a:p>
          <a:p>
            <a:pPr marL="182880" indent="-182880">
              <a:lnSpc>
                <a:spcPct val="132000"/>
              </a:lnSpc>
              <a:spcBef>
                <a:spcPts val="400"/>
              </a:spcBef>
              <a:buClr>
                <a:srgbClr val="0369A1"/>
              </a:buClr>
              <a:buFont typeface="Meiryo"/>
              <a:buChar char="▪"/>
            </a:pPr>
            <a:r>
              <a:rPr sz="1100" b="1">
                <a:solidFill>
                  <a:srgbClr val="14223A"/>
                </a:solidFill>
                <a:latin typeface="Meiryo"/>
                <a:cs typeface="Meiryo"/>
                <a:ea typeface="Meiryo"/>
              </a:rPr>
              <a:t>システムの裏方</a:t>
            </a:r>
            <a:r>
              <a:rPr sz="1100" b="0">
                <a:solidFill>
                  <a:srgbClr val="14223A"/>
                </a:solidFill>
                <a:latin typeface="Meiryo"/>
                <a:cs typeface="Meiryo"/>
                <a:ea typeface="Meiryo"/>
              </a:rPr>
              <a:t>(第14章) — ログイン、通知先、締め日などの設定</a:t>
            </a:r>
          </a:p>
          <a:p>
            <a:pPr marL="182880" indent="-182880">
              <a:lnSpc>
                <a:spcPct val="132000"/>
              </a:lnSpc>
              <a:spcBef>
                <a:spcPts val="400"/>
              </a:spcBef>
              <a:buClr>
                <a:srgbClr val="0369A1"/>
              </a:buClr>
              <a:buFont typeface="Meiryo"/>
              <a:buChar char="▪"/>
            </a:pPr>
            <a:r>
              <a:rPr sz="1100" b="1">
                <a:solidFill>
                  <a:srgbClr val="14223A"/>
                </a:solidFill>
                <a:latin typeface="Meiryo"/>
                <a:cs typeface="Meiryo"/>
                <a:ea typeface="Meiryo"/>
              </a:rPr>
              <a:t>日報AIの文面</a:t>
            </a:r>
            <a:r>
              <a:rPr sz="1100" b="0">
                <a:solidFill>
                  <a:srgbClr val="14223A"/>
                </a:solidFill>
                <a:latin typeface="Meiryo"/>
                <a:cs typeface="Meiryo"/>
                <a:ea typeface="Meiryo"/>
              </a:rPr>
              <a:t>(第15章) — AIに渡す指示文と、その調整の材料</a:t>
            </a:r>
          </a:p>
        </p:txBody>
      </p:sp>
      <p:sp>
        <p:nvSpPr>
          <p:cNvPr id="48" name="Rounded Rectangle 47"/>
          <p:cNvSpPr/>
          <p:nvPr/>
        </p:nvSpPr>
        <p:spPr>
          <a:xfrm>
            <a:off x="4352544" y="3730752"/>
            <a:ext cx="3712463" cy="248716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4352544" y="3730752"/>
            <a:ext cx="68580" cy="248716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62855" y="3840480"/>
            <a:ext cx="3383279"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現行(GAS版)との関係</a:t>
            </a:r>
          </a:p>
        </p:txBody>
      </p:sp>
      <p:sp>
        <p:nvSpPr>
          <p:cNvPr id="51" name="TextBox 50"/>
          <p:cNvSpPr txBox="1"/>
          <p:nvPr/>
        </p:nvSpPr>
        <p:spPr>
          <a:xfrm>
            <a:off x="4562855" y="4142232"/>
            <a:ext cx="3337560" cy="1984248"/>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いま動いているのはスプレッドシートで作られた仕組みで、今回はその移行先です。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給与計算は</a:t>
            </a:r>
            <a:r>
              <a:rPr sz="1150" b="1">
                <a:solidFill>
                  <a:srgbClr val="14223A"/>
                </a:solidFill>
                <a:latin typeface="Meiryo"/>
                <a:cs typeface="Meiryo"/>
                <a:ea typeface="Meiryo"/>
              </a:rPr>
              <a:t>現行と1円も違ってはいけない</a:t>
            </a:r>
            <a:r>
              <a:rPr sz="1150" b="0">
                <a:solidFill>
                  <a:srgbClr val="14223A"/>
                </a:solidFill>
                <a:latin typeface="Meiryo"/>
                <a:cs typeface="Meiryo"/>
                <a:ea typeface="Meiryo"/>
              </a:rPr>
              <a:t>という条件で作っています。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移行の期間中は、スプレッドシートにも同じ内容を自動で書き写します。</a:t>
            </a:r>
          </a:p>
        </p:txBody>
      </p:sp>
      <p:sp>
        <p:nvSpPr>
          <p:cNvPr id="52" name="Rounded Rectangle 51"/>
          <p:cNvSpPr/>
          <p:nvPr/>
        </p:nvSpPr>
        <p:spPr>
          <a:xfrm>
            <a:off x="8247888" y="3730752"/>
            <a:ext cx="3712463" cy="248716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8247888" y="3730752"/>
            <a:ext cx="68580" cy="248716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458200" y="3840480"/>
            <a:ext cx="3383279"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できている範囲</a:t>
            </a:r>
          </a:p>
        </p:txBody>
      </p:sp>
      <p:sp>
        <p:nvSpPr>
          <p:cNvPr id="55" name="TextBox 54"/>
          <p:cNvSpPr txBox="1"/>
          <p:nvPr/>
        </p:nvSpPr>
        <p:spPr>
          <a:xfrm>
            <a:off x="8458200" y="4142232"/>
            <a:ext cx="3337560" cy="1984248"/>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画面まで動く: </a:t>
            </a:r>
            <a:r>
              <a:rPr sz="1150" b="0">
                <a:solidFill>
                  <a:srgbClr val="14223A"/>
                </a:solidFill>
                <a:latin typeface="Meiryo"/>
                <a:cs typeface="Meiryo"/>
                <a:ea typeface="Meiryo"/>
              </a:rPr>
              <a:t>顧客・日報・事故報告・領収書・勤怠・クーポン・AIの文面・AIの調整材料(年齢帯・教育の言葉・関心度と負担の基準・ご家庭の設定)</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入れ物だけ: </a:t>
            </a:r>
            <a:r>
              <a:rPr sz="1150" b="0">
                <a:solidFill>
                  <a:srgbClr val="14223A"/>
                </a:solidFill>
                <a:latin typeface="Meiryo"/>
                <a:cs typeface="Meiryo"/>
                <a:ea typeface="Meiryo"/>
              </a:rPr>
              <a:t>カルテ・予約・請求・入金・相性・移動手当</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「入れ物だけ」は、記録する場所は決めたが画面がまだ無い状態です。だからこそ、いまなら項目を変えやすい段階でもあります。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44枚のシートの地図</a:t>
            </a:r>
            <a:r>
              <a:rPr sz="1250" b="0" i="0">
                <a:solidFill>
                  <a:srgbClr val="64748B"/>
                </a:solidFill>
                <a:latin typeface="Meiryo"/>
                <a:cs typeface="Meiryo"/>
                <a:ea typeface="Meiryo"/>
              </a:rPr>
              <a:t>   第2章 全体像</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枠の中の数字は、この資料の章番号です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11</a:t>
            </a:r>
          </a:p>
        </p:txBody>
      </p:sp>
      <p:sp>
        <p:nvSpPr>
          <p:cNvPr id="7" name="Rounded Rectangle 6"/>
          <p:cNvSpPr/>
          <p:nvPr/>
        </p:nvSpPr>
        <p:spPr>
          <a:xfrm>
            <a:off x="457200" y="1115568"/>
            <a:ext cx="3712463" cy="1060704"/>
          </a:xfrm>
          <a:prstGeom prst="roundRect">
            <a:avLst>
              <a:gd name="adj" fmla="val 12000"/>
            </a:avLst>
          </a:prstGeom>
          <a:solidFill>
            <a:srgbClr val="FFFFFF"/>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3712463" cy="310896"/>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85216" y="1161288"/>
            <a:ext cx="3456431"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第3-4章  お客様とスタッフ</a:t>
            </a:r>
          </a:p>
        </p:txBody>
      </p:sp>
      <p:sp>
        <p:nvSpPr>
          <p:cNvPr id="10" name="Rounded Rectangle 9"/>
          <p:cNvSpPr/>
          <p:nvPr/>
        </p:nvSpPr>
        <p:spPr>
          <a:xfrm>
            <a:off x="566928" y="149961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顧客</a:t>
            </a:r>
          </a:p>
        </p:txBody>
      </p:sp>
      <p:sp>
        <p:nvSpPr>
          <p:cNvPr id="11" name="Rounded Rectangle 10"/>
          <p:cNvSpPr/>
          <p:nvPr/>
        </p:nvSpPr>
        <p:spPr>
          <a:xfrm>
            <a:off x="2313432" y="149961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世帯構成員</a:t>
            </a:r>
          </a:p>
        </p:txBody>
      </p:sp>
      <p:sp>
        <p:nvSpPr>
          <p:cNvPr id="12" name="Rounded Rectangle 11"/>
          <p:cNvSpPr/>
          <p:nvPr/>
        </p:nvSpPr>
        <p:spPr>
          <a:xfrm>
            <a:off x="566928" y="177393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スタッフ</a:t>
            </a:r>
          </a:p>
        </p:txBody>
      </p:sp>
      <p:sp>
        <p:nvSpPr>
          <p:cNvPr id="13" name="Rounded Rectangle 12"/>
          <p:cNvSpPr/>
          <p:nvPr/>
        </p:nvSpPr>
        <p:spPr>
          <a:xfrm>
            <a:off x="4352544" y="1115568"/>
            <a:ext cx="3712463" cy="786384"/>
          </a:xfrm>
          <a:prstGeom prst="roundRect">
            <a:avLst>
              <a:gd name="adj" fmla="val 12000"/>
            </a:avLst>
          </a:prstGeom>
          <a:solidFill>
            <a:srgbClr val="FFFFFF"/>
          </a:solidFill>
          <a:ln w="1524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52544" y="1115568"/>
            <a:ext cx="3712463" cy="310896"/>
          </a:xfrm>
          <a:prstGeom prst="rect">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480559" y="1161288"/>
            <a:ext cx="3456431" cy="237744"/>
          </a:xfrm>
          <a:prstGeom prst="rect">
            <a:avLst/>
          </a:prstGeom>
          <a:noFill/>
        </p:spPr>
        <p:txBody>
          <a:bodyPr wrap="square" lIns="0" rIns="0" tIns="0" bIns="0" anchor="t">
            <a:spAutoFit/>
          </a:bodyPr>
          <a:lstStyle/>
          <a:p>
            <a:pPr algn="l">
              <a:lnSpc>
                <a:spcPct val="125000"/>
              </a:lnSpc>
              <a:buNone/>
            </a:pPr>
            <a:r>
              <a:rPr sz="1100" b="1" i="0">
                <a:solidFill>
                  <a:srgbClr val="BE185D"/>
                </a:solidFill>
                <a:latin typeface="Meiryo"/>
                <a:cs typeface="Meiryo"/>
                <a:ea typeface="Meiryo"/>
              </a:rPr>
              <a:t>第5章  顧客カルテ</a:t>
            </a:r>
          </a:p>
        </p:txBody>
      </p:sp>
      <p:sp>
        <p:nvSpPr>
          <p:cNvPr id="16" name="Rounded Rectangle 15"/>
          <p:cNvSpPr/>
          <p:nvPr/>
        </p:nvSpPr>
        <p:spPr>
          <a:xfrm>
            <a:off x="4462272" y="149961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カルテ記載</a:t>
            </a:r>
          </a:p>
        </p:txBody>
      </p:sp>
      <p:sp>
        <p:nvSpPr>
          <p:cNvPr id="17" name="Rounded Rectangle 16"/>
          <p:cNvSpPr/>
          <p:nvPr/>
        </p:nvSpPr>
        <p:spPr>
          <a:xfrm>
            <a:off x="6208775" y="149961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カルテ写真</a:t>
            </a:r>
          </a:p>
        </p:txBody>
      </p:sp>
      <p:sp>
        <p:nvSpPr>
          <p:cNvPr id="18" name="Rounded Rectangle 17"/>
          <p:cNvSpPr/>
          <p:nvPr/>
        </p:nvSpPr>
        <p:spPr>
          <a:xfrm>
            <a:off x="8247888" y="1115568"/>
            <a:ext cx="3712463" cy="1060704"/>
          </a:xfrm>
          <a:prstGeom prst="roundRect">
            <a:avLst>
              <a:gd name="adj" fmla="val 12000"/>
            </a:avLst>
          </a:prstGeom>
          <a:solidFill>
            <a:srgbClr val="FFFFFF"/>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247888" y="1115568"/>
            <a:ext cx="3712463" cy="310896"/>
          </a:xfrm>
          <a:prstGeom prst="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375904" y="1161288"/>
            <a:ext cx="3456431"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第6章  予約</a:t>
            </a:r>
          </a:p>
        </p:txBody>
      </p:sp>
      <p:sp>
        <p:nvSpPr>
          <p:cNvPr id="21" name="Rounded Rectangle 20"/>
          <p:cNvSpPr/>
          <p:nvPr/>
        </p:nvSpPr>
        <p:spPr>
          <a:xfrm>
            <a:off x="8357615" y="149961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サービスメニュー</a:t>
            </a:r>
          </a:p>
        </p:txBody>
      </p:sp>
      <p:sp>
        <p:nvSpPr>
          <p:cNvPr id="22" name="Rounded Rectangle 21"/>
          <p:cNvSpPr/>
          <p:nvPr/>
        </p:nvSpPr>
        <p:spPr>
          <a:xfrm>
            <a:off x="10104119" y="149961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予約</a:t>
            </a:r>
          </a:p>
        </p:txBody>
      </p:sp>
      <p:sp>
        <p:nvSpPr>
          <p:cNvPr id="23" name="Rounded Rectangle 22"/>
          <p:cNvSpPr/>
          <p:nvPr/>
        </p:nvSpPr>
        <p:spPr>
          <a:xfrm>
            <a:off x="8357615" y="177393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スタッフ割当</a:t>
            </a:r>
          </a:p>
        </p:txBody>
      </p:sp>
      <p:sp>
        <p:nvSpPr>
          <p:cNvPr id="24" name="Rounded Rectangle 23"/>
          <p:cNvSpPr/>
          <p:nvPr/>
        </p:nvSpPr>
        <p:spPr>
          <a:xfrm>
            <a:off x="10104119" y="1773936"/>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受付枠</a:t>
            </a:r>
          </a:p>
        </p:txBody>
      </p:sp>
      <p:sp>
        <p:nvSpPr>
          <p:cNvPr id="25" name="Rounded Rectangle 24"/>
          <p:cNvSpPr/>
          <p:nvPr/>
        </p:nvSpPr>
        <p:spPr>
          <a:xfrm>
            <a:off x="4352544" y="2048256"/>
            <a:ext cx="3712463" cy="1060704"/>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52544" y="2048256"/>
            <a:ext cx="3712463" cy="310896"/>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480559" y="2093976"/>
            <a:ext cx="3456431" cy="237744"/>
          </a:xfrm>
          <a:prstGeom prst="rect">
            <a:avLst/>
          </a:prstGeom>
          <a:noFill/>
        </p:spPr>
        <p:txBody>
          <a:bodyPr wrap="square" lIns="0" rIns="0" tIns="0" bIns="0" anchor="t">
            <a:spAutoFit/>
          </a:bodyPr>
          <a:lstStyle/>
          <a:p>
            <a:pPr algn="l">
              <a:lnSpc>
                <a:spcPct val="125000"/>
              </a:lnSpc>
              <a:buNone/>
            </a:pPr>
            <a:r>
              <a:rPr sz="1100" b="1" i="0">
                <a:solidFill>
                  <a:srgbClr val="6D28D9"/>
                </a:solidFill>
                <a:latin typeface="Meiryo"/>
                <a:cs typeface="Meiryo"/>
                <a:ea typeface="Meiryo"/>
              </a:rPr>
              <a:t>第7-8章  訪問の記録</a:t>
            </a:r>
          </a:p>
        </p:txBody>
      </p:sp>
      <p:sp>
        <p:nvSpPr>
          <p:cNvPr id="28" name="Rounded Rectangle 27"/>
          <p:cNvSpPr/>
          <p:nvPr/>
        </p:nvSpPr>
        <p:spPr>
          <a:xfrm>
            <a:off x="4462272" y="243230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保育日報</a:t>
            </a:r>
          </a:p>
        </p:txBody>
      </p:sp>
      <p:sp>
        <p:nvSpPr>
          <p:cNvPr id="29" name="Rounded Rectangle 28"/>
          <p:cNvSpPr/>
          <p:nvPr/>
        </p:nvSpPr>
        <p:spPr>
          <a:xfrm>
            <a:off x="6208775" y="243230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事故報告</a:t>
            </a:r>
          </a:p>
        </p:txBody>
      </p:sp>
      <p:sp>
        <p:nvSpPr>
          <p:cNvPr id="30" name="Rounded Rectangle 29"/>
          <p:cNvSpPr/>
          <p:nvPr/>
        </p:nvSpPr>
        <p:spPr>
          <a:xfrm>
            <a:off x="4462272" y="270662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領収書</a:t>
            </a:r>
          </a:p>
        </p:txBody>
      </p:sp>
      <p:sp>
        <p:nvSpPr>
          <p:cNvPr id="31" name="Rounded Rectangle 30"/>
          <p:cNvSpPr/>
          <p:nvPr/>
        </p:nvSpPr>
        <p:spPr>
          <a:xfrm>
            <a:off x="457200" y="2322576"/>
            <a:ext cx="3712463" cy="786384"/>
          </a:xfrm>
          <a:prstGeom prst="roundRect">
            <a:avLst>
              <a:gd name="adj" fmla="val 12000"/>
            </a:avLst>
          </a:prstGeom>
          <a:solidFill>
            <a:srgbClr val="FFFFFF"/>
          </a:solidFill>
          <a:ln w="1524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57200" y="2322576"/>
            <a:ext cx="3712463" cy="310896"/>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85216" y="2368296"/>
            <a:ext cx="3456431" cy="237744"/>
          </a:xfrm>
          <a:prstGeom prst="rect">
            <a:avLst/>
          </a:prstGeom>
          <a:noFill/>
        </p:spPr>
        <p:txBody>
          <a:bodyPr wrap="square" lIns="0" rIns="0" tIns="0" bIns="0" anchor="t">
            <a:spAutoFit/>
          </a:bodyPr>
          <a:lstStyle/>
          <a:p>
            <a:pPr algn="l">
              <a:lnSpc>
                <a:spcPct val="125000"/>
              </a:lnSpc>
              <a:buNone/>
            </a:pPr>
            <a:r>
              <a:rPr sz="1100" b="1" i="0">
                <a:solidFill>
                  <a:srgbClr val="0F766E"/>
                </a:solidFill>
                <a:latin typeface="Meiryo"/>
                <a:cs typeface="Meiryo"/>
                <a:ea typeface="Meiryo"/>
              </a:rPr>
              <a:t>第9章  勤怠</a:t>
            </a:r>
          </a:p>
        </p:txBody>
      </p:sp>
      <p:sp>
        <p:nvSpPr>
          <p:cNvPr id="34" name="Rounded Rectangle 33"/>
          <p:cNvSpPr/>
          <p:nvPr/>
        </p:nvSpPr>
        <p:spPr>
          <a:xfrm>
            <a:off x="566928" y="270662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出勤簿</a:t>
            </a:r>
          </a:p>
        </p:txBody>
      </p:sp>
      <p:sp>
        <p:nvSpPr>
          <p:cNvPr id="35" name="Rounded Rectangle 34"/>
          <p:cNvSpPr/>
          <p:nvPr/>
        </p:nvSpPr>
        <p:spPr>
          <a:xfrm>
            <a:off x="8247888" y="2322576"/>
            <a:ext cx="3712463" cy="1060704"/>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8247888" y="2322576"/>
            <a:ext cx="3712463" cy="310896"/>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375904" y="2368296"/>
            <a:ext cx="3456431" cy="237744"/>
          </a:xfrm>
          <a:prstGeom prst="rect">
            <a:avLst/>
          </a:prstGeom>
          <a:noFill/>
        </p:spPr>
        <p:txBody>
          <a:bodyPr wrap="square" lIns="0" rIns="0" tIns="0" bIns="0" anchor="t">
            <a:spAutoFit/>
          </a:bodyPr>
          <a:lstStyle/>
          <a:p>
            <a:pPr algn="l">
              <a:lnSpc>
                <a:spcPct val="125000"/>
              </a:lnSpc>
              <a:buNone/>
            </a:pPr>
            <a:r>
              <a:rPr sz="1100" b="1" i="0">
                <a:solidFill>
                  <a:srgbClr val="C2410C"/>
                </a:solidFill>
                <a:latin typeface="Meiryo"/>
                <a:cs typeface="Meiryo"/>
                <a:ea typeface="Meiryo"/>
              </a:rPr>
              <a:t>第10章  割引クーポン</a:t>
            </a:r>
          </a:p>
        </p:txBody>
      </p:sp>
      <p:sp>
        <p:nvSpPr>
          <p:cNvPr id="38" name="Rounded Rectangle 37"/>
          <p:cNvSpPr/>
          <p:nvPr/>
        </p:nvSpPr>
        <p:spPr>
          <a:xfrm>
            <a:off x="8357615" y="270662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クーポン種別</a:t>
            </a:r>
          </a:p>
        </p:txBody>
      </p:sp>
      <p:sp>
        <p:nvSpPr>
          <p:cNvPr id="39" name="Rounded Rectangle 38"/>
          <p:cNvSpPr/>
          <p:nvPr/>
        </p:nvSpPr>
        <p:spPr>
          <a:xfrm>
            <a:off x="10104119" y="270662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顧客への配布</a:t>
            </a:r>
          </a:p>
        </p:txBody>
      </p:sp>
      <p:sp>
        <p:nvSpPr>
          <p:cNvPr id="40" name="Rounded Rectangle 39"/>
          <p:cNvSpPr/>
          <p:nvPr/>
        </p:nvSpPr>
        <p:spPr>
          <a:xfrm>
            <a:off x="8357615" y="2980944"/>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使用記録</a:t>
            </a:r>
          </a:p>
        </p:txBody>
      </p:sp>
      <p:sp>
        <p:nvSpPr>
          <p:cNvPr id="41" name="Rounded Rectangle 40"/>
          <p:cNvSpPr/>
          <p:nvPr/>
        </p:nvSpPr>
        <p:spPr>
          <a:xfrm>
            <a:off x="457200" y="3255264"/>
            <a:ext cx="3712463" cy="1335024"/>
          </a:xfrm>
          <a:prstGeom prst="roundRect">
            <a:avLst>
              <a:gd name="adj" fmla="val 12000"/>
            </a:avLst>
          </a:prstGeom>
          <a:solidFill>
            <a:srgbClr val="FFFFFF"/>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57200" y="3255264"/>
            <a:ext cx="3712463" cy="310896"/>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85216" y="3300984"/>
            <a:ext cx="3456431"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第11章  請求と入金</a:t>
            </a:r>
          </a:p>
        </p:txBody>
      </p:sp>
      <p:sp>
        <p:nvSpPr>
          <p:cNvPr id="44" name="Rounded Rectangle 43"/>
          <p:cNvSpPr/>
          <p:nvPr/>
        </p:nvSpPr>
        <p:spPr>
          <a:xfrm>
            <a:off x="566928" y="363931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決済プロフィール</a:t>
            </a:r>
          </a:p>
        </p:txBody>
      </p:sp>
      <p:sp>
        <p:nvSpPr>
          <p:cNvPr id="45" name="Rounded Rectangle 44"/>
          <p:cNvSpPr/>
          <p:nvPr/>
        </p:nvSpPr>
        <p:spPr>
          <a:xfrm>
            <a:off x="2313432" y="363931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請求書</a:t>
            </a:r>
          </a:p>
        </p:txBody>
      </p:sp>
      <p:sp>
        <p:nvSpPr>
          <p:cNvPr id="46" name="Rounded Rectangle 45"/>
          <p:cNvSpPr/>
          <p:nvPr/>
        </p:nvSpPr>
        <p:spPr>
          <a:xfrm>
            <a:off x="566928" y="391363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請求明細</a:t>
            </a:r>
          </a:p>
        </p:txBody>
      </p:sp>
      <p:sp>
        <p:nvSpPr>
          <p:cNvPr id="47" name="Rounded Rectangle 46"/>
          <p:cNvSpPr/>
          <p:nvPr/>
        </p:nvSpPr>
        <p:spPr>
          <a:xfrm>
            <a:off x="2313432" y="391363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入金</a:t>
            </a:r>
          </a:p>
        </p:txBody>
      </p:sp>
      <p:sp>
        <p:nvSpPr>
          <p:cNvPr id="48" name="Rounded Rectangle 47"/>
          <p:cNvSpPr/>
          <p:nvPr/>
        </p:nvSpPr>
        <p:spPr>
          <a:xfrm>
            <a:off x="566928" y="418795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決済通知の受信記録</a:t>
            </a:r>
          </a:p>
        </p:txBody>
      </p:sp>
      <p:sp>
        <p:nvSpPr>
          <p:cNvPr id="49" name="Rounded Rectangle 48"/>
          <p:cNvSpPr/>
          <p:nvPr/>
        </p:nvSpPr>
        <p:spPr>
          <a:xfrm>
            <a:off x="4352544" y="3255264"/>
            <a:ext cx="3712463" cy="1335024"/>
          </a:xfrm>
          <a:prstGeom prst="roundRect">
            <a:avLst>
              <a:gd name="adj" fmla="val 12000"/>
            </a:avLst>
          </a:prstGeom>
          <a:solidFill>
            <a:srgbClr val="FFFFFF"/>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352544" y="3255264"/>
            <a:ext cx="3712463" cy="310896"/>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480559" y="3300984"/>
            <a:ext cx="3456431" cy="237744"/>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第12章  相性と特性</a:t>
            </a:r>
          </a:p>
        </p:txBody>
      </p:sp>
      <p:sp>
        <p:nvSpPr>
          <p:cNvPr id="52" name="Rounded Rectangle 51"/>
          <p:cNvSpPr/>
          <p:nvPr/>
        </p:nvSpPr>
        <p:spPr>
          <a:xfrm>
            <a:off x="4462272" y="363931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特性項目マスタ</a:t>
            </a:r>
          </a:p>
        </p:txBody>
      </p:sp>
      <p:sp>
        <p:nvSpPr>
          <p:cNvPr id="53" name="Rounded Rectangle 52"/>
          <p:cNvSpPr/>
          <p:nvPr/>
        </p:nvSpPr>
        <p:spPr>
          <a:xfrm>
            <a:off x="6208775" y="363931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顧客の特性</a:t>
            </a:r>
          </a:p>
        </p:txBody>
      </p:sp>
      <p:sp>
        <p:nvSpPr>
          <p:cNvPr id="54" name="Rounded Rectangle 53"/>
          <p:cNvSpPr/>
          <p:nvPr/>
        </p:nvSpPr>
        <p:spPr>
          <a:xfrm>
            <a:off x="4462272" y="391363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スタッフの特性</a:t>
            </a:r>
          </a:p>
        </p:txBody>
      </p:sp>
      <p:sp>
        <p:nvSpPr>
          <p:cNvPr id="55" name="Rounded Rectangle 54"/>
          <p:cNvSpPr/>
          <p:nvPr/>
        </p:nvSpPr>
        <p:spPr>
          <a:xfrm>
            <a:off x="6208775" y="391363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相性</a:t>
            </a:r>
          </a:p>
        </p:txBody>
      </p:sp>
      <p:sp>
        <p:nvSpPr>
          <p:cNvPr id="56" name="Rounded Rectangle 55"/>
          <p:cNvSpPr/>
          <p:nvPr/>
        </p:nvSpPr>
        <p:spPr>
          <a:xfrm>
            <a:off x="4462272" y="418795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移動時間の見積</a:t>
            </a:r>
          </a:p>
        </p:txBody>
      </p:sp>
      <p:sp>
        <p:nvSpPr>
          <p:cNvPr id="57" name="Rounded Rectangle 56"/>
          <p:cNvSpPr/>
          <p:nvPr/>
        </p:nvSpPr>
        <p:spPr>
          <a:xfrm>
            <a:off x="8247888" y="3529584"/>
            <a:ext cx="3712463" cy="786384"/>
          </a:xfrm>
          <a:prstGeom prst="roundRect">
            <a:avLst>
              <a:gd name="adj" fmla="val 12000"/>
            </a:avLst>
          </a:prstGeom>
          <a:solidFill>
            <a:srgbClr val="FFFFFF"/>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247888" y="3529584"/>
            <a:ext cx="3712463" cy="310896"/>
          </a:xfrm>
          <a:prstGeom prst="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375904" y="3575304"/>
            <a:ext cx="3456431"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第13章  移動と手当</a:t>
            </a:r>
          </a:p>
        </p:txBody>
      </p:sp>
      <p:sp>
        <p:nvSpPr>
          <p:cNvPr id="60" name="Rounded Rectangle 59"/>
          <p:cNvSpPr/>
          <p:nvPr/>
        </p:nvSpPr>
        <p:spPr>
          <a:xfrm>
            <a:off x="8357615" y="391363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手当の単価マスタ</a:t>
            </a:r>
          </a:p>
        </p:txBody>
      </p:sp>
      <p:sp>
        <p:nvSpPr>
          <p:cNvPr id="61" name="Rounded Rectangle 60"/>
          <p:cNvSpPr/>
          <p:nvPr/>
        </p:nvSpPr>
        <p:spPr>
          <a:xfrm>
            <a:off x="10104119" y="3913632"/>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移動区間</a:t>
            </a:r>
          </a:p>
        </p:txBody>
      </p:sp>
      <p:sp>
        <p:nvSpPr>
          <p:cNvPr id="62" name="Rounded Rectangle 61"/>
          <p:cNvSpPr/>
          <p:nvPr/>
        </p:nvSpPr>
        <p:spPr>
          <a:xfrm>
            <a:off x="8247888" y="4462272"/>
            <a:ext cx="3712463" cy="1335024"/>
          </a:xfrm>
          <a:prstGeom prst="roundRect">
            <a:avLst>
              <a:gd name="adj" fmla="val 12000"/>
            </a:avLst>
          </a:prstGeom>
          <a:solidFill>
            <a:srgbClr val="FFFFFF"/>
          </a:solidFill>
          <a:ln w="1524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8247888" y="4462272"/>
            <a:ext cx="3712463"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375904" y="4507992"/>
            <a:ext cx="3456431" cy="237744"/>
          </a:xfrm>
          <a:prstGeom prst="rect">
            <a:avLst/>
          </a:prstGeom>
          <a:noFill/>
        </p:spPr>
        <p:txBody>
          <a:bodyPr wrap="square" lIns="0" rIns="0" tIns="0" bIns="0" anchor="t">
            <a:spAutoFit/>
          </a:bodyPr>
          <a:lstStyle/>
          <a:p>
            <a:pPr algn="l">
              <a:lnSpc>
                <a:spcPct val="125000"/>
              </a:lnSpc>
              <a:buNone/>
            </a:pPr>
            <a:r>
              <a:rPr sz="1100" b="1" i="0">
                <a:solidFill>
                  <a:srgbClr val="64748B"/>
                </a:solidFill>
                <a:latin typeface="Meiryo"/>
                <a:cs typeface="Meiryo"/>
                <a:ea typeface="Meiryo"/>
              </a:rPr>
              <a:t>第14章  システムの裏方</a:t>
            </a:r>
          </a:p>
        </p:txBody>
      </p:sp>
      <p:sp>
        <p:nvSpPr>
          <p:cNvPr id="65" name="Rounded Rectangle 64"/>
          <p:cNvSpPr/>
          <p:nvPr/>
        </p:nvSpPr>
        <p:spPr>
          <a:xfrm>
            <a:off x="8357615" y="484632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法人</a:t>
            </a:r>
          </a:p>
        </p:txBody>
      </p:sp>
      <p:sp>
        <p:nvSpPr>
          <p:cNvPr id="66" name="Rounded Rectangle 65"/>
          <p:cNvSpPr/>
          <p:nvPr/>
        </p:nvSpPr>
        <p:spPr>
          <a:xfrm>
            <a:off x="10104119" y="484632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暗号鍵</a:t>
            </a:r>
          </a:p>
        </p:txBody>
      </p:sp>
      <p:sp>
        <p:nvSpPr>
          <p:cNvPr id="67" name="Rounded Rectangle 66"/>
          <p:cNvSpPr/>
          <p:nvPr/>
        </p:nvSpPr>
        <p:spPr>
          <a:xfrm>
            <a:off x="8357615" y="512064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ログインセッション</a:t>
            </a:r>
          </a:p>
        </p:txBody>
      </p:sp>
      <p:sp>
        <p:nvSpPr>
          <p:cNvPr id="68" name="Rounded Rectangle 67"/>
          <p:cNvSpPr/>
          <p:nvPr/>
        </p:nvSpPr>
        <p:spPr>
          <a:xfrm>
            <a:off x="10104119" y="512064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パスワード再設定コード</a:t>
            </a:r>
          </a:p>
        </p:txBody>
      </p:sp>
      <p:sp>
        <p:nvSpPr>
          <p:cNvPr id="69" name="Rounded Rectangle 68"/>
          <p:cNvSpPr/>
          <p:nvPr/>
        </p:nvSpPr>
        <p:spPr>
          <a:xfrm>
            <a:off x="8357615" y="539496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外部送信の待ち行列</a:t>
            </a:r>
          </a:p>
        </p:txBody>
      </p:sp>
      <p:sp>
        <p:nvSpPr>
          <p:cNvPr id="70" name="Rounded Rectangle 69"/>
          <p:cNvSpPr/>
          <p:nvPr/>
        </p:nvSpPr>
        <p:spPr>
          <a:xfrm>
            <a:off x="10104119" y="539496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法人ごとの設定</a:t>
            </a:r>
          </a:p>
        </p:txBody>
      </p:sp>
      <p:sp>
        <p:nvSpPr>
          <p:cNvPr id="71" name="Rounded Rectangle 70"/>
          <p:cNvSpPr/>
          <p:nvPr/>
        </p:nvSpPr>
        <p:spPr>
          <a:xfrm>
            <a:off x="457200" y="4736592"/>
            <a:ext cx="3712463" cy="1883664"/>
          </a:xfrm>
          <a:prstGeom prst="roundRect">
            <a:avLst>
              <a:gd name="adj" fmla="val 12000"/>
            </a:avLst>
          </a:prstGeom>
          <a:solidFill>
            <a:srgbClr val="FFFFFF"/>
          </a:solidFill>
          <a:ln w="1524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457200" y="4736592"/>
            <a:ext cx="3712463" cy="310896"/>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585216" y="4782312"/>
            <a:ext cx="3456431" cy="237744"/>
          </a:xfrm>
          <a:prstGeom prst="rect">
            <a:avLst/>
          </a:prstGeom>
          <a:noFill/>
        </p:spPr>
        <p:txBody>
          <a:bodyPr wrap="square" lIns="0" rIns="0" tIns="0" bIns="0" anchor="t">
            <a:spAutoFit/>
          </a:bodyPr>
          <a:lstStyle/>
          <a:p>
            <a:pPr algn="l">
              <a:lnSpc>
                <a:spcPct val="125000"/>
              </a:lnSpc>
              <a:buNone/>
            </a:pPr>
            <a:r>
              <a:rPr sz="1100" b="1" i="0">
                <a:solidFill>
                  <a:srgbClr val="0F766E"/>
                </a:solidFill>
                <a:latin typeface="Meiryo"/>
                <a:cs typeface="Meiryo"/>
                <a:ea typeface="Meiryo"/>
              </a:rPr>
              <a:t>第15章  日報AIの文面</a:t>
            </a:r>
          </a:p>
        </p:txBody>
      </p:sp>
      <p:sp>
        <p:nvSpPr>
          <p:cNvPr id="74" name="Rounded Rectangle 73"/>
          <p:cNvSpPr/>
          <p:nvPr/>
        </p:nvSpPr>
        <p:spPr>
          <a:xfrm>
            <a:off x="566928" y="512064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AIに渡す文面</a:t>
            </a:r>
          </a:p>
        </p:txBody>
      </p:sp>
      <p:sp>
        <p:nvSpPr>
          <p:cNvPr id="75" name="Rounded Rectangle 74"/>
          <p:cNvSpPr/>
          <p:nvPr/>
        </p:nvSpPr>
        <p:spPr>
          <a:xfrm>
            <a:off x="2313432" y="512064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年齢帯</a:t>
            </a:r>
          </a:p>
        </p:txBody>
      </p:sp>
      <p:sp>
        <p:nvSpPr>
          <p:cNvPr id="76" name="Rounded Rectangle 75"/>
          <p:cNvSpPr/>
          <p:nvPr/>
        </p:nvSpPr>
        <p:spPr>
          <a:xfrm>
            <a:off x="566928" y="5394959"/>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教育の言葉</a:t>
            </a:r>
          </a:p>
        </p:txBody>
      </p:sp>
      <p:sp>
        <p:nvSpPr>
          <p:cNvPr id="77" name="Rounded Rectangle 76"/>
          <p:cNvSpPr/>
          <p:nvPr/>
        </p:nvSpPr>
        <p:spPr>
          <a:xfrm>
            <a:off x="2313432" y="5394959"/>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年齢帯と言葉</a:t>
            </a:r>
          </a:p>
        </p:txBody>
      </p:sp>
      <p:sp>
        <p:nvSpPr>
          <p:cNvPr id="78" name="Rounded Rectangle 77"/>
          <p:cNvSpPr/>
          <p:nvPr/>
        </p:nvSpPr>
        <p:spPr>
          <a:xfrm>
            <a:off x="566928" y="5669279"/>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関心度の基準</a:t>
            </a:r>
          </a:p>
        </p:txBody>
      </p:sp>
      <p:sp>
        <p:nvSpPr>
          <p:cNvPr id="79" name="Rounded Rectangle 78"/>
          <p:cNvSpPr/>
          <p:nvPr/>
        </p:nvSpPr>
        <p:spPr>
          <a:xfrm>
            <a:off x="2313432" y="5669279"/>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負担の基準</a:t>
            </a:r>
          </a:p>
        </p:txBody>
      </p:sp>
      <p:sp>
        <p:nvSpPr>
          <p:cNvPr id="80" name="Rounded Rectangle 79"/>
          <p:cNvSpPr/>
          <p:nvPr/>
        </p:nvSpPr>
        <p:spPr>
          <a:xfrm>
            <a:off x="566928" y="594360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言い回し</a:t>
            </a:r>
          </a:p>
        </p:txBody>
      </p:sp>
      <p:sp>
        <p:nvSpPr>
          <p:cNvPr id="81" name="Rounded Rectangle 80"/>
          <p:cNvSpPr/>
          <p:nvPr/>
        </p:nvSpPr>
        <p:spPr>
          <a:xfrm>
            <a:off x="2313432" y="594360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ご家庭の設定</a:t>
            </a:r>
          </a:p>
        </p:txBody>
      </p:sp>
      <p:sp>
        <p:nvSpPr>
          <p:cNvPr id="82" name="Rounded Rectangle 81"/>
          <p:cNvSpPr/>
          <p:nvPr/>
        </p:nvSpPr>
        <p:spPr>
          <a:xfrm>
            <a:off x="566928" y="621792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AI生成の記録</a:t>
            </a:r>
          </a:p>
        </p:txBody>
      </p:sp>
      <p:sp>
        <p:nvSpPr>
          <p:cNvPr id="83" name="Rounded Rectangle 82"/>
          <p:cNvSpPr/>
          <p:nvPr/>
        </p:nvSpPr>
        <p:spPr>
          <a:xfrm>
            <a:off x="2313432" y="6217920"/>
            <a:ext cx="1691639" cy="237744"/>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使われた語</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第3章-第15章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業務ごとに、記録する項目を確認する</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各章は「記録している項目」→「確認していただきたいこと」の順で並びます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第3章 顧客と世帯</a:t>
            </a:r>
            <a:r>
              <a:rPr sz="1250" b="0" i="0">
                <a:solidFill>
                  <a:srgbClr val="64748B"/>
                </a:solidFill>
                <a:latin typeface="Meiryo"/>
                <a:cs typeface="Meiryo"/>
                <a:ea typeface="Meiryo"/>
              </a:rPr>
              <a:t>   お客様の情報 — 予約・日報・請求のすべてがここに紐づく</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13</a:t>
            </a:r>
          </a:p>
        </p:txBody>
      </p:sp>
      <p:sp>
        <p:nvSpPr>
          <p:cNvPr id="7" name="TextBox 6"/>
          <p:cNvSpPr txBox="1"/>
          <p:nvPr/>
        </p:nvSpPr>
        <p:spPr>
          <a:xfrm>
            <a:off x="475488" y="1115568"/>
            <a:ext cx="10820095" cy="493395"/>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利用世帯の代表者を1行で持ち、お子様など世帯の方は別シートに1人1行で持ちます。予約も日報も請求も、この顧客の行を指し示す形でつながります。</a:t>
            </a:r>
          </a:p>
        </p:txBody>
      </p:sp>
      <p:sp>
        <p:nvSpPr>
          <p:cNvPr id="8" name="Rounded Rectangle 7"/>
          <p:cNvSpPr/>
          <p:nvPr/>
        </p:nvSpPr>
        <p:spPr>
          <a:xfrm>
            <a:off x="457200" y="1718690"/>
            <a:ext cx="11277295" cy="1140713"/>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718690"/>
            <a:ext cx="68580" cy="1140713"/>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91843"/>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顧客</a:t>
            </a:r>
            <a:r>
              <a:rPr sz="950" b="0" i="0">
                <a:solidFill>
                  <a:srgbClr val="64748B"/>
                </a:solidFill>
                <a:latin typeface="Consolas"/>
                <a:cs typeface="Consolas"/>
                <a:ea typeface="Consolas"/>
              </a:rPr>
              <a:t>  customers</a:t>
            </a:r>
          </a:p>
        </p:txBody>
      </p:sp>
      <p:sp>
        <p:nvSpPr>
          <p:cNvPr id="11" name="Rounded Rectangle 10"/>
          <p:cNvSpPr/>
          <p:nvPr/>
        </p:nvSpPr>
        <p:spPr>
          <a:xfrm>
            <a:off x="10191826" y="1791843"/>
            <a:ext cx="1396365"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1世帯(契約者)= 1行</a:t>
            </a:r>
          </a:p>
        </p:txBody>
      </p:sp>
      <p:sp>
        <p:nvSpPr>
          <p:cNvPr id="12" name="TextBox 11"/>
          <p:cNvSpPr txBox="1"/>
          <p:nvPr/>
        </p:nvSpPr>
        <p:spPr>
          <a:xfrm>
            <a:off x="658368" y="2066162"/>
            <a:ext cx="10874959" cy="7200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取込元・取込元ID / 氏名・姓・名・姓かな・名かな / メール / 電話 / 住所(市区町村・以降の住所) / 駐車場所(エリア・詳細) / 緊急連絡先・続柄 / 避難場所 / メモ / 福利厚生の会員ID / 第2の住所と、その利用開始日・終了日 / 緯度・経度・元の表記 / 会員区分 / 会員状態 / 支払方法 / 支払状態 / 性別 / 年代 / 生年月日(日付・元の表記) / 登録日時 / 取込元の最終更新日時 / 退会日時</a:t>
            </a:r>
          </a:p>
        </p:txBody>
      </p:sp>
      <p:sp>
        <p:nvSpPr>
          <p:cNvPr id="13" name="Rounded Rectangle 12"/>
          <p:cNvSpPr/>
          <p:nvPr/>
        </p:nvSpPr>
        <p:spPr>
          <a:xfrm>
            <a:off x="457200" y="2987420"/>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987420"/>
            <a:ext cx="68580" cy="9311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060572"/>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世帯構成員</a:t>
            </a:r>
            <a:r>
              <a:rPr sz="950" b="0" i="0">
                <a:solidFill>
                  <a:srgbClr val="64748B"/>
                </a:solidFill>
                <a:latin typeface="Consolas"/>
                <a:cs typeface="Consolas"/>
                <a:ea typeface="Consolas"/>
              </a:rPr>
              <a:t>  family_members</a:t>
            </a:r>
          </a:p>
        </p:txBody>
      </p:sp>
      <p:sp>
        <p:nvSpPr>
          <p:cNvPr id="16" name="Rounded Rectangle 15"/>
          <p:cNvSpPr/>
          <p:nvPr/>
        </p:nvSpPr>
        <p:spPr>
          <a:xfrm>
            <a:off x="10137533" y="3060572"/>
            <a:ext cx="145065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お子様など1人 = 1行</a:t>
            </a:r>
          </a:p>
        </p:txBody>
      </p:sp>
      <p:sp>
        <p:nvSpPr>
          <p:cNvPr id="17" name="TextBox 16"/>
          <p:cNvSpPr txBox="1"/>
          <p:nvPr/>
        </p:nvSpPr>
        <p:spPr>
          <a:xfrm>
            <a:off x="658368" y="3334892"/>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どの顧客の世帯か / 氏名 / 生年月日(日付・元の表記) / 付帯情報(自由記述) / アレルギーの状態(未確認・なし・あり) / アレルギーの内容(品目・症状・対応)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第3章 顧客と世帯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14</a:t>
            </a:r>
          </a:p>
        </p:txBody>
      </p:sp>
      <p:sp>
        <p:nvSpPr>
          <p:cNvPr id="7" name="Rounded Rectangle 6"/>
          <p:cNvSpPr/>
          <p:nvPr/>
        </p:nvSpPr>
        <p:spPr>
          <a:xfrm>
            <a:off x="457200" y="1115568"/>
            <a:ext cx="5547207" cy="378688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378688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3283966"/>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予約システム(RESERVA)のCSVを何度取り込んでも、同じ顧客が二重に増えない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生年月日は「日付」と「元の書き方」を別々に持つ。集計は日付側、原本確認は元の表記側</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緯度・経度は数値で持ち、地球上にありえない値は登録できない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退会しても行は消さず、退会日時を入れる(過去の日報・請求から顧客が消えない)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アレルギーは「未確認」「なし」「あり」を区別する。聞けていないだけの状態を「なし」と表示しない(現行システムは空欄を「なし」と出しており、区別できなかった)</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「あり」にするときは内容が必ず入る(「あり」だけでは訪問前の確認に使えないため)</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CSVを再取込しても、聞き取り済みのアレルギーは消えない(氏名で引き継ぐ)</a:t>
            </a:r>
          </a:p>
        </p:txBody>
      </p:sp>
      <p:sp>
        <p:nvSpPr>
          <p:cNvPr id="11" name="Rounded Rectangle 10"/>
          <p:cNvSpPr/>
          <p:nvPr/>
        </p:nvSpPr>
        <p:spPr>
          <a:xfrm>
            <a:off x="6187287" y="1115568"/>
            <a:ext cx="5547207" cy="3786886"/>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378688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3283966"/>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生年月日はCSVに列が無いため、カルテ画面からの手入力で入る想定(再取込では上書きしない)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会員区分・会員状態・支払方法・支払状態に入る値の一覧が未確定</a:t>
            </a:r>
          </a:p>
        </p:txBody>
      </p:sp>
      <p:sp>
        <p:nvSpPr>
          <p:cNvPr id="15" name="TextBox 14"/>
          <p:cNvSpPr txBox="1"/>
          <p:nvPr/>
        </p:nvSpPr>
        <p:spPr>
          <a:xfrm>
            <a:off x="457200" y="5085334"/>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5414518"/>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5487670"/>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550595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顧客に必要な項目で、この一覧に無いものはありませんか(住居形態、エレベーターの有無、ペット、鍵の受け渡し方法 など)</a:t>
            </a:r>
          </a:p>
        </p:txBody>
      </p:sp>
      <p:sp>
        <p:nvSpPr>
          <p:cNvPr id="19" name="Rounded Rectangle 18"/>
          <p:cNvSpPr/>
          <p:nvPr/>
        </p:nvSpPr>
        <p:spPr>
          <a:xfrm>
            <a:off x="6187287" y="5414518"/>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5487670"/>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550595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保護者が2名いる世帯(共働き・別居・再婚など)をどう持つべきですか。現状は「顧客1行=代表者1名」です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第3章 顧客と世帯 — ご確認のお願い(続き)</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15</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8" name="Rounded Rectangle 7"/>
          <p:cNvSpPr/>
          <p:nvPr/>
        </p:nvSpPr>
        <p:spPr>
          <a:xfrm>
            <a:off x="457200" y="14447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48640" y="15179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10" name="TextBox 9"/>
          <p:cNvSpPr txBox="1"/>
          <p:nvPr/>
        </p:nvSpPr>
        <p:spPr>
          <a:xfrm>
            <a:off x="914400" y="153619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世帯構成員はお子様だけですか。祖父母・きょうだい・同居人を登録する運用はありますか</a:t>
            </a:r>
          </a:p>
        </p:txBody>
      </p:sp>
      <p:sp>
        <p:nvSpPr>
          <p:cNvPr id="11" name="Rounded Rectangle 10"/>
          <p:cNvSpPr/>
          <p:nvPr/>
        </p:nvSpPr>
        <p:spPr>
          <a:xfrm>
            <a:off x="6187287" y="1444752"/>
            <a:ext cx="5547207" cy="821435"/>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278727" y="15179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13" name="TextBox 12"/>
          <p:cNvSpPr txBox="1"/>
          <p:nvPr/>
        </p:nvSpPr>
        <p:spPr>
          <a:xfrm>
            <a:off x="6644487" y="1536192"/>
            <a:ext cx="4980279" cy="675131"/>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アレルギーの内容は自由記述で足りますか。品目を選択式(卵・乳・小麦・そば・落花生…)にすべきですか。エピペンの預かりや除去の程度も記録しますか</a:t>
            </a:r>
          </a:p>
        </p:txBody>
      </p:sp>
      <p:sp>
        <p:nvSpPr>
          <p:cNvPr id="14" name="Rounded Rectangle 13"/>
          <p:cNvSpPr/>
          <p:nvPr/>
        </p:nvSpPr>
        <p:spPr>
          <a:xfrm>
            <a:off x="457200" y="2169160"/>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48640" y="224231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16" name="TextBox 15"/>
          <p:cNvSpPr txBox="1"/>
          <p:nvPr/>
        </p:nvSpPr>
        <p:spPr>
          <a:xfrm>
            <a:off x="914400" y="2260600"/>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アレルギーを確認した日・確認した相手を残す必要はありますか(いまは内容の文章に書く形です)</a:t>
            </a:r>
          </a:p>
        </p:txBody>
      </p:sp>
      <p:sp>
        <p:nvSpPr>
          <p:cNvPr id="17" name="Rounded Rectangle 16"/>
          <p:cNvSpPr/>
          <p:nvPr/>
        </p:nvSpPr>
        <p:spPr>
          <a:xfrm>
            <a:off x="6187287" y="237591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278727" y="244906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19" name="TextBox 18"/>
          <p:cNvSpPr txBox="1"/>
          <p:nvPr/>
        </p:nvSpPr>
        <p:spPr>
          <a:xfrm>
            <a:off x="6644487" y="246735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転居の履歴を残す必要はありますか。現状は住所を上書きし、期間つきの第2住所を1つだけ持てます</a:t>
            </a:r>
          </a:p>
        </p:txBody>
      </p:sp>
      <p:sp>
        <p:nvSpPr>
          <p:cNvPr id="20" name="Rounded Rectangle 19"/>
          <p:cNvSpPr/>
          <p:nvPr/>
        </p:nvSpPr>
        <p:spPr>
          <a:xfrm>
            <a:off x="457200" y="2893568"/>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48640" y="2966720"/>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7</a:t>
            </a:r>
          </a:p>
        </p:txBody>
      </p:sp>
      <p:sp>
        <p:nvSpPr>
          <p:cNvPr id="22" name="TextBox 21"/>
          <p:cNvSpPr txBox="1"/>
          <p:nvPr/>
        </p:nvSpPr>
        <p:spPr>
          <a:xfrm>
            <a:off x="914400" y="2985008"/>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緊急連絡先は1件で足りますか(第2連絡先、勤務先、かかりつけ医 など)</a:t>
            </a:r>
          </a:p>
        </p:txBody>
      </p:sp>
      <p:sp>
        <p:nvSpPr>
          <p:cNvPr id="23" name="Rounded Rectangle 22"/>
          <p:cNvSpPr/>
          <p:nvPr/>
        </p:nvSpPr>
        <p:spPr>
          <a:xfrm>
            <a:off x="6187287" y="3100324"/>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278727" y="317347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8</a:t>
            </a:r>
          </a:p>
        </p:txBody>
      </p:sp>
      <p:sp>
        <p:nvSpPr>
          <p:cNvPr id="25" name="TextBox 24"/>
          <p:cNvSpPr txBox="1"/>
          <p:nvPr/>
        </p:nvSpPr>
        <p:spPr>
          <a:xfrm>
            <a:off x="6644487" y="319176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会員区分・会員状態・支払方法・支払状態それぞれに、実際に使う選択肢を挙げてください</a:t>
            </a:r>
          </a:p>
        </p:txBody>
      </p:sp>
      <p:sp>
        <p:nvSpPr>
          <p:cNvPr id="26" name="Rounded Rectangle 25"/>
          <p:cNvSpPr/>
          <p:nvPr/>
        </p:nvSpPr>
        <p:spPr>
          <a:xfrm>
            <a:off x="457200" y="3411220"/>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48640" y="348437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9</a:t>
            </a:r>
          </a:p>
        </p:txBody>
      </p:sp>
      <p:sp>
        <p:nvSpPr>
          <p:cNvPr id="28" name="TextBox 27"/>
          <p:cNvSpPr txBox="1"/>
          <p:nvPr/>
        </p:nvSpPr>
        <p:spPr>
          <a:xfrm>
            <a:off x="914400" y="3502660"/>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退会したお客様の情報は、いつまで残す約束になっていますか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第4章 スタッフ</a:t>
            </a:r>
            <a:r>
              <a:rPr sz="1250" b="0" i="0">
                <a:solidFill>
                  <a:srgbClr val="64748B"/>
                </a:solidFill>
                <a:latin typeface="Meiryo"/>
                <a:cs typeface="Meiryo"/>
                <a:ea typeface="Meiryo"/>
              </a:rPr>
              <a:t>   シッターと事務。ログインする人の情報でもある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16</a:t>
            </a:r>
          </a:p>
        </p:txBody>
      </p:sp>
      <p:sp>
        <p:nvSpPr>
          <p:cNvPr id="7" name="TextBox 6"/>
          <p:cNvSpPr txBox="1"/>
          <p:nvPr/>
        </p:nvSpPr>
        <p:spPr>
          <a:xfrm>
            <a:off x="475488" y="1115568"/>
            <a:ext cx="10820095" cy="493395"/>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スタッフは「業務上の人」であると同時に「システムにログインする人」です。1人1行で、認証まわりの情報も同じ行に持ちます。</a:t>
            </a:r>
          </a:p>
        </p:txBody>
      </p:sp>
      <p:sp>
        <p:nvSpPr>
          <p:cNvPr id="8" name="Rounded Rectangle 7"/>
          <p:cNvSpPr/>
          <p:nvPr/>
        </p:nvSpPr>
        <p:spPr>
          <a:xfrm>
            <a:off x="457200" y="1718690"/>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718690"/>
            <a:ext cx="68580" cy="9311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91843"/>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スタッフ</a:t>
            </a:r>
            <a:r>
              <a:rPr sz="950" b="0" i="0">
                <a:solidFill>
                  <a:srgbClr val="64748B"/>
                </a:solidFill>
                <a:latin typeface="Consolas"/>
                <a:cs typeface="Consolas"/>
                <a:ea typeface="Consolas"/>
              </a:rPr>
              <a:t>  staff</a:t>
            </a:r>
          </a:p>
        </p:txBody>
      </p:sp>
      <p:sp>
        <p:nvSpPr>
          <p:cNvPr id="11" name="Rounded Rectangle 10"/>
          <p:cNvSpPr/>
          <p:nvPr/>
        </p:nvSpPr>
        <p:spPr>
          <a:xfrm>
            <a:off x="10740783" y="1791843"/>
            <a:ext cx="847407"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1人 = 1行</a:t>
            </a:r>
          </a:p>
        </p:txBody>
      </p:sp>
      <p:sp>
        <p:nvSpPr>
          <p:cNvPr id="12" name="TextBox 11"/>
          <p:cNvSpPr txBox="1"/>
          <p:nvPr/>
        </p:nvSpPr>
        <p:spPr>
          <a:xfrm>
            <a:off x="658368" y="2066162"/>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氏名 / メール(ログインID) / 電話 / 管理者かどうか / 退職日 / パスワード(復元できない形に変換して保存) / 旧システムのパスワード / 次回ログイン時にパスワード変更が必要か / ログイン失敗回数 / ロック解除の時刻 / 自宅住所 / 自宅の緯度・経度 / 希望する移動手段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第4章 スタッフ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17</a:t>
            </a:r>
          </a:p>
        </p:txBody>
      </p:sp>
      <p:sp>
        <p:nvSpPr>
          <p:cNvPr id="7" name="Rounded Rectangle 6"/>
          <p:cNvSpPr/>
          <p:nvPr/>
        </p:nvSpPr>
        <p:spPr>
          <a:xfrm>
            <a:off x="457200"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707769"/>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パスワードは元に戻せない形に変換して保存する。管理者でも本人のパスワードは見られない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ログインを続けて失敗するとロックがかかる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退職しても行は消さず退職日を入れる(過去の日報・勤怠からスタッフが消えない)</a:t>
            </a:r>
          </a:p>
        </p:txBody>
      </p:sp>
      <p:sp>
        <p:nvSpPr>
          <p:cNvPr id="11" name="Rounded Rectangle 10"/>
          <p:cNvSpPr/>
          <p:nvPr/>
        </p:nvSpPr>
        <p:spPr>
          <a:xfrm>
            <a:off x="6187287"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70776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自宅住所・緯度経度は訪問割当の最適化に使うために持っている項目</a:t>
            </a:r>
          </a:p>
        </p:txBody>
      </p:sp>
      <p:sp>
        <p:nvSpPr>
          <p:cNvPr id="15" name="TextBox 14"/>
          <p:cNvSpPr txBox="1"/>
          <p:nvPr/>
        </p:nvSpPr>
        <p:spPr>
          <a:xfrm>
            <a:off x="457200" y="3006217"/>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335401"/>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42684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雇用形態(正社員・パート・登録シッター など)の区別は必要ですか。現状は「管理者かどうか」だけです</a:t>
            </a:r>
          </a:p>
        </p:txBody>
      </p:sp>
      <p:sp>
        <p:nvSpPr>
          <p:cNvPr id="19" name="Rounded Rectangle 18"/>
          <p:cNvSpPr/>
          <p:nvPr/>
        </p:nvSpPr>
        <p:spPr>
          <a:xfrm>
            <a:off x="6187287" y="3335401"/>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42684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資格(保育士・看護師・研修修了 など)はどこで管理しますか。現状は第12章の「特性」で持つ想定です</a:t>
            </a:r>
          </a:p>
        </p:txBody>
      </p:sp>
      <p:sp>
        <p:nvSpPr>
          <p:cNvPr id="22" name="Rounded Rectangle 21"/>
          <p:cNvSpPr/>
          <p:nvPr/>
        </p:nvSpPr>
        <p:spPr>
          <a:xfrm>
            <a:off x="457200" y="40598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41329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415124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時給・給与区分・交通費の支給条件など、給与に関わる情報は誰がどこで持っていますか</a:t>
            </a:r>
          </a:p>
        </p:txBody>
      </p:sp>
      <p:sp>
        <p:nvSpPr>
          <p:cNvPr id="25" name="Rounded Rectangle 24"/>
          <p:cNvSpPr/>
          <p:nvPr/>
        </p:nvSpPr>
        <p:spPr>
          <a:xfrm>
            <a:off x="6187287" y="40598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41329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415124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担当エリア、対応可能な曜日・時間帯はどこで管理しますか(受付枠は第6章にあります)</a:t>
            </a:r>
          </a:p>
        </p:txBody>
      </p:sp>
      <p:sp>
        <p:nvSpPr>
          <p:cNvPr id="28" name="Rounded Rectangle 27"/>
          <p:cNvSpPr/>
          <p:nvPr/>
        </p:nvSpPr>
        <p:spPr>
          <a:xfrm>
            <a:off x="457200" y="4784217"/>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48640"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914400" y="4875657"/>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入社日・研修履歴・保険加入状況などを残す必要はありますか</a:t>
            </a:r>
          </a:p>
        </p:txBody>
      </p:sp>
      <p:sp>
        <p:nvSpPr>
          <p:cNvPr id="31" name="Rounded Rectangle 30"/>
          <p:cNvSpPr/>
          <p:nvPr/>
        </p:nvSpPr>
        <p:spPr>
          <a:xfrm>
            <a:off x="6187287" y="4784217"/>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6644487" y="4875657"/>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スタッフ本人の緊急連絡先は必要ですか</a:t>
            </a:r>
          </a:p>
        </p:txBody>
      </p:sp>
      <p:sp>
        <p:nvSpPr>
          <p:cNvPr id="34" name="Rounded Rectangle 33"/>
          <p:cNvSpPr/>
          <p:nvPr/>
        </p:nvSpPr>
        <p:spPr>
          <a:xfrm>
            <a:off x="457200" y="530186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548640" y="537502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7</a:t>
            </a:r>
          </a:p>
        </p:txBody>
      </p:sp>
      <p:sp>
        <p:nvSpPr>
          <p:cNvPr id="36" name="TextBox 35"/>
          <p:cNvSpPr txBox="1"/>
          <p:nvPr/>
        </p:nvSpPr>
        <p:spPr>
          <a:xfrm>
            <a:off x="914400" y="5393309"/>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退職者のログインはいつ止めますか。退職日が入ると自動で止まるべきですか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第5章 顧客カルテ</a:t>
            </a:r>
            <a:r>
              <a:rPr sz="1250" b="0" i="0">
                <a:solidFill>
                  <a:srgbClr val="64748B"/>
                </a:solidFill>
                <a:latin typeface="Meiryo"/>
                <a:cs typeface="Meiryo"/>
                <a:ea typeface="Meiryo"/>
              </a:rPr>
              <a:t>   訪問前に必ず目を通す、そのお宅ごとの申し送り</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18</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鍵の場所・駐車の仕方・アレルギー・前回からの引き継ぎなど、「そのお宅に行く人が事前に知っておくべきこと」を1件1行で積み上げます。写真も添付できます。</a:t>
            </a:r>
          </a:p>
        </p:txBody>
      </p:sp>
      <p:sp>
        <p:nvSpPr>
          <p:cNvPr id="8" name="Rounded Rectangle 7"/>
          <p:cNvSpPr/>
          <p:nvPr/>
        </p:nvSpPr>
        <p:spPr>
          <a:xfrm>
            <a:off x="457200" y="193776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931164"/>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BE185D"/>
                </a:solidFill>
                <a:latin typeface="Meiryo"/>
                <a:cs typeface="Meiryo"/>
                <a:ea typeface="Meiryo"/>
              </a:rPr>
              <a:t>カルテ記載</a:t>
            </a:r>
            <a:r>
              <a:rPr sz="950" b="0" i="0">
                <a:solidFill>
                  <a:srgbClr val="64748B"/>
                </a:solidFill>
                <a:latin typeface="Consolas"/>
                <a:cs typeface="Consolas"/>
                <a:ea typeface="Consolas"/>
              </a:rPr>
              <a:t>  customer_notes</a:t>
            </a:r>
          </a:p>
        </p:txBody>
      </p:sp>
      <p:sp>
        <p:nvSpPr>
          <p:cNvPr id="11" name="Rounded Rectangle 10"/>
          <p:cNvSpPr/>
          <p:nvPr/>
        </p:nvSpPr>
        <p:spPr>
          <a:xfrm>
            <a:off x="10499483" y="2010918"/>
            <a:ext cx="1088707" cy="237744"/>
          </a:xfrm>
          <a:prstGeom prst="roundRect">
            <a:avLst>
              <a:gd name="adj" fmla="val 50000"/>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E185D"/>
                </a:solidFill>
                <a:latin typeface="Meiryo"/>
                <a:cs typeface="Meiryo"/>
                <a:ea typeface="Meiryo"/>
              </a:rPr>
              <a:t>記載1件 = 1行</a:t>
            </a:r>
          </a:p>
        </p:txBody>
      </p:sp>
      <p:sp>
        <p:nvSpPr>
          <p:cNvPr id="12" name="TextBox 11"/>
          <p:cNvSpPr txBox="1"/>
          <p:nvPr/>
        </p:nvSpPr>
        <p:spPr>
          <a:xfrm>
            <a:off x="658368" y="228523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どの顧客か / 書いた人 / 区分(カルテ・申し送り・鍵の位置・ガレージ場所・引き継ぎ事項・注意点・その他) / 表題 / 本文 / 一覧の上部に固定するか / 対応済みにした日時 / 対応済みにした人</a:t>
            </a:r>
          </a:p>
        </p:txBody>
      </p:sp>
      <p:sp>
        <p:nvSpPr>
          <p:cNvPr id="13" name="Rounded Rectangle 12"/>
          <p:cNvSpPr/>
          <p:nvPr/>
        </p:nvSpPr>
        <p:spPr>
          <a:xfrm>
            <a:off x="457200" y="299694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996946"/>
            <a:ext cx="68580" cy="72161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070098"/>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カルテ写真</a:t>
            </a:r>
            <a:r>
              <a:rPr sz="950" b="0" i="0">
                <a:solidFill>
                  <a:srgbClr val="64748B"/>
                </a:solidFill>
                <a:latin typeface="Consolas"/>
                <a:cs typeface="Consolas"/>
                <a:ea typeface="Consolas"/>
              </a:rPr>
              <a:t>  customer_note_photos</a:t>
            </a:r>
          </a:p>
        </p:txBody>
      </p:sp>
      <p:sp>
        <p:nvSpPr>
          <p:cNvPr id="16" name="Rounded Rectangle 15"/>
          <p:cNvSpPr/>
          <p:nvPr/>
        </p:nvSpPr>
        <p:spPr>
          <a:xfrm>
            <a:off x="10499483" y="3070098"/>
            <a:ext cx="108870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写真1枚 = 1行</a:t>
            </a:r>
          </a:p>
        </p:txBody>
      </p:sp>
      <p:sp>
        <p:nvSpPr>
          <p:cNvPr id="17" name="TextBox 16"/>
          <p:cNvSpPr txBox="1"/>
          <p:nvPr/>
        </p:nvSpPr>
        <p:spPr>
          <a:xfrm>
            <a:off x="658368" y="334441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どの記載への添付か / アップロードした人 / 画像の保存先キー / 画像の種類 / ファイルサイズ / キャプション / 表示順 / 撮影日時</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第5章 顧客カルテ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19</a:t>
            </a:r>
          </a:p>
        </p:txBody>
      </p:sp>
      <p:sp>
        <p:nvSpPr>
          <p:cNvPr id="7" name="Rounded Rectangle 6"/>
          <p:cNvSpPr/>
          <p:nvPr/>
        </p:nvSpPr>
        <p:spPr>
          <a:xfrm>
            <a:off x="457200"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707769"/>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「対応済みの日時」と「対応済みにした人」は必ず両方そろって入る(片方だけの行は作れない)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上部に固定した記載は一覧の先頭に出る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写真の実体は画像保管サービスに置き、データベースには置き場所だけを持つ</a:t>
            </a:r>
          </a:p>
        </p:txBody>
      </p:sp>
      <p:sp>
        <p:nvSpPr>
          <p:cNvPr id="11" name="Rounded Rectangle 10"/>
          <p:cNvSpPr/>
          <p:nvPr/>
        </p:nvSpPr>
        <p:spPr>
          <a:xfrm>
            <a:off x="6187287"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70776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写真を画面で表示する仕組み(閲覧できる人の制限、表示用URLの有効期限)は未実装</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経過記録(カルテ)は訪問のたびに増えるため、件数が他の区分より桁違いに多くなる見込み</a:t>
            </a:r>
          </a:p>
        </p:txBody>
      </p:sp>
      <p:sp>
        <p:nvSpPr>
          <p:cNvPr id="15" name="TextBox 14"/>
          <p:cNvSpPr txBox="1"/>
          <p:nvPr/>
        </p:nvSpPr>
        <p:spPr>
          <a:xfrm>
            <a:off x="457200" y="3006217"/>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335401"/>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42684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区分はこの7つで足りますか(カルテ・申し送り・鍵の位置・ガレージ場所・引き継ぎ事項・注意点・その他)</a:t>
            </a:r>
          </a:p>
        </p:txBody>
      </p:sp>
      <p:sp>
        <p:nvSpPr>
          <p:cNvPr id="19" name="Rounded Rectangle 18"/>
          <p:cNvSpPr/>
          <p:nvPr/>
        </p:nvSpPr>
        <p:spPr>
          <a:xfrm>
            <a:off x="6187287" y="3335401"/>
            <a:ext cx="5547207" cy="821435"/>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426841"/>
            <a:ext cx="4980279" cy="675131"/>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アレルギーは第3章の世帯構成員に専用の項目があります。持病・服薬・かかりつけ医は「注意点」に文章で書く形でよいですか。項目として独立させるべきですか</a:t>
            </a:r>
          </a:p>
        </p:txBody>
      </p:sp>
      <p:sp>
        <p:nvSpPr>
          <p:cNvPr id="22" name="Rounded Rectangle 21"/>
          <p:cNvSpPr/>
          <p:nvPr/>
        </p:nvSpPr>
        <p:spPr>
          <a:xfrm>
            <a:off x="457200" y="40598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41329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415124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「対応済み」にできるのは誰ですか。管理者だけですか、書いた本人もできますか</a:t>
            </a:r>
          </a:p>
        </p:txBody>
      </p:sp>
      <p:sp>
        <p:nvSpPr>
          <p:cNvPr id="25" name="Rounded Rectangle 24"/>
          <p:cNvSpPr/>
          <p:nvPr/>
        </p:nvSpPr>
        <p:spPr>
          <a:xfrm>
            <a:off x="6187287" y="4266565"/>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4339717"/>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435800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訪問前に必ず確認したことを記録に残す必要はありますか(確認漏れの証跡)</a:t>
            </a:r>
          </a:p>
        </p:txBody>
      </p:sp>
      <p:sp>
        <p:nvSpPr>
          <p:cNvPr id="28" name="Rounded Rectangle 27"/>
          <p:cNvSpPr/>
          <p:nvPr/>
        </p:nvSpPr>
        <p:spPr>
          <a:xfrm>
            <a:off x="457200" y="4784217"/>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48640"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914400" y="4875657"/>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カルテの内容をお客様にお見せすることはありますか。見せてよい記載と社内限定の記載を分けるべきですか</a:t>
            </a:r>
          </a:p>
        </p:txBody>
      </p:sp>
      <p:sp>
        <p:nvSpPr>
          <p:cNvPr id="31" name="Rounded Rectangle 30"/>
          <p:cNvSpPr/>
          <p:nvPr/>
        </p:nvSpPr>
        <p:spPr>
          <a:xfrm>
            <a:off x="6187287" y="4990973"/>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5064125"/>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6644487" y="5082413"/>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写真はどれくらいの期間残しますか。鍵の位置の写真を残すことに問題はありませんか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第6章 予約</a:t>
            </a:r>
            <a:r>
              <a:rPr sz="1250" b="0" i="0">
                <a:solidFill>
                  <a:srgbClr val="64748B"/>
                </a:solidFill>
                <a:latin typeface="Meiryo"/>
                <a:cs typeface="Meiryo"/>
                <a:ea typeface="Meiryo"/>
              </a:rPr>
              <a:t>   「これから行く約束」— 実際に行った記録(日報)とは別に持つ</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20</a:t>
            </a:r>
          </a:p>
        </p:txBody>
      </p:sp>
      <p:sp>
        <p:nvSpPr>
          <p:cNvPr id="7" name="TextBox 6"/>
          <p:cNvSpPr txBox="1"/>
          <p:nvPr/>
        </p:nvSpPr>
        <p:spPr>
          <a:xfrm>
            <a:off x="475488" y="1115568"/>
            <a:ext cx="10820095" cy="493395"/>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予約は約束、日報は実績です。片方しか無い状態(予約なしの緊急訪問、キャンセルで日報が無い予約)が普通に起きるため、あえて分けています。</a:t>
            </a:r>
          </a:p>
        </p:txBody>
      </p:sp>
      <p:sp>
        <p:nvSpPr>
          <p:cNvPr id="8" name="Rounded Rectangle 7"/>
          <p:cNvSpPr/>
          <p:nvPr/>
        </p:nvSpPr>
        <p:spPr>
          <a:xfrm>
            <a:off x="457200" y="1718690"/>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718690"/>
            <a:ext cx="68580" cy="72161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91843"/>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サービスメニュー</a:t>
            </a:r>
            <a:r>
              <a:rPr sz="950" b="0" i="0">
                <a:solidFill>
                  <a:srgbClr val="64748B"/>
                </a:solidFill>
                <a:latin typeface="Consolas"/>
                <a:cs typeface="Consolas"/>
                <a:ea typeface="Consolas"/>
              </a:rPr>
              <a:t>  service_menus</a:t>
            </a:r>
          </a:p>
        </p:txBody>
      </p:sp>
      <p:sp>
        <p:nvSpPr>
          <p:cNvPr id="11" name="Rounded Rectangle 10"/>
          <p:cNvSpPr/>
          <p:nvPr/>
        </p:nvSpPr>
        <p:spPr>
          <a:xfrm>
            <a:off x="10258183" y="1791843"/>
            <a:ext cx="1330007"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メニュー1つ = 1行</a:t>
            </a:r>
          </a:p>
        </p:txBody>
      </p:sp>
      <p:sp>
        <p:nvSpPr>
          <p:cNvPr id="12" name="TextBox 11"/>
          <p:cNvSpPr txBox="1"/>
          <p:nvPr/>
        </p:nvSpPr>
        <p:spPr>
          <a:xfrm>
            <a:off x="658368" y="2066162"/>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コード / 名称 / 説明 / 標準の所要時間(分) / 基本料金(円) / 有効かどうか / 表示順 / 取込元・取込元ID</a:t>
            </a:r>
          </a:p>
        </p:txBody>
      </p:sp>
      <p:sp>
        <p:nvSpPr>
          <p:cNvPr id="13" name="Rounded Rectangle 12"/>
          <p:cNvSpPr/>
          <p:nvPr/>
        </p:nvSpPr>
        <p:spPr>
          <a:xfrm>
            <a:off x="457200" y="2568321"/>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568321"/>
            <a:ext cx="68580" cy="93116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641473"/>
            <a:ext cx="6705295" cy="256032"/>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予約</a:t>
            </a:r>
            <a:r>
              <a:rPr sz="950" b="0" i="0">
                <a:solidFill>
                  <a:srgbClr val="64748B"/>
                </a:solidFill>
                <a:latin typeface="Consolas"/>
                <a:cs typeface="Consolas"/>
                <a:ea typeface="Consolas"/>
              </a:rPr>
              <a:t>  reservations</a:t>
            </a:r>
          </a:p>
        </p:txBody>
      </p:sp>
      <p:sp>
        <p:nvSpPr>
          <p:cNvPr id="16" name="Rounded Rectangle 15"/>
          <p:cNvSpPr/>
          <p:nvPr/>
        </p:nvSpPr>
        <p:spPr>
          <a:xfrm>
            <a:off x="10499483" y="2641473"/>
            <a:ext cx="1088707" cy="237744"/>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予約1件 = 1行</a:t>
            </a:r>
          </a:p>
        </p:txBody>
      </p:sp>
      <p:sp>
        <p:nvSpPr>
          <p:cNvPr id="17" name="TextBox 16"/>
          <p:cNvSpPr txBox="1"/>
          <p:nvPr/>
        </p:nvSpPr>
        <p:spPr>
          <a:xfrm>
            <a:off x="658368" y="2915793"/>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どの顧客か / メニュー / 状態(申込・確定・実施済・キャンセル・無連絡不来訪) / 受付経路(RESERVA・Web・電話・管理者) / 開始日時 / 終了日時 / 人数 / 訪問先住所の上書き / ご要望 / 社内メモ / 確定日時 / 実施日時 / キャンセル日時・理由 / 取込元・取込元ID / 登録したスタッフ</a:t>
            </a:r>
          </a:p>
        </p:txBody>
      </p:sp>
      <p:sp>
        <p:nvSpPr>
          <p:cNvPr id="18" name="Rounded Rectangle 17"/>
          <p:cNvSpPr/>
          <p:nvPr/>
        </p:nvSpPr>
        <p:spPr>
          <a:xfrm>
            <a:off x="457200" y="3627500"/>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627500"/>
            <a:ext cx="68580" cy="72161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700653"/>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スタッフ割当</a:t>
            </a:r>
            <a:r>
              <a:rPr sz="950" b="0" i="0">
                <a:solidFill>
                  <a:srgbClr val="64748B"/>
                </a:solidFill>
                <a:latin typeface="Consolas"/>
                <a:cs typeface="Consolas"/>
                <a:ea typeface="Consolas"/>
              </a:rPr>
              <a:t>  reservation_assignments</a:t>
            </a:r>
          </a:p>
        </p:txBody>
      </p:sp>
      <p:sp>
        <p:nvSpPr>
          <p:cNvPr id="21" name="Rounded Rectangle 20"/>
          <p:cNvSpPr/>
          <p:nvPr/>
        </p:nvSpPr>
        <p:spPr>
          <a:xfrm>
            <a:off x="10137533" y="3700653"/>
            <a:ext cx="1450657"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予約×スタッフ = 1行</a:t>
            </a:r>
          </a:p>
        </p:txBody>
      </p:sp>
      <p:sp>
        <p:nvSpPr>
          <p:cNvPr id="22" name="TextBox 21"/>
          <p:cNvSpPr txBox="1"/>
          <p:nvPr/>
        </p:nvSpPr>
        <p:spPr>
          <a:xfrm>
            <a:off x="658368" y="3974972"/>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どの予約か / どのスタッフか / 役割(主担当・同行) / 割当日時 / 解除日時</a:t>
            </a:r>
          </a:p>
        </p:txBody>
      </p:sp>
      <p:sp>
        <p:nvSpPr>
          <p:cNvPr id="23" name="Rounded Rectangle 22"/>
          <p:cNvSpPr/>
          <p:nvPr/>
        </p:nvSpPr>
        <p:spPr>
          <a:xfrm>
            <a:off x="457200" y="4477131"/>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477131"/>
            <a:ext cx="68580" cy="72161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550283"/>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受付枠</a:t>
            </a:r>
            <a:r>
              <a:rPr sz="950" b="0" i="0">
                <a:solidFill>
                  <a:srgbClr val="64748B"/>
                </a:solidFill>
                <a:latin typeface="Consolas"/>
                <a:cs typeface="Consolas"/>
                <a:ea typeface="Consolas"/>
              </a:rPr>
              <a:t>  staff_availabilities</a:t>
            </a:r>
          </a:p>
        </p:txBody>
      </p:sp>
      <p:sp>
        <p:nvSpPr>
          <p:cNvPr id="26" name="Rounded Rectangle 25"/>
          <p:cNvSpPr/>
          <p:nvPr/>
        </p:nvSpPr>
        <p:spPr>
          <a:xfrm>
            <a:off x="10620133" y="4550283"/>
            <a:ext cx="96805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枠1つ = 1行</a:t>
            </a:r>
          </a:p>
        </p:txBody>
      </p:sp>
      <p:sp>
        <p:nvSpPr>
          <p:cNvPr id="27" name="TextBox 26"/>
          <p:cNvSpPr txBox="1"/>
          <p:nvPr/>
        </p:nvSpPr>
        <p:spPr>
          <a:xfrm>
            <a:off x="658368" y="4824603"/>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どのスタッフか / 種別(受付可・受付不可) / 曜日 または 特定の日付 / 開始時刻 / 終了時刻 / 備考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第6章 予約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21</a:t>
            </a:r>
          </a:p>
        </p:txBody>
      </p:sp>
      <p:sp>
        <p:nvSpPr>
          <p:cNvPr id="7" name="Rounded Rectangle 6"/>
          <p:cNvSpPr/>
          <p:nvPr/>
        </p:nvSpPr>
        <p:spPr>
          <a:xfrm>
            <a:off x="457200" y="1115568"/>
            <a:ext cx="5547207" cy="2646045"/>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2646045"/>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2143125"/>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1つの予約に主担当は1人まで。同行は人数制限なし(列を増やさずに何人でも足せる形)</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キャンセル・無連絡不来訪にしたのにキャンセル日時が空、という行は作れない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RESERVAから何度取り込んでも、同じ予約が二重に入らない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受付枠は「毎週火曜9-17時は可」に「今週の火曜だけ不可」を重ねられる。重なったら「不可」が勝つ</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1つの予約に日報が2件つくことはない(サービス提供分の二重請求を防ぐため)</a:t>
            </a:r>
          </a:p>
        </p:txBody>
      </p:sp>
      <p:sp>
        <p:nvSpPr>
          <p:cNvPr id="11" name="Rounded Rectangle 10"/>
          <p:cNvSpPr/>
          <p:nvPr/>
        </p:nvSpPr>
        <p:spPr>
          <a:xfrm>
            <a:off x="6187287" y="1115568"/>
            <a:ext cx="5547207" cy="2646045"/>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2646045"/>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2143125"/>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同じスタッフに時間が重なる予約を割り当てる操作を、システム側で止められていない(現状は画面で警告する想定。止め方を検討中)</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予約の画面・APIは未実装。現在は入れ物(データの形)だけがある状態</a:t>
            </a:r>
          </a:p>
        </p:txBody>
      </p:sp>
      <p:sp>
        <p:nvSpPr>
          <p:cNvPr id="15" name="TextBox 14"/>
          <p:cNvSpPr txBox="1"/>
          <p:nvPr/>
        </p:nvSpPr>
        <p:spPr>
          <a:xfrm>
            <a:off x="457200" y="3944493"/>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4273677"/>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434682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4365117"/>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状態はこの5つで足りますか(申込・確定・実施済・キャンセル・無連絡不来訪)。仮予約、日程変更待ち、当日延長などは必要ですか</a:t>
            </a:r>
          </a:p>
        </p:txBody>
      </p:sp>
      <p:sp>
        <p:nvSpPr>
          <p:cNvPr id="19" name="Rounded Rectangle 18"/>
          <p:cNvSpPr/>
          <p:nvPr/>
        </p:nvSpPr>
        <p:spPr>
          <a:xfrm>
            <a:off x="6187287" y="4273677"/>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434682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4365117"/>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キャンセル料の規定はありますか。現状、キャンセル料を記録する場所がありません</a:t>
            </a:r>
          </a:p>
        </p:txBody>
      </p:sp>
      <p:sp>
        <p:nvSpPr>
          <p:cNvPr id="22" name="Rounded Rectangle 21"/>
          <p:cNvSpPr/>
          <p:nvPr/>
        </p:nvSpPr>
        <p:spPr>
          <a:xfrm>
            <a:off x="457200" y="4998085"/>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5071237"/>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5089525"/>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当日の時間延長はどう記録しますか。予約を書き換えますか、日報の実績だけで持ちますか</a:t>
            </a:r>
          </a:p>
        </p:txBody>
      </p:sp>
      <p:sp>
        <p:nvSpPr>
          <p:cNvPr id="25" name="Rounded Rectangle 24"/>
          <p:cNvSpPr/>
          <p:nvPr/>
        </p:nvSpPr>
        <p:spPr>
          <a:xfrm>
            <a:off x="6187287" y="4998085"/>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5071237"/>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5089525"/>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1回の訪問で複数メニュー(保育＋家事など)を頼まれる運用はありますか。現状は予約1件にメニュー1つです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第6章 予約 — ご確認のお願い(続き)</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22</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8" name="Rounded Rectangle 7"/>
          <p:cNvSpPr/>
          <p:nvPr/>
        </p:nvSpPr>
        <p:spPr>
          <a:xfrm>
            <a:off x="457200" y="14447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48640" y="15179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10" name="TextBox 9"/>
          <p:cNvSpPr txBox="1"/>
          <p:nvPr/>
        </p:nvSpPr>
        <p:spPr>
          <a:xfrm>
            <a:off x="914400" y="153619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定期予約(毎週同じ曜日・時間)はどう登録する想定ですか。1件ずつ作りますか</a:t>
            </a:r>
          </a:p>
        </p:txBody>
      </p:sp>
      <p:sp>
        <p:nvSpPr>
          <p:cNvPr id="11" name="Rounded Rectangle 10"/>
          <p:cNvSpPr/>
          <p:nvPr/>
        </p:nvSpPr>
        <p:spPr>
          <a:xfrm>
            <a:off x="6187287" y="14447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278727" y="15179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13" name="TextBox 12"/>
          <p:cNvSpPr txBox="1"/>
          <p:nvPr/>
        </p:nvSpPr>
        <p:spPr>
          <a:xfrm>
            <a:off x="6644487" y="153619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同じスタッフの時間重複は、システムで絶対に止めるべきですか。警告だけ出して現場判断に任せてよいですか</a:t>
            </a:r>
          </a:p>
        </p:txBody>
      </p:sp>
      <p:sp>
        <p:nvSpPr>
          <p:cNvPr id="14" name="Rounded Rectangle 13"/>
          <p:cNvSpPr/>
          <p:nvPr/>
        </p:nvSpPr>
        <p:spPr>
          <a:xfrm>
            <a:off x="457200" y="2169160"/>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48640" y="224231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7</a:t>
            </a:r>
          </a:p>
        </p:txBody>
      </p:sp>
      <p:sp>
        <p:nvSpPr>
          <p:cNvPr id="16" name="TextBox 15"/>
          <p:cNvSpPr txBox="1"/>
          <p:nvPr/>
        </p:nvSpPr>
        <p:spPr>
          <a:xfrm>
            <a:off x="914400" y="2260600"/>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予約を受けてから確定するまでのフロー(誰が確定するか、締切は何日前か)を教えてください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第7章 訪問の記録(日報・事故報告)</a:t>
            </a:r>
            <a:r>
              <a:rPr sz="1250" b="0" i="0">
                <a:solidFill>
                  <a:srgbClr val="64748B"/>
                </a:solidFill>
                <a:latin typeface="Meiryo"/>
                <a:cs typeface="Meiryo"/>
                <a:ea typeface="Meiryo"/>
              </a:rPr>
              <a:t>   実際に行ったことの記録。請求のもとにもなる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23</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日報は1回の訪問につき1件。請求の「サービス提供分」はこの日報から起こします。事故・ヒヤリハットは別シートで、報告書の項目ごとに欄を分けて持ちます。</a:t>
            </a:r>
          </a:p>
        </p:txBody>
      </p:sp>
      <p:sp>
        <p:nvSpPr>
          <p:cNvPr id="8" name="Rounded Rectangle 7"/>
          <p:cNvSpPr/>
          <p:nvPr/>
        </p:nvSpPr>
        <p:spPr>
          <a:xfrm>
            <a:off x="457200" y="193776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93116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保育日報</a:t>
            </a:r>
            <a:r>
              <a:rPr sz="950" b="0" i="0">
                <a:solidFill>
                  <a:srgbClr val="64748B"/>
                </a:solidFill>
                <a:latin typeface="Consolas"/>
                <a:cs typeface="Consolas"/>
                <a:ea typeface="Consolas"/>
              </a:rPr>
              <a:t>  daily_reports</a:t>
            </a:r>
          </a:p>
        </p:txBody>
      </p:sp>
      <p:sp>
        <p:nvSpPr>
          <p:cNvPr id="11" name="Rounded Rectangle 10"/>
          <p:cNvSpPr/>
          <p:nvPr/>
        </p:nvSpPr>
        <p:spPr>
          <a:xfrm>
            <a:off x="10499483" y="2010918"/>
            <a:ext cx="1088707"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訪問1回 = 1行</a:t>
            </a:r>
          </a:p>
        </p:txBody>
      </p:sp>
      <p:sp>
        <p:nvSpPr>
          <p:cNvPr id="12" name="TextBox 11"/>
          <p:cNvSpPr txBox="1"/>
          <p:nvPr/>
        </p:nvSpPr>
        <p:spPr>
          <a:xfrm>
            <a:off x="658368" y="228523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担当スタッフ / 顧客 / 対応する予約(任意) / 実施日時 / 開始日時 / 終了日時 / リスク評価(PSI・5段階) / ES評価(5段階) / 入力内容 / 社内向けの記述 / お客様向けの記述</a:t>
            </a:r>
          </a:p>
        </p:txBody>
      </p:sp>
      <p:sp>
        <p:nvSpPr>
          <p:cNvPr id="13" name="Rounded Rectangle 12"/>
          <p:cNvSpPr/>
          <p:nvPr/>
        </p:nvSpPr>
        <p:spPr>
          <a:xfrm>
            <a:off x="457200" y="299694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996946"/>
            <a:ext cx="68580" cy="931164"/>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070098"/>
            <a:ext cx="6705295" cy="256032"/>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事故報告・ヒヤリハット</a:t>
            </a:r>
            <a:r>
              <a:rPr sz="950" b="0" i="0">
                <a:solidFill>
                  <a:srgbClr val="64748B"/>
                </a:solidFill>
                <a:latin typeface="Consolas"/>
                <a:cs typeface="Consolas"/>
                <a:ea typeface="Consolas"/>
              </a:rPr>
              <a:t>  accident_reports</a:t>
            </a:r>
          </a:p>
        </p:txBody>
      </p:sp>
      <p:sp>
        <p:nvSpPr>
          <p:cNvPr id="16" name="Rounded Rectangle 15"/>
          <p:cNvSpPr/>
          <p:nvPr/>
        </p:nvSpPr>
        <p:spPr>
          <a:xfrm>
            <a:off x="10499483" y="3070098"/>
            <a:ext cx="1088707" cy="237744"/>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91C1C"/>
                </a:solidFill>
                <a:latin typeface="Meiryo"/>
                <a:cs typeface="Meiryo"/>
                <a:ea typeface="Meiryo"/>
              </a:rPr>
              <a:t>報告1件 = 1行</a:t>
            </a:r>
          </a:p>
        </p:txBody>
      </p:sp>
      <p:sp>
        <p:nvSpPr>
          <p:cNvPr id="17" name="TextBox 16"/>
          <p:cNvSpPr txBox="1"/>
          <p:nvPr/>
        </p:nvSpPr>
        <p:spPr>
          <a:xfrm>
            <a:off x="658368" y="334441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担当スタッフ / 顧客 / 発生日 / 種別(事故・ヒヤリハット) / 対象児の氏名 / 対象児の生年月日(日付・元の表記) / 発生時刻 / 発生場所 / 事故の内容 / 発生時の状況 / 直後の対応 / 保護者への対応 / 診断・治療 / 再発防止策 / 入力内容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第7章 訪問の記録(日報・事故報告)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24</a:t>
            </a:r>
          </a:p>
        </p:txBody>
      </p:sp>
      <p:sp>
        <p:nvSpPr>
          <p:cNvPr id="7" name="Rounded Rectangle 6"/>
          <p:cNvSpPr/>
          <p:nvPr/>
        </p:nvSpPr>
        <p:spPr>
          <a:xfrm>
            <a:off x="457200"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707769"/>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日報は項目ごとに欄が分かれているため、「この欄だけ集計する」ができる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開始・終了は日付と時刻を持つ型で記録する。文字列ではないので勤務時間の計算が確実</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1つの予約に日報は1件まで</a:t>
            </a:r>
          </a:p>
        </p:txBody>
      </p:sp>
      <p:sp>
        <p:nvSpPr>
          <p:cNvPr id="11" name="Rounded Rectangle 10"/>
          <p:cNvSpPr/>
          <p:nvPr/>
        </p:nvSpPr>
        <p:spPr>
          <a:xfrm>
            <a:off x="6187287"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70776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事故報告の承認(誰が確認したか)を記録する場所が現状ありません</a:t>
            </a:r>
          </a:p>
        </p:txBody>
      </p:sp>
      <p:sp>
        <p:nvSpPr>
          <p:cNvPr id="15" name="TextBox 14"/>
          <p:cNvSpPr txBox="1"/>
          <p:nvPr/>
        </p:nvSpPr>
        <p:spPr>
          <a:xfrm>
            <a:off x="457200" y="3006217"/>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335401"/>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42684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日報の項目はこれで足りますか。食事・睡眠・排泄・体温・機嫌などを定型の欄として持つ必要はありますか(現状は自由記述に含まれます)</a:t>
            </a:r>
          </a:p>
        </p:txBody>
      </p:sp>
      <p:sp>
        <p:nvSpPr>
          <p:cNvPr id="19" name="Rounded Rectangle 18"/>
          <p:cNvSpPr/>
          <p:nvPr/>
        </p:nvSpPr>
        <p:spPr>
          <a:xfrm>
            <a:off x="6187287" y="3335401"/>
            <a:ext cx="5547207" cy="821435"/>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426841"/>
            <a:ext cx="4980279" cy="675131"/>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リスク評価(PSI)とES評価は、現行システムと同じ5段階の定義をそのまま使っています(5=安心・良好 〜 1=危険・緊急 / 5=最高 〜 1=NG)。この定義のままでよいですか</a:t>
            </a:r>
          </a:p>
        </p:txBody>
      </p:sp>
      <p:sp>
        <p:nvSpPr>
          <p:cNvPr id="22" name="Rounded Rectangle 21"/>
          <p:cNvSpPr/>
          <p:nvPr/>
        </p:nvSpPr>
        <p:spPr>
          <a:xfrm>
            <a:off x="457200" y="40598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41329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415124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事故報告の提出先・承認の流れを教えてください。「誰がいつ確認したか」を残す必要はありますか</a:t>
            </a:r>
          </a:p>
        </p:txBody>
      </p:sp>
      <p:sp>
        <p:nvSpPr>
          <p:cNvPr id="25" name="Rounded Rectangle 24"/>
          <p:cNvSpPr/>
          <p:nvPr/>
        </p:nvSpPr>
        <p:spPr>
          <a:xfrm>
            <a:off x="6187287" y="4266565"/>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4339717"/>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4358004"/>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保護者への説明・サインの記録は必要ですか</a:t>
            </a:r>
          </a:p>
        </p:txBody>
      </p:sp>
      <p:sp>
        <p:nvSpPr>
          <p:cNvPr id="28" name="Rounded Rectangle 27"/>
          <p:cNvSpPr/>
          <p:nvPr/>
        </p:nvSpPr>
        <p:spPr>
          <a:xfrm>
            <a:off x="6187287" y="4784216"/>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278727"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6644487" y="4875656"/>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日報のうち、お客様にお見せするのはどの欄ですか</a:t>
            </a:r>
          </a:p>
        </p:txBody>
      </p:sp>
      <p:sp>
        <p:nvSpPr>
          <p:cNvPr id="31" name="Rounded Rectangle 30"/>
          <p:cNvSpPr/>
          <p:nvPr/>
        </p:nvSpPr>
        <p:spPr>
          <a:xfrm>
            <a:off x="457200" y="4784217"/>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48640"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914400" y="4875657"/>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予約の無い緊急訪問はどれくらいありますか。日報だけが存在する形で問題ありませんか</a:t>
            </a:r>
          </a:p>
        </p:txBody>
      </p:sp>
      <p:sp>
        <p:nvSpPr>
          <p:cNvPr id="34" name="Rounded Rectangle 33"/>
          <p:cNvSpPr/>
          <p:nvPr/>
        </p:nvSpPr>
        <p:spPr>
          <a:xfrm>
            <a:off x="6187287" y="5301868"/>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278727" y="5375020"/>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7</a:t>
            </a:r>
          </a:p>
        </p:txBody>
      </p:sp>
      <p:sp>
        <p:nvSpPr>
          <p:cNvPr id="36" name="TextBox 35"/>
          <p:cNvSpPr txBox="1"/>
          <p:nvPr/>
        </p:nvSpPr>
        <p:spPr>
          <a:xfrm>
            <a:off x="6644487" y="539330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日報を後から訂正する運用はありますか。訂正前の内容を残す必要はありますか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第8章 領収書(実費の報告)</a:t>
            </a:r>
            <a:r>
              <a:rPr sz="1250" b="0" i="0">
                <a:solidFill>
                  <a:srgbClr val="64748B"/>
                </a:solidFill>
                <a:latin typeface="Meiryo"/>
                <a:cs typeface="Meiryo"/>
                <a:ea typeface="Meiryo"/>
              </a:rPr>
              <a:t>   スタッフが立て替えた実費。お客様への請求か会社経費かを分ける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25</a:t>
            </a:r>
          </a:p>
        </p:txBody>
      </p:sp>
      <p:sp>
        <p:nvSpPr>
          <p:cNvPr id="7" name="TextBox 6"/>
          <p:cNvSpPr txBox="1"/>
          <p:nvPr/>
        </p:nvSpPr>
        <p:spPr>
          <a:xfrm>
            <a:off x="475488" y="1115568"/>
            <a:ext cx="10820095" cy="493395"/>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スタッフが現場で立て替えた実費を、レシート画像つきで登録します。「お客様に請求する分」と「会社の経費」を必ず区別します。</a:t>
            </a:r>
          </a:p>
        </p:txBody>
      </p:sp>
      <p:sp>
        <p:nvSpPr>
          <p:cNvPr id="8" name="Rounded Rectangle 7"/>
          <p:cNvSpPr/>
          <p:nvPr/>
        </p:nvSpPr>
        <p:spPr>
          <a:xfrm>
            <a:off x="457200" y="1718690"/>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718690"/>
            <a:ext cx="68580" cy="9311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91843"/>
            <a:ext cx="6705295" cy="256032"/>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領収書</a:t>
            </a:r>
            <a:r>
              <a:rPr sz="950" b="0" i="0">
                <a:solidFill>
                  <a:srgbClr val="64748B"/>
                </a:solidFill>
                <a:latin typeface="Consolas"/>
                <a:cs typeface="Consolas"/>
                <a:ea typeface="Consolas"/>
              </a:rPr>
              <a:t>  receipts</a:t>
            </a:r>
          </a:p>
        </p:txBody>
      </p:sp>
      <p:sp>
        <p:nvSpPr>
          <p:cNvPr id="11" name="Rounded Rectangle 10"/>
          <p:cNvSpPr/>
          <p:nvPr/>
        </p:nvSpPr>
        <p:spPr>
          <a:xfrm>
            <a:off x="10258183" y="1791843"/>
            <a:ext cx="1330007" cy="23774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45309"/>
                </a:solidFill>
                <a:latin typeface="Meiryo"/>
                <a:cs typeface="Meiryo"/>
                <a:ea typeface="Meiryo"/>
              </a:rPr>
              <a:t>レシート1枚 = 1行</a:t>
            </a:r>
          </a:p>
        </p:txBody>
      </p:sp>
      <p:sp>
        <p:nvSpPr>
          <p:cNvPr id="12" name="TextBox 11"/>
          <p:cNvSpPr txBox="1"/>
          <p:nvPr/>
        </p:nvSpPr>
        <p:spPr>
          <a:xfrm>
            <a:off x="658368" y="2066162"/>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登録したスタッフ / 顧客(会社経費のみの場合は空) / 領収書の日時 / 重複判定キー / 金額(数値・元の表記) / 店名 / 引き渡しメモ / レシート画像の保存先キー・種類 / 請求区分(お客様請求・会社経費) / 取消日時・取消理由・取り消した人 / 取り消し可能な期限 / スプレッドシート送信の状態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第8章 領収書(実費の報告)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26</a:t>
            </a:r>
          </a:p>
        </p:txBody>
      </p:sp>
      <p:sp>
        <p:nvSpPr>
          <p:cNvPr id="7" name="Rounded Rectangle 6"/>
          <p:cNvSpPr/>
          <p:nvPr/>
        </p:nvSpPr>
        <p:spPr>
          <a:xfrm>
            <a:off x="457200" y="1115568"/>
            <a:ext cx="5547207" cy="2443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24434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940560"/>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請求区分の初期値は「会社経費」。選び忘れても、うっかりお客様に請求してしまう方には転ばない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顧客に紐づかない領収書(駐車場代など)は、お客様請求にできない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同じレシートを二重に登録しようとすると重複として検出する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訂正は「書き換え」ではなく「取り消して登録し直す」。取り消した行も消えずに残る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取り消せる期限は、締め日と猶予日数(法人ごとの設定)から自動で決まる</a:t>
            </a:r>
          </a:p>
        </p:txBody>
      </p:sp>
      <p:sp>
        <p:nvSpPr>
          <p:cNvPr id="11" name="Rounded Rectangle 10"/>
          <p:cNvSpPr/>
          <p:nvPr/>
        </p:nvSpPr>
        <p:spPr>
          <a:xfrm>
            <a:off x="6187287" y="1115568"/>
            <a:ext cx="5547207" cy="2443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24434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940560"/>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締め日・取り消し可能日数の実際の運用値が未確定(現在は設定できる形だけがある)</a:t>
            </a:r>
          </a:p>
        </p:txBody>
      </p:sp>
      <p:sp>
        <p:nvSpPr>
          <p:cNvPr id="15" name="TextBox 14"/>
          <p:cNvSpPr txBox="1"/>
          <p:nvPr/>
        </p:nvSpPr>
        <p:spPr>
          <a:xfrm>
            <a:off x="457200" y="3741928"/>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4071112"/>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414426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4162552"/>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締め日は毎月何日ですか。締め後、何日まで取り消しを認めますか</a:t>
            </a:r>
          </a:p>
        </p:txBody>
      </p:sp>
      <p:sp>
        <p:nvSpPr>
          <p:cNvPr id="19" name="Rounded Rectangle 18"/>
          <p:cNvSpPr/>
          <p:nvPr/>
        </p:nvSpPr>
        <p:spPr>
          <a:xfrm>
            <a:off x="6187287" y="407111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414426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416255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請求区分は2つで足りますか。経費の科目(交通費・物品・飲食 など)を分ける必要はありますか</a:t>
            </a:r>
          </a:p>
        </p:txBody>
      </p:sp>
      <p:sp>
        <p:nvSpPr>
          <p:cNvPr id="22" name="Rounded Rectangle 21"/>
          <p:cNvSpPr/>
          <p:nvPr/>
        </p:nvSpPr>
        <p:spPr>
          <a:xfrm>
            <a:off x="457200" y="4588764"/>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466191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468020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立替の上限金額や事前承認のルールはありますか。現状、承認の記録を持つ場所がありません</a:t>
            </a:r>
          </a:p>
        </p:txBody>
      </p:sp>
      <p:sp>
        <p:nvSpPr>
          <p:cNvPr id="25" name="Rounded Rectangle 24"/>
          <p:cNvSpPr/>
          <p:nvPr/>
        </p:nvSpPr>
        <p:spPr>
          <a:xfrm>
            <a:off x="6187287" y="4795520"/>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486867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4886960"/>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レシート画像はどれくらいの期間保存する必要がありますか(会計・税務の要件)</a:t>
            </a:r>
          </a:p>
        </p:txBody>
      </p:sp>
      <p:sp>
        <p:nvSpPr>
          <p:cNvPr id="28" name="Rounded Rectangle 27"/>
          <p:cNvSpPr/>
          <p:nvPr/>
        </p:nvSpPr>
        <p:spPr>
          <a:xfrm>
            <a:off x="457200" y="531317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48640" y="538632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914400" y="540461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同じ店・同じ金額の買い物が同日に2回あった場合、重複と誤判定されない運用になっていますか</a:t>
            </a:r>
          </a:p>
        </p:txBody>
      </p:sp>
      <p:sp>
        <p:nvSpPr>
          <p:cNvPr id="31" name="Rounded Rectangle 30"/>
          <p:cNvSpPr/>
          <p:nvPr/>
        </p:nvSpPr>
        <p:spPr>
          <a:xfrm>
            <a:off x="6187287" y="5519928"/>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5593080"/>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6644487" y="5611368"/>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取り消しは誰ができますか。本人だけですか、管理者だけですか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第9章 勤怠(出勤簿)</a:t>
            </a:r>
            <a:r>
              <a:rPr sz="1250" b="0" i="0">
                <a:solidFill>
                  <a:srgbClr val="64748B"/>
                </a:solidFill>
                <a:latin typeface="Meiryo"/>
                <a:cs typeface="Meiryo"/>
                <a:ea typeface="Meiryo"/>
              </a:rPr>
              <a:t>   給与計算のもと。現行システムと1円も違ってはいけない部分</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27</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1人1日を1行で持ちます。1日の中の訪問・事務作業・移動距離を、その1行の中にまとめて記録します。残業時間などの計算結果は保存せず、必要なときに計算します。</a:t>
            </a:r>
          </a:p>
        </p:txBody>
      </p:sp>
      <p:sp>
        <p:nvSpPr>
          <p:cNvPr id="8" name="Rounded Rectangle 7"/>
          <p:cNvSpPr/>
          <p:nvPr/>
        </p:nvSpPr>
        <p:spPr>
          <a:xfrm>
            <a:off x="457200" y="193776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72161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出勤簿</a:t>
            </a:r>
            <a:r>
              <a:rPr sz="950" b="0" i="0">
                <a:solidFill>
                  <a:srgbClr val="64748B"/>
                </a:solidFill>
                <a:latin typeface="Consolas"/>
                <a:cs typeface="Consolas"/>
                <a:ea typeface="Consolas"/>
              </a:rPr>
              <a:t>  attendance_days</a:t>
            </a:r>
          </a:p>
        </p:txBody>
      </p:sp>
      <p:sp>
        <p:nvSpPr>
          <p:cNvPr id="11" name="Rounded Rectangle 10"/>
          <p:cNvSpPr/>
          <p:nvPr/>
        </p:nvSpPr>
        <p:spPr>
          <a:xfrm>
            <a:off x="9950526" y="2010918"/>
            <a:ext cx="1637665"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スタッフ1人の1日 = 1行</a:t>
            </a:r>
          </a:p>
        </p:txBody>
      </p:sp>
      <p:sp>
        <p:nvSpPr>
          <p:cNvPr id="12" name="TextBox 11"/>
          <p:cNvSpPr txBox="1"/>
          <p:nvPr/>
        </p:nvSpPr>
        <p:spPr>
          <a:xfrm>
            <a:off x="658368" y="228523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スタッフ / 営業日 / 1日分の入力内容(下記)</a:t>
            </a:r>
          </a:p>
        </p:txBody>
      </p:sp>
      <p:sp>
        <p:nvSpPr>
          <p:cNvPr id="13" name="Rounded Rectangle 12"/>
          <p:cNvSpPr/>
          <p:nvPr/>
        </p:nvSpPr>
        <p:spPr>
          <a:xfrm>
            <a:off x="457200" y="278739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787396"/>
            <a:ext cx="68580" cy="9311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860548"/>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  └ 1日分の入力内容の中身</a:t>
            </a:r>
            <a:r>
              <a:rPr sz="950" b="0" i="0">
                <a:solidFill>
                  <a:srgbClr val="64748B"/>
                </a:solidFill>
                <a:latin typeface="Consolas"/>
                <a:cs typeface="Consolas"/>
                <a:ea typeface="Consolas"/>
              </a:rPr>
              <a:t>  row_data</a:t>
            </a:r>
          </a:p>
        </p:txBody>
      </p:sp>
      <p:sp>
        <p:nvSpPr>
          <p:cNvPr id="16" name="Rounded Rectangle 15"/>
          <p:cNvSpPr/>
          <p:nvPr/>
        </p:nvSpPr>
        <p:spPr>
          <a:xfrm>
            <a:off x="10161663" y="2860548"/>
            <a:ext cx="142652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出勤簿1行の中に入る</a:t>
            </a:r>
          </a:p>
        </p:txBody>
      </p:sp>
      <p:sp>
        <p:nvSpPr>
          <p:cNvPr id="17" name="TextBox 16"/>
          <p:cNvSpPr txBox="1"/>
          <p:nvPr/>
        </p:nvSpPr>
        <p:spPr>
          <a:xfrm>
            <a:off x="658368" y="313486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訪問(最大3件): 場所・開始・終了・移動後の天候・予定移動時間・移動距離 / 事務作業(最大2件): 名称・開始・終了 / 出勤距離(自宅→1件目) / 退勤距離(最終訪問→自宅) / 買物代行の件数 / 備考</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第9章 勤怠(出勤簿)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28</a:t>
            </a:r>
          </a:p>
        </p:txBody>
      </p:sp>
      <p:sp>
        <p:nvSpPr>
          <p:cNvPr id="7" name="Rounded Rectangle 6"/>
          <p:cNvSpPr/>
          <p:nvPr/>
        </p:nvSpPr>
        <p:spPr>
          <a:xfrm>
            <a:off x="457200" y="1115568"/>
            <a:ext cx="5547207" cy="1771777"/>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771777"/>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268857"/>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同じスタッフ・同じ営業日の出勤簿が2件できることはない(1人1日1行)</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残業時間などの計算結果は保存しない。計算式を直せば過去分も正しくなる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分・距離・件数は数値として持つ。マイナスの値は入らない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想定していない項目を送ろうとすると、黙って捨てずにエラーにする</a:t>
            </a:r>
          </a:p>
        </p:txBody>
      </p:sp>
      <p:sp>
        <p:nvSpPr>
          <p:cNvPr id="11" name="Rounded Rectangle 10"/>
          <p:cNvSpPr/>
          <p:nvPr/>
        </p:nvSpPr>
        <p:spPr>
          <a:xfrm>
            <a:off x="6187287" y="1115568"/>
            <a:ext cx="5547207" cy="1771777"/>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771777"/>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268857"/>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訪問3件・事務作業2件の上限は、現行システムの計算ロジックに合わせた現状の制限。4件以上に対応するには作りの変更が必要</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移動距離は、第13章の「移動区間」とも重なる。移行の段取りが未確定</a:t>
            </a:r>
          </a:p>
        </p:txBody>
      </p:sp>
      <p:sp>
        <p:nvSpPr>
          <p:cNvPr id="15" name="TextBox 14"/>
          <p:cNvSpPr txBox="1"/>
          <p:nvPr/>
        </p:nvSpPr>
        <p:spPr>
          <a:xfrm>
            <a:off x="457200" y="3070225"/>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3994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4725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490849"/>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1日に4件以上訪問する日はありますか。あるなら上限を外す作業が必要です</a:t>
            </a:r>
          </a:p>
        </p:txBody>
      </p:sp>
      <p:sp>
        <p:nvSpPr>
          <p:cNvPr id="19" name="Rounded Rectangle 18"/>
          <p:cNvSpPr/>
          <p:nvPr/>
        </p:nvSpPr>
        <p:spPr>
          <a:xfrm>
            <a:off x="6187287" y="3399409"/>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4725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490849"/>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休憩時間の記録が項目にありません。給与計算に必要ですか</a:t>
            </a:r>
          </a:p>
        </p:txBody>
      </p:sp>
      <p:sp>
        <p:nvSpPr>
          <p:cNvPr id="22" name="Rounded Rectangle 21"/>
          <p:cNvSpPr/>
          <p:nvPr/>
        </p:nvSpPr>
        <p:spPr>
          <a:xfrm>
            <a:off x="6187287" y="3917061"/>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278727" y="399021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6644487" y="4008501"/>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有給・欠勤・直行直帰・待機はどう記録していますか</a:t>
            </a:r>
          </a:p>
        </p:txBody>
      </p:sp>
      <p:sp>
        <p:nvSpPr>
          <p:cNvPr id="25" name="Rounded Rectangle 24"/>
          <p:cNvSpPr/>
          <p:nvPr/>
        </p:nvSpPr>
        <p:spPr>
          <a:xfrm>
            <a:off x="457200" y="4123817"/>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48640" y="41969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914400" y="4215257"/>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深夜・早朝・休日の割増はありますか。あるなら判定に必要な情報は揃っていますか</a:t>
            </a:r>
          </a:p>
        </p:txBody>
      </p:sp>
      <p:sp>
        <p:nvSpPr>
          <p:cNvPr id="28" name="Rounded Rectangle 27"/>
          <p:cNvSpPr/>
          <p:nvPr/>
        </p:nvSpPr>
        <p:spPr>
          <a:xfrm>
            <a:off x="6187287" y="4434713"/>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278727" y="4507865"/>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6644487" y="4526153"/>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「移動後の天候」は何に使う項目ですか。手当の判定に関係しますか</a:t>
            </a:r>
          </a:p>
        </p:txBody>
      </p:sp>
      <p:sp>
        <p:nvSpPr>
          <p:cNvPr id="31" name="Rounded Rectangle 30"/>
          <p:cNvSpPr/>
          <p:nvPr/>
        </p:nvSpPr>
        <p:spPr>
          <a:xfrm>
            <a:off x="457200" y="4848225"/>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48640" y="4921377"/>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914400" y="4939665"/>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出勤簿は誰が承認しますか。承認の記録を残す必要はありますか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第10章 割引クーポン</a:t>
            </a:r>
            <a:r>
              <a:rPr sz="1250" b="0" i="0">
                <a:solidFill>
                  <a:srgbClr val="64748B"/>
                </a:solidFill>
                <a:latin typeface="Meiryo"/>
                <a:cs typeface="Meiryo"/>
                <a:ea typeface="Meiryo"/>
              </a:rPr>
              <a:t>   誰に・いつ・何回使えるかを3つの設定で表す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29</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クーポンは「種別のマスタ」「誰に配ったか」「いつ使ったか」の3枚に分けて持ちます。過去に使った分の割引額は、後からマスタを変えても動きません。</a:t>
            </a:r>
          </a:p>
        </p:txBody>
      </p:sp>
      <p:sp>
        <p:nvSpPr>
          <p:cNvPr id="8" name="Rounded Rectangle 7"/>
          <p:cNvSpPr/>
          <p:nvPr/>
        </p:nvSpPr>
        <p:spPr>
          <a:xfrm>
            <a:off x="457200" y="193776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931164"/>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BE185D"/>
                </a:solidFill>
                <a:latin typeface="Meiryo"/>
                <a:cs typeface="Meiryo"/>
                <a:ea typeface="Meiryo"/>
              </a:rPr>
              <a:t>クーポン種別</a:t>
            </a:r>
            <a:r>
              <a:rPr sz="950" b="0" i="0">
                <a:solidFill>
                  <a:srgbClr val="64748B"/>
                </a:solidFill>
                <a:latin typeface="Consolas"/>
                <a:cs typeface="Consolas"/>
                <a:ea typeface="Consolas"/>
              </a:rPr>
              <a:t>  coupons</a:t>
            </a:r>
          </a:p>
        </p:txBody>
      </p:sp>
      <p:sp>
        <p:nvSpPr>
          <p:cNvPr id="11" name="Rounded Rectangle 10"/>
          <p:cNvSpPr/>
          <p:nvPr/>
        </p:nvSpPr>
        <p:spPr>
          <a:xfrm>
            <a:off x="10137533" y="2010918"/>
            <a:ext cx="1450657" cy="237744"/>
          </a:xfrm>
          <a:prstGeom prst="roundRect">
            <a:avLst>
              <a:gd name="adj" fmla="val 50000"/>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E185D"/>
                </a:solidFill>
                <a:latin typeface="Meiryo"/>
                <a:cs typeface="Meiryo"/>
                <a:ea typeface="Meiryo"/>
              </a:rPr>
              <a:t>クーポン1種類 = 1行</a:t>
            </a:r>
          </a:p>
        </p:txBody>
      </p:sp>
      <p:sp>
        <p:nvSpPr>
          <p:cNvPr id="12" name="TextBox 11"/>
          <p:cNvSpPr txBox="1"/>
          <p:nvPr/>
        </p:nvSpPr>
        <p:spPr>
          <a:xfrm>
            <a:off x="658368" y="228523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コード / 名称 / 割引方法(金額引き・率引き) / 割引額 または 割引率 / 有効期間(開始・終了) / 対象(全員・配布した人のみ) / 条件(手動・誕生月) / 誕生月の対象(顧客・世帯構成員・どちらでも) / 使用上限(無制限・1人1回・1人年1回) / 有効かどうか / 備考</a:t>
            </a:r>
          </a:p>
        </p:txBody>
      </p:sp>
      <p:sp>
        <p:nvSpPr>
          <p:cNvPr id="13" name="Rounded Rectangle 12"/>
          <p:cNvSpPr/>
          <p:nvPr/>
        </p:nvSpPr>
        <p:spPr>
          <a:xfrm>
            <a:off x="457200" y="299694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996946"/>
            <a:ext cx="68580" cy="72161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070098"/>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顧客への配布</a:t>
            </a:r>
            <a:r>
              <a:rPr sz="950" b="0" i="0">
                <a:solidFill>
                  <a:srgbClr val="64748B"/>
                </a:solidFill>
                <a:latin typeface="Consolas"/>
                <a:cs typeface="Consolas"/>
                <a:ea typeface="Consolas"/>
              </a:rPr>
              <a:t>  customer_coupons</a:t>
            </a:r>
          </a:p>
        </p:txBody>
      </p:sp>
      <p:sp>
        <p:nvSpPr>
          <p:cNvPr id="16" name="Rounded Rectangle 15"/>
          <p:cNvSpPr/>
          <p:nvPr/>
        </p:nvSpPr>
        <p:spPr>
          <a:xfrm>
            <a:off x="10137533" y="3070098"/>
            <a:ext cx="145065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顧客×クーポン = 1行</a:t>
            </a:r>
          </a:p>
        </p:txBody>
      </p:sp>
      <p:sp>
        <p:nvSpPr>
          <p:cNvPr id="17" name="TextBox 16"/>
          <p:cNvSpPr txBox="1"/>
          <p:nvPr/>
        </p:nvSpPr>
        <p:spPr>
          <a:xfrm>
            <a:off x="658368" y="334441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どの顧客に / どのクーポンを / その顧客だけの有効期間 / 備考</a:t>
            </a:r>
          </a:p>
        </p:txBody>
      </p:sp>
      <p:sp>
        <p:nvSpPr>
          <p:cNvPr id="18" name="Rounded Rectangle 17"/>
          <p:cNvSpPr/>
          <p:nvPr/>
        </p:nvSpPr>
        <p:spPr>
          <a:xfrm>
            <a:off x="457200" y="384657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846576"/>
            <a:ext cx="68580" cy="93116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919728"/>
            <a:ext cx="6705295" cy="256032"/>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使用記録</a:t>
            </a:r>
            <a:r>
              <a:rPr sz="950" b="0" i="0">
                <a:solidFill>
                  <a:srgbClr val="64748B"/>
                </a:solidFill>
                <a:latin typeface="Consolas"/>
                <a:cs typeface="Consolas"/>
                <a:ea typeface="Consolas"/>
              </a:rPr>
              <a:t>  coupon_redemptions</a:t>
            </a:r>
          </a:p>
        </p:txBody>
      </p:sp>
      <p:sp>
        <p:nvSpPr>
          <p:cNvPr id="21" name="Rounded Rectangle 20"/>
          <p:cNvSpPr/>
          <p:nvPr/>
        </p:nvSpPr>
        <p:spPr>
          <a:xfrm>
            <a:off x="10016883" y="3919728"/>
            <a:ext cx="1571307" cy="237744"/>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日報1件への適用 = 1行</a:t>
            </a:r>
          </a:p>
        </p:txBody>
      </p:sp>
      <p:sp>
        <p:nvSpPr>
          <p:cNvPr id="22" name="TextBox 21"/>
          <p:cNvSpPr txBox="1"/>
          <p:nvPr/>
        </p:nvSpPr>
        <p:spPr>
          <a:xfrm>
            <a:off x="658368" y="419404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どの日報に / どの顧客が / どのクーポンを / 適用日時 / 適用時点の割引方法・割引額・割引率(控えとして保存) / 上限判定のキー / 誕生月の対象者の氏名・生年月日 / 備考</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第10章 割引クーポン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30</a:t>
            </a:r>
          </a:p>
        </p:txBody>
      </p:sp>
      <p:sp>
        <p:nvSpPr>
          <p:cNvPr id="7" name="Rounded Rectangle 6"/>
          <p:cNvSpPr/>
          <p:nvPr/>
        </p:nvSpPr>
        <p:spPr>
          <a:xfrm>
            <a:off x="457200" y="1115568"/>
            <a:ext cx="11277295" cy="156921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56921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10948111"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10902391" cy="1066292"/>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同じ日報に同じクーポンを2回は適用できない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「1人1回」「1人年1回」の上限は、システム側で必ず守られる(画面のチェック漏れでも通らない)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クーポンの内容を後から変えても、過去に使った分の割引額は変わらない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廃止するときは行を消さず「無効」にする(過去の使用記録が宙に浮かない)</a:t>
            </a:r>
          </a:p>
        </p:txBody>
      </p:sp>
      <p:sp>
        <p:nvSpPr>
          <p:cNvPr id="11" name="TextBox 10"/>
          <p:cNvSpPr txBox="1"/>
          <p:nvPr/>
        </p:nvSpPr>
        <p:spPr>
          <a:xfrm>
            <a:off x="457200" y="2867660"/>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2" name="Rounded Rectangle 11"/>
          <p:cNvSpPr/>
          <p:nvPr/>
        </p:nvSpPr>
        <p:spPr>
          <a:xfrm>
            <a:off x="457200" y="3196844"/>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48640" y="326999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4" name="TextBox 13"/>
          <p:cNvSpPr txBox="1"/>
          <p:nvPr/>
        </p:nvSpPr>
        <p:spPr>
          <a:xfrm>
            <a:off x="914400" y="328828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割引の種類はこれで足りますか(初回限定、ご紹介、回数券、延長無料 など)</a:t>
            </a:r>
          </a:p>
        </p:txBody>
      </p:sp>
      <p:sp>
        <p:nvSpPr>
          <p:cNvPr id="15" name="Rounded Rectangle 14"/>
          <p:cNvSpPr/>
          <p:nvPr/>
        </p:nvSpPr>
        <p:spPr>
          <a:xfrm>
            <a:off x="6187287" y="3196844"/>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278727" y="326999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17" name="TextBox 16"/>
          <p:cNvSpPr txBox="1"/>
          <p:nvPr/>
        </p:nvSpPr>
        <p:spPr>
          <a:xfrm>
            <a:off x="6644487" y="328828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1回の訪問で複数のクーポンを併用できますか。現状は「同じクーポンの二重適用のみ禁止」です</a:t>
            </a:r>
          </a:p>
        </p:txBody>
      </p:sp>
      <p:sp>
        <p:nvSpPr>
          <p:cNvPr id="18" name="Rounded Rectangle 17"/>
          <p:cNvSpPr/>
          <p:nvPr/>
        </p:nvSpPr>
        <p:spPr>
          <a:xfrm>
            <a:off x="457200" y="39212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48640" y="39944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0" name="TextBox 19"/>
          <p:cNvSpPr txBox="1"/>
          <p:nvPr/>
        </p:nvSpPr>
        <p:spPr>
          <a:xfrm>
            <a:off x="914400" y="401269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使用上限は「無制限・1人1回・1人年1回」で足りますか(1人月1回、全体で先着◯名 など)</a:t>
            </a:r>
          </a:p>
        </p:txBody>
      </p:sp>
      <p:sp>
        <p:nvSpPr>
          <p:cNvPr id="21" name="Rounded Rectangle 20"/>
          <p:cNvSpPr/>
          <p:nvPr/>
        </p:nvSpPr>
        <p:spPr>
          <a:xfrm>
            <a:off x="6187287" y="39212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278727" y="39944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3" name="TextBox 22"/>
          <p:cNvSpPr txBox="1"/>
          <p:nvPr/>
        </p:nvSpPr>
        <p:spPr>
          <a:xfrm>
            <a:off x="6644487" y="401269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誕生月クーポンの対象はどなたの誕生日ですか(契約者・お子様・どちらでも)</a:t>
            </a:r>
          </a:p>
        </p:txBody>
      </p:sp>
      <p:sp>
        <p:nvSpPr>
          <p:cNvPr id="24" name="Rounded Rectangle 23"/>
          <p:cNvSpPr/>
          <p:nvPr/>
        </p:nvSpPr>
        <p:spPr>
          <a:xfrm>
            <a:off x="457200" y="4645660"/>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48640" y="471881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26" name="TextBox 25"/>
          <p:cNvSpPr txBox="1"/>
          <p:nvPr/>
        </p:nvSpPr>
        <p:spPr>
          <a:xfrm>
            <a:off x="914400" y="4737100"/>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自治体の助成・企業の福利厚生による割引は、クーポンとして扱いますか。別の仕組み(請求先が違う)として扱うべきですか</a:t>
            </a:r>
          </a:p>
        </p:txBody>
      </p:sp>
      <p:sp>
        <p:nvSpPr>
          <p:cNvPr id="27" name="Rounded Rectangle 26"/>
          <p:cNvSpPr/>
          <p:nvPr/>
        </p:nvSpPr>
        <p:spPr>
          <a:xfrm>
            <a:off x="6187287" y="4645660"/>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278727" y="471881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29" name="TextBox 28"/>
          <p:cNvSpPr txBox="1"/>
          <p:nvPr/>
        </p:nvSpPr>
        <p:spPr>
          <a:xfrm>
            <a:off x="6644487" y="4737100"/>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クーポンを配る・取り消すのは誰ができますか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第11章 請求と入金</a:t>
            </a:r>
            <a:r>
              <a:rPr sz="1250" b="0" i="0">
                <a:solidFill>
                  <a:srgbClr val="64748B"/>
                </a:solidFill>
                <a:latin typeface="Meiryo"/>
                <a:cs typeface="Meiryo"/>
                <a:ea typeface="Meiryo"/>
              </a:rPr>
              <a:t>   日報・領収書・クーポンから請求書を起こし、入金を消し込む</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31</a:t>
            </a:r>
          </a:p>
        </p:txBody>
      </p:sp>
      <p:sp>
        <p:nvSpPr>
          <p:cNvPr id="7" name="TextBox 6"/>
          <p:cNvSpPr txBox="1"/>
          <p:nvPr/>
        </p:nvSpPr>
        <p:spPr>
          <a:xfrm>
            <a:off x="475488" y="1115568"/>
            <a:ext cx="10820095" cy="493395"/>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請求書は「1顧客・1請求期間につき1枚」。明細の1行1行が、どの日報・どの領収書・どのクーポンから起きたのかを指し示します。</a:t>
            </a:r>
          </a:p>
        </p:txBody>
      </p:sp>
      <p:sp>
        <p:nvSpPr>
          <p:cNvPr id="8" name="Rounded Rectangle 7"/>
          <p:cNvSpPr/>
          <p:nvPr/>
        </p:nvSpPr>
        <p:spPr>
          <a:xfrm>
            <a:off x="457200" y="1718690"/>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718690"/>
            <a:ext cx="68580" cy="72161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91843"/>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決済プロフィール</a:t>
            </a:r>
            <a:r>
              <a:rPr sz="950" b="0" i="0">
                <a:solidFill>
                  <a:srgbClr val="64748B"/>
                </a:solidFill>
                <a:latin typeface="Consolas"/>
                <a:cs typeface="Consolas"/>
                <a:ea typeface="Consolas"/>
              </a:rPr>
              <a:t>  customer_payment_profiles</a:t>
            </a:r>
          </a:p>
        </p:txBody>
      </p:sp>
      <p:sp>
        <p:nvSpPr>
          <p:cNvPr id="11" name="Rounded Rectangle 10"/>
          <p:cNvSpPr/>
          <p:nvPr/>
        </p:nvSpPr>
        <p:spPr>
          <a:xfrm>
            <a:off x="10620133" y="1791843"/>
            <a:ext cx="96805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1顧客 = 1行</a:t>
            </a:r>
          </a:p>
        </p:txBody>
      </p:sp>
      <p:sp>
        <p:nvSpPr>
          <p:cNvPr id="12" name="TextBox 11"/>
          <p:cNvSpPr txBox="1"/>
          <p:nvPr/>
        </p:nvSpPr>
        <p:spPr>
          <a:xfrm>
            <a:off x="658368" y="2066162"/>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どの顧客か / 決済代行(Stripe)側の顧客ID / 既定の支払方法ID / カードブランド / カード番号の下4桁  ※カード番号そのものは保存しない</a:t>
            </a:r>
          </a:p>
        </p:txBody>
      </p:sp>
      <p:sp>
        <p:nvSpPr>
          <p:cNvPr id="13" name="Rounded Rectangle 12"/>
          <p:cNvSpPr/>
          <p:nvPr/>
        </p:nvSpPr>
        <p:spPr>
          <a:xfrm>
            <a:off x="457200" y="2568321"/>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568321"/>
            <a:ext cx="68580" cy="93116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641473"/>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請求書</a:t>
            </a:r>
            <a:r>
              <a:rPr sz="950" b="0" i="0">
                <a:solidFill>
                  <a:srgbClr val="64748B"/>
                </a:solidFill>
                <a:latin typeface="Consolas"/>
                <a:cs typeface="Consolas"/>
                <a:ea typeface="Consolas"/>
              </a:rPr>
              <a:t>  invoices</a:t>
            </a:r>
          </a:p>
        </p:txBody>
      </p:sp>
      <p:sp>
        <p:nvSpPr>
          <p:cNvPr id="16" name="Rounded Rectangle 15"/>
          <p:cNvSpPr/>
          <p:nvPr/>
        </p:nvSpPr>
        <p:spPr>
          <a:xfrm>
            <a:off x="10378833" y="2641473"/>
            <a:ext cx="1209357"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請求書1枚 = 1行</a:t>
            </a:r>
          </a:p>
        </p:txBody>
      </p:sp>
      <p:sp>
        <p:nvSpPr>
          <p:cNvPr id="17" name="TextBox 16"/>
          <p:cNvSpPr txBox="1"/>
          <p:nvPr/>
        </p:nvSpPr>
        <p:spPr>
          <a:xfrm>
            <a:off x="658368" y="2915793"/>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顧客 / 請求書番号 / 状態(下書き・送付済・入金済・取消・回収不能) / 請求期間(開始・終了) / 小計 / 割引額 / 消費税額 / 合計 / 支払期限 / 発行日時 / 入金日時 / 取消日時 / 決済代行側の請求書ID / 備考</a:t>
            </a:r>
          </a:p>
        </p:txBody>
      </p:sp>
      <p:sp>
        <p:nvSpPr>
          <p:cNvPr id="18" name="Rounded Rectangle 17"/>
          <p:cNvSpPr/>
          <p:nvPr/>
        </p:nvSpPr>
        <p:spPr>
          <a:xfrm>
            <a:off x="457200" y="3627500"/>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627500"/>
            <a:ext cx="68580" cy="93116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700653"/>
            <a:ext cx="6705295" cy="256032"/>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請求明細</a:t>
            </a:r>
            <a:r>
              <a:rPr sz="950" b="0" i="0">
                <a:solidFill>
                  <a:srgbClr val="64748B"/>
                </a:solidFill>
                <a:latin typeface="Consolas"/>
                <a:cs typeface="Consolas"/>
                <a:ea typeface="Consolas"/>
              </a:rPr>
              <a:t>  invoice_lines</a:t>
            </a:r>
          </a:p>
        </p:txBody>
      </p:sp>
      <p:sp>
        <p:nvSpPr>
          <p:cNvPr id="21" name="Rounded Rectangle 20"/>
          <p:cNvSpPr/>
          <p:nvPr/>
        </p:nvSpPr>
        <p:spPr>
          <a:xfrm>
            <a:off x="10499483" y="3700653"/>
            <a:ext cx="1088707" cy="237744"/>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明細1行 = 1行</a:t>
            </a:r>
          </a:p>
        </p:txBody>
      </p:sp>
      <p:sp>
        <p:nvSpPr>
          <p:cNvPr id="22" name="TextBox 21"/>
          <p:cNvSpPr txBox="1"/>
          <p:nvPr/>
        </p:nvSpPr>
        <p:spPr>
          <a:xfrm>
            <a:off x="658368" y="3974972"/>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どの請求書の / 何行目か / 種別(サービス提供・立替実費・移動手当・クーポン割引・調整) / 内容 / 数量 / 単価 / 金額 / 根拠(日報・領収書・クーポン使用記録) / 差し替え日時</a:t>
            </a:r>
          </a:p>
        </p:txBody>
      </p:sp>
      <p:sp>
        <p:nvSpPr>
          <p:cNvPr id="23" name="Rounded Rectangle 22"/>
          <p:cNvSpPr/>
          <p:nvPr/>
        </p:nvSpPr>
        <p:spPr>
          <a:xfrm>
            <a:off x="457200" y="4686681"/>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686681"/>
            <a:ext cx="68580" cy="9311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759833"/>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入金</a:t>
            </a:r>
            <a:r>
              <a:rPr sz="950" b="0" i="0">
                <a:solidFill>
                  <a:srgbClr val="64748B"/>
                </a:solidFill>
                <a:latin typeface="Consolas"/>
                <a:cs typeface="Consolas"/>
                <a:ea typeface="Consolas"/>
              </a:rPr>
              <a:t>  payments</a:t>
            </a:r>
          </a:p>
        </p:txBody>
      </p:sp>
      <p:sp>
        <p:nvSpPr>
          <p:cNvPr id="26" name="Rounded Rectangle 25"/>
          <p:cNvSpPr/>
          <p:nvPr/>
        </p:nvSpPr>
        <p:spPr>
          <a:xfrm>
            <a:off x="10499483" y="4759833"/>
            <a:ext cx="1088707"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入金1件 = 1行</a:t>
            </a:r>
          </a:p>
        </p:txBody>
      </p:sp>
      <p:sp>
        <p:nvSpPr>
          <p:cNvPr id="27" name="TextBox 26"/>
          <p:cNvSpPr txBox="1"/>
          <p:nvPr/>
        </p:nvSpPr>
        <p:spPr>
          <a:xfrm>
            <a:off x="658368" y="5034153"/>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顧客 / 請求書 / 状態 / 手段(カード・コンビニ・銀行振込・現地現金) / 通貨(日本円のみ) / 金額 / 返金済み額 / 決済代行側のID / 失敗コード・失敗理由 / 入金日時</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第11章 請求と入金(続き)</a:t>
            </a:r>
            <a:r>
              <a:rPr sz="1250" b="0" i="0">
                <a:solidFill>
                  <a:srgbClr val="64748B"/>
                </a:solidFill>
                <a:latin typeface="Meiryo"/>
                <a:cs typeface="Meiryo"/>
                <a:ea typeface="Meiryo"/>
              </a:rPr>
              <a:t>   記録している項目</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32</a:t>
            </a:r>
          </a:p>
        </p:txBody>
      </p:sp>
      <p:sp>
        <p:nvSpPr>
          <p:cNvPr id="7" name="Rounded Rectangle 6"/>
          <p:cNvSpPr/>
          <p:nvPr/>
        </p:nvSpPr>
        <p:spPr>
          <a:xfrm>
            <a:off x="457200" y="1115568"/>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72161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188720"/>
            <a:ext cx="6705295" cy="256032"/>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決済通知の受信記録</a:t>
            </a:r>
            <a:r>
              <a:rPr sz="950" b="0" i="0">
                <a:solidFill>
                  <a:srgbClr val="64748B"/>
                </a:solidFill>
                <a:latin typeface="Consolas"/>
                <a:cs typeface="Consolas"/>
                <a:ea typeface="Consolas"/>
              </a:rPr>
              <a:t>  stripe_webhook_events</a:t>
            </a:r>
          </a:p>
        </p:txBody>
      </p:sp>
      <p:sp>
        <p:nvSpPr>
          <p:cNvPr id="10" name="Rounded Rectangle 9"/>
          <p:cNvSpPr/>
          <p:nvPr/>
        </p:nvSpPr>
        <p:spPr>
          <a:xfrm>
            <a:off x="10499483" y="1188720"/>
            <a:ext cx="1088707" cy="23774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45309"/>
                </a:solidFill>
                <a:latin typeface="Meiryo"/>
                <a:cs typeface="Meiryo"/>
                <a:ea typeface="Meiryo"/>
              </a:rPr>
              <a:t>通知1件 = 1行</a:t>
            </a:r>
          </a:p>
        </p:txBody>
      </p:sp>
      <p:sp>
        <p:nvSpPr>
          <p:cNvPr id="11" name="TextBox 10"/>
          <p:cNvSpPr txBox="1"/>
          <p:nvPr/>
        </p:nvSpPr>
        <p:spPr>
          <a:xfrm>
            <a:off x="658368" y="1463040"/>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決済代行側のイベントID / 種類 / 受信日時 / 処理日時 / 処理エラー / 通知の中身</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第11章 請求と入金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33</a:t>
            </a:r>
          </a:p>
        </p:txBody>
      </p:sp>
      <p:sp>
        <p:nvSpPr>
          <p:cNvPr id="7" name="Rounded Rectangle 6"/>
          <p:cNvSpPr/>
          <p:nvPr/>
        </p:nvSpPr>
        <p:spPr>
          <a:xfrm>
            <a:off x="457200" y="1115568"/>
            <a:ext cx="5547207" cy="2443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24434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940560"/>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「合計 = 小計 − 割引 + 税」が合わない請求書は登録できない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同じ領収書・同じクーポン使用が、有効な明細に2回載ることはない(二重請求の防止)</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誤請求は金額を0にせず「取消」の状態にして、作り直す。何を取り消したかが残る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返金額が元の決済額を超えることはできない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カード番号・有効期限はこのシステムには保存しない(決済代行側だけが持つ)</a:t>
            </a:r>
          </a:p>
        </p:txBody>
      </p:sp>
      <p:sp>
        <p:nvSpPr>
          <p:cNvPr id="11" name="Rounded Rectangle 10"/>
          <p:cNvSpPr/>
          <p:nvPr/>
        </p:nvSpPr>
        <p:spPr>
          <a:xfrm>
            <a:off x="6187287" y="1115568"/>
            <a:ext cx="5547207" cy="2443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24434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940560"/>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請求・決済の画面とAPIは未実装。現在は入れ物だけがある状態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自治体助成・企業の福利厚生など「請求先がお客様本人ではない」ケースを表現できていない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お客様にお渡しする正式な領収書の発行記録を持つ場所がない</a:t>
            </a:r>
          </a:p>
        </p:txBody>
      </p:sp>
      <p:sp>
        <p:nvSpPr>
          <p:cNvPr id="15" name="TextBox 14"/>
          <p:cNvSpPr txBox="1"/>
          <p:nvPr/>
        </p:nvSpPr>
        <p:spPr>
          <a:xfrm>
            <a:off x="457200" y="3741928"/>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407111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414426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416255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請求のサイクルを教えてください(月末締め翌月◯日払い、都度請求、前払い など)</a:t>
            </a:r>
          </a:p>
        </p:txBody>
      </p:sp>
      <p:sp>
        <p:nvSpPr>
          <p:cNvPr id="19" name="Rounded Rectangle 18"/>
          <p:cNvSpPr/>
          <p:nvPr/>
        </p:nvSpPr>
        <p:spPr>
          <a:xfrm>
            <a:off x="6187287" y="4071112"/>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414426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4162552"/>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請求書番号の付け方に決まりはありますか(年度・連番・枝番)</a:t>
            </a:r>
          </a:p>
        </p:txBody>
      </p:sp>
      <p:sp>
        <p:nvSpPr>
          <p:cNvPr id="22" name="Rounded Rectangle 21"/>
          <p:cNvSpPr/>
          <p:nvPr/>
        </p:nvSpPr>
        <p:spPr>
          <a:xfrm>
            <a:off x="6187287" y="4588764"/>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278727" y="466191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6644487" y="468020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消費税はどう扱いますか。税率、内税か外税か、非課税のサービスはありますか</a:t>
            </a:r>
          </a:p>
        </p:txBody>
      </p:sp>
      <p:sp>
        <p:nvSpPr>
          <p:cNvPr id="25" name="Rounded Rectangle 24"/>
          <p:cNvSpPr/>
          <p:nvPr/>
        </p:nvSpPr>
        <p:spPr>
          <a:xfrm>
            <a:off x="457200" y="4795520"/>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48640" y="486867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914400" y="4886960"/>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支払期限の既定値は何日後ですか</a:t>
            </a:r>
          </a:p>
        </p:txBody>
      </p:sp>
      <p:sp>
        <p:nvSpPr>
          <p:cNvPr id="28" name="Rounded Rectangle 27"/>
          <p:cNvSpPr/>
          <p:nvPr/>
        </p:nvSpPr>
        <p:spPr>
          <a:xfrm>
            <a:off x="457200" y="5313172"/>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48640" y="538632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914400" y="5404612"/>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未入金の督促(いつ・誰に・何回連絡したか)を記録する必要はありますか</a:t>
            </a:r>
          </a:p>
        </p:txBody>
      </p:sp>
      <p:sp>
        <p:nvSpPr>
          <p:cNvPr id="31" name="Rounded Rectangle 30"/>
          <p:cNvSpPr/>
          <p:nvPr/>
        </p:nvSpPr>
        <p:spPr>
          <a:xfrm>
            <a:off x="6187287" y="531317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538632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6644487" y="540461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自治体の助成や企業の福利厚生で、請求先がお客様以外になるケースはありますか。その場合、誰に何を請求しますか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第11章 請求と入金 — ご確認のお願い(続き)</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34</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8" name="Rounded Rectangle 7"/>
          <p:cNvSpPr/>
          <p:nvPr/>
        </p:nvSpPr>
        <p:spPr>
          <a:xfrm>
            <a:off x="457200" y="1444752"/>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48640" y="15179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7</a:t>
            </a:r>
          </a:p>
        </p:txBody>
      </p:sp>
      <p:sp>
        <p:nvSpPr>
          <p:cNvPr id="10" name="TextBox 9"/>
          <p:cNvSpPr txBox="1"/>
          <p:nvPr/>
        </p:nvSpPr>
        <p:spPr>
          <a:xfrm>
            <a:off x="914400" y="1536192"/>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分割払い・前払い(回数券・チケット制)はありますか</a:t>
            </a:r>
          </a:p>
        </p:txBody>
      </p:sp>
      <p:sp>
        <p:nvSpPr>
          <p:cNvPr id="11" name="Rounded Rectangle 10"/>
          <p:cNvSpPr/>
          <p:nvPr/>
        </p:nvSpPr>
        <p:spPr>
          <a:xfrm>
            <a:off x="6187287" y="14447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278727" y="15179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8</a:t>
            </a:r>
          </a:p>
        </p:txBody>
      </p:sp>
      <p:sp>
        <p:nvSpPr>
          <p:cNvPr id="13" name="TextBox 12"/>
          <p:cNvSpPr txBox="1"/>
          <p:nvPr/>
        </p:nvSpPr>
        <p:spPr>
          <a:xfrm>
            <a:off x="6644487" y="153619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お客様にお渡しする領収書は誰がいつ発行しますか。控えを残す必要はありますか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第12章 相性と特性(訪問割当の最適化)</a:t>
            </a:r>
            <a:r>
              <a:rPr sz="1250" b="0" i="0">
                <a:solidFill>
                  <a:srgbClr val="64748B"/>
                </a:solidFill>
                <a:latin typeface="Meiryo"/>
                <a:cs typeface="Meiryo"/>
                <a:ea typeface="Meiryo"/>
              </a:rPr>
              <a:t>   「誰をどのお宅に行かせるか」を機械に手伝わせるための材料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35</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見る項目そのもの(資格・喫煙・ペット・お子様の年齢…)を後から足せるように、「項目のマスタ」と「その値」を分けて持っています。何を見るかはこれから決める段階です。</a:t>
            </a:r>
          </a:p>
        </p:txBody>
      </p:sp>
      <p:sp>
        <p:nvSpPr>
          <p:cNvPr id="8" name="Rounded Rectangle 7"/>
          <p:cNvSpPr/>
          <p:nvPr/>
        </p:nvSpPr>
        <p:spPr>
          <a:xfrm>
            <a:off x="457200" y="193776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9311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特性項目マスタ</a:t>
            </a:r>
            <a:r>
              <a:rPr sz="950" b="0" i="0">
                <a:solidFill>
                  <a:srgbClr val="64748B"/>
                </a:solidFill>
                <a:latin typeface="Consolas"/>
                <a:cs typeface="Consolas"/>
                <a:ea typeface="Consolas"/>
              </a:rPr>
              <a:t>  trait_definitions</a:t>
            </a:r>
          </a:p>
        </p:txBody>
      </p:sp>
      <p:sp>
        <p:nvSpPr>
          <p:cNvPr id="11" name="Rounded Rectangle 10"/>
          <p:cNvSpPr/>
          <p:nvPr/>
        </p:nvSpPr>
        <p:spPr>
          <a:xfrm>
            <a:off x="10258183" y="2010918"/>
            <a:ext cx="1330007"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見る項目1つ = 1行</a:t>
            </a:r>
          </a:p>
        </p:txBody>
      </p:sp>
      <p:sp>
        <p:nvSpPr>
          <p:cNvPr id="12" name="TextBox 11"/>
          <p:cNvSpPr txBox="1"/>
          <p:nvPr/>
        </p:nvSpPr>
        <p:spPr>
          <a:xfrm>
            <a:off x="658368" y="228523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対象(顧客・スタッフ) / コード / 名称 / 説明 / 値の種類(はい/いいえ・段階・数値・選択肢・自由記述) / 段階の下限・上限 / 選択肢 / 一致したときの重み / 有効かどうか / 表示順</a:t>
            </a:r>
          </a:p>
        </p:txBody>
      </p:sp>
      <p:sp>
        <p:nvSpPr>
          <p:cNvPr id="13" name="Rounded Rectangle 12"/>
          <p:cNvSpPr/>
          <p:nvPr/>
        </p:nvSpPr>
        <p:spPr>
          <a:xfrm>
            <a:off x="457200" y="299694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996946"/>
            <a:ext cx="68580" cy="72161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070098"/>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顧客の特性</a:t>
            </a:r>
            <a:r>
              <a:rPr sz="950" b="0" i="0">
                <a:solidFill>
                  <a:srgbClr val="64748B"/>
                </a:solidFill>
                <a:latin typeface="Consolas"/>
                <a:cs typeface="Consolas"/>
                <a:ea typeface="Consolas"/>
              </a:rPr>
              <a:t>  customer_traits</a:t>
            </a:r>
          </a:p>
        </p:txBody>
      </p:sp>
      <p:sp>
        <p:nvSpPr>
          <p:cNvPr id="16" name="Rounded Rectangle 15"/>
          <p:cNvSpPr/>
          <p:nvPr/>
        </p:nvSpPr>
        <p:spPr>
          <a:xfrm>
            <a:off x="10378833" y="3070098"/>
            <a:ext cx="1209357"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顧客×項目 = 1行</a:t>
            </a:r>
          </a:p>
        </p:txBody>
      </p:sp>
      <p:sp>
        <p:nvSpPr>
          <p:cNvPr id="17" name="TextBox 16"/>
          <p:cNvSpPr txBox="1"/>
          <p:nvPr/>
        </p:nvSpPr>
        <p:spPr>
          <a:xfrm>
            <a:off x="658368" y="334441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顧客 / どの項目か / 値(はい/いいえ・数値・文字のいずれか1つ) / 備考 / 記録者 / 記録日時</a:t>
            </a:r>
          </a:p>
        </p:txBody>
      </p:sp>
      <p:sp>
        <p:nvSpPr>
          <p:cNvPr id="18" name="Rounded Rectangle 17"/>
          <p:cNvSpPr/>
          <p:nvPr/>
        </p:nvSpPr>
        <p:spPr>
          <a:xfrm>
            <a:off x="457200" y="384657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846576"/>
            <a:ext cx="68580" cy="72161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919728"/>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スタッフの特性</a:t>
            </a:r>
            <a:r>
              <a:rPr sz="950" b="0" i="0">
                <a:solidFill>
                  <a:srgbClr val="64748B"/>
                </a:solidFill>
                <a:latin typeface="Consolas"/>
                <a:cs typeface="Consolas"/>
                <a:ea typeface="Consolas"/>
              </a:rPr>
              <a:t>  staff_traits</a:t>
            </a:r>
          </a:p>
        </p:txBody>
      </p:sp>
      <p:sp>
        <p:nvSpPr>
          <p:cNvPr id="21" name="Rounded Rectangle 20"/>
          <p:cNvSpPr/>
          <p:nvPr/>
        </p:nvSpPr>
        <p:spPr>
          <a:xfrm>
            <a:off x="10137533" y="3919728"/>
            <a:ext cx="1450657"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スタッフ×項目 = 1行</a:t>
            </a:r>
          </a:p>
        </p:txBody>
      </p:sp>
      <p:sp>
        <p:nvSpPr>
          <p:cNvPr id="22" name="TextBox 21"/>
          <p:cNvSpPr txBox="1"/>
          <p:nvPr/>
        </p:nvSpPr>
        <p:spPr>
          <a:xfrm>
            <a:off x="658368" y="419404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スタッフ / どの項目か / 値(はい/いいえ・数値・文字のいずれか1つ) / 備考 / 記録者 / 記録日時</a:t>
            </a:r>
          </a:p>
        </p:txBody>
      </p:sp>
      <p:sp>
        <p:nvSpPr>
          <p:cNvPr id="23" name="Rounded Rectangle 22"/>
          <p:cNvSpPr/>
          <p:nvPr/>
        </p:nvSpPr>
        <p:spPr>
          <a:xfrm>
            <a:off x="457200" y="469620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696206"/>
            <a:ext cx="68580" cy="721614"/>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769358"/>
            <a:ext cx="6705295" cy="256032"/>
          </a:xfrm>
          <a:prstGeom prst="rect">
            <a:avLst/>
          </a:prstGeom>
          <a:noFill/>
        </p:spPr>
        <p:txBody>
          <a:bodyPr wrap="square" lIns="0" rIns="0" tIns="0" bIns="0" anchor="t">
            <a:spAutoFit/>
          </a:bodyPr>
          <a:lstStyle/>
          <a:p>
            <a:pPr algn="l">
              <a:lnSpc>
                <a:spcPct val="125000"/>
              </a:lnSpc>
              <a:buNone/>
            </a:pPr>
            <a:r>
              <a:rPr sz="1250" b="1" i="0">
                <a:solidFill>
                  <a:srgbClr val="BE185D"/>
                </a:solidFill>
                <a:latin typeface="Meiryo"/>
                <a:cs typeface="Meiryo"/>
                <a:ea typeface="Meiryo"/>
              </a:rPr>
              <a:t>相性</a:t>
            </a:r>
            <a:r>
              <a:rPr sz="950" b="0" i="0">
                <a:solidFill>
                  <a:srgbClr val="64748B"/>
                </a:solidFill>
                <a:latin typeface="Consolas"/>
                <a:cs typeface="Consolas"/>
                <a:ea typeface="Consolas"/>
              </a:rPr>
              <a:t>  staff_customer_compatibilities</a:t>
            </a:r>
          </a:p>
        </p:txBody>
      </p:sp>
      <p:sp>
        <p:nvSpPr>
          <p:cNvPr id="26" name="Rounded Rectangle 25"/>
          <p:cNvSpPr/>
          <p:nvPr/>
        </p:nvSpPr>
        <p:spPr>
          <a:xfrm>
            <a:off x="10137533" y="4769358"/>
            <a:ext cx="1450657" cy="237744"/>
          </a:xfrm>
          <a:prstGeom prst="roundRect">
            <a:avLst>
              <a:gd name="adj" fmla="val 50000"/>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E185D"/>
                </a:solidFill>
                <a:latin typeface="Meiryo"/>
                <a:cs typeface="Meiryo"/>
                <a:ea typeface="Meiryo"/>
              </a:rPr>
              <a:t>スタッフ×顧客 = 1行</a:t>
            </a:r>
          </a:p>
        </p:txBody>
      </p:sp>
      <p:sp>
        <p:nvSpPr>
          <p:cNvPr id="27" name="TextBox 26"/>
          <p:cNvSpPr txBox="1"/>
          <p:nvPr/>
        </p:nvSpPr>
        <p:spPr>
          <a:xfrm>
            <a:off x="658368" y="504367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スタッフ / 顧客 / 相性スコア / 絶対に組ませないか / 理由 / 根拠(人が入力・自動算出) / 評価者 / 評価日時</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第12章 相性と特性(訪問割当の最適化)(続き)</a:t>
            </a:r>
            <a:r>
              <a:rPr sz="1250" b="0" i="0">
                <a:solidFill>
                  <a:srgbClr val="64748B"/>
                </a:solidFill>
                <a:latin typeface="Meiryo"/>
                <a:cs typeface="Meiryo"/>
                <a:ea typeface="Meiryo"/>
              </a:rPr>
              <a:t>   記録している項目</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36</a:t>
            </a:r>
          </a:p>
        </p:txBody>
      </p:sp>
      <p:sp>
        <p:nvSpPr>
          <p:cNvPr id="7" name="Rounded Rectangle 6"/>
          <p:cNvSpPr/>
          <p:nvPr/>
        </p:nvSpPr>
        <p:spPr>
          <a:xfrm>
            <a:off x="457200" y="1115568"/>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72161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188720"/>
            <a:ext cx="6705295" cy="256032"/>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移動時間の見積</a:t>
            </a:r>
            <a:r>
              <a:rPr sz="950" b="0" i="0">
                <a:solidFill>
                  <a:srgbClr val="64748B"/>
                </a:solidFill>
                <a:latin typeface="Consolas"/>
                <a:cs typeface="Consolas"/>
                <a:ea typeface="Consolas"/>
              </a:rPr>
              <a:t>  staff_customer_travel_estimates</a:t>
            </a:r>
          </a:p>
        </p:txBody>
      </p:sp>
      <p:sp>
        <p:nvSpPr>
          <p:cNvPr id="10" name="Rounded Rectangle 9"/>
          <p:cNvSpPr/>
          <p:nvPr/>
        </p:nvSpPr>
        <p:spPr>
          <a:xfrm>
            <a:off x="9588576" y="1188720"/>
            <a:ext cx="1999615" cy="237744"/>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スタッフ×顧客×移動手段 = 1行</a:t>
            </a:r>
          </a:p>
        </p:txBody>
      </p:sp>
      <p:sp>
        <p:nvSpPr>
          <p:cNvPr id="11" name="TextBox 10"/>
          <p:cNvSpPr txBox="1"/>
          <p:nvPr/>
        </p:nvSpPr>
        <p:spPr>
          <a:xfrm>
            <a:off x="658368" y="1463040"/>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スタッフ / 顧客 / 移動手段 / 距離(m) / 所要時間(分) / 算出元(地図サービス・直線距離・手入力) / 算出日時</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第12章 相性と特性(訪問割当の最適化)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37</a:t>
            </a:r>
          </a:p>
        </p:txBody>
      </p:sp>
      <p:sp>
        <p:nvSpPr>
          <p:cNvPr id="7" name="Rounded Rectangle 6"/>
          <p:cNvSpPr/>
          <p:nvPr/>
        </p:nvSpPr>
        <p:spPr>
          <a:xfrm>
            <a:off x="457200" y="1115568"/>
            <a:ext cx="5547207" cy="150520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50520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002284"/>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「絶対に組ませない」を立てた行は、理由を空欄にできない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顧客用の項目をスタッフ側に間違って使う、といった取り違えができない形にしてある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実測値として手入力した移動時間は、自動計算で上書きしない方針</a:t>
            </a:r>
          </a:p>
        </p:txBody>
      </p:sp>
      <p:sp>
        <p:nvSpPr>
          <p:cNvPr id="11" name="Rounded Rectangle 10"/>
          <p:cNvSpPr/>
          <p:nvPr/>
        </p:nvSpPr>
        <p:spPr>
          <a:xfrm>
            <a:off x="6187287" y="1115568"/>
            <a:ext cx="5547207" cy="150520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5052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002284"/>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何を見て割り当てるか(項目の一覧)がまだ決まっていない。この章はそのヒアリング用</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「いつ・どの重みで・誰を割り当てたか」という割当結果そのものを残すかどうかは未決</a:t>
            </a:r>
          </a:p>
        </p:txBody>
      </p:sp>
      <p:sp>
        <p:nvSpPr>
          <p:cNvPr id="15" name="TextBox 14"/>
          <p:cNvSpPr txBox="1"/>
          <p:nvPr/>
        </p:nvSpPr>
        <p:spPr>
          <a:xfrm>
            <a:off x="457200" y="2803652"/>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132836"/>
            <a:ext cx="5547207" cy="821435"/>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20598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224276"/>
            <a:ext cx="4980279" cy="675131"/>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実際に割当を決めるとき、何を見て決めていますか。思いつくままに挙げてください(資格、性別、年齢、車の有無、喫煙、ペットへの対応、お子様の年齢、言語、過去の担当実績 など)</a:t>
            </a:r>
          </a:p>
        </p:txBody>
      </p:sp>
      <p:sp>
        <p:nvSpPr>
          <p:cNvPr id="19" name="Rounded Rectangle 18"/>
          <p:cNvSpPr/>
          <p:nvPr/>
        </p:nvSpPr>
        <p:spPr>
          <a:xfrm>
            <a:off x="6187287" y="313283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20598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22427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「このスタッフはこのお宅には行かせない」という判断は実際にありますか。登録・解除は誰ができるべきですか</a:t>
            </a:r>
          </a:p>
        </p:txBody>
      </p:sp>
      <p:sp>
        <p:nvSpPr>
          <p:cNvPr id="22" name="Rounded Rectangle 21"/>
          <p:cNvSpPr/>
          <p:nvPr/>
        </p:nvSpPr>
        <p:spPr>
          <a:xfrm>
            <a:off x="6187287" y="3857244"/>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278727" y="393039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6644487" y="3948684"/>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相性の点数は誰がつけますか。お客様からの評価を反映しますか</a:t>
            </a:r>
          </a:p>
        </p:txBody>
      </p:sp>
      <p:sp>
        <p:nvSpPr>
          <p:cNvPr id="25" name="Rounded Rectangle 24"/>
          <p:cNvSpPr/>
          <p:nvPr/>
        </p:nvSpPr>
        <p:spPr>
          <a:xfrm>
            <a:off x="457200" y="4064000"/>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48640" y="4137152"/>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914400" y="4155440"/>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「同じ人に来てほしい」という継続の希望はどこで表しますか</a:t>
            </a:r>
          </a:p>
        </p:txBody>
      </p:sp>
      <p:sp>
        <p:nvSpPr>
          <p:cNvPr id="28" name="Rounded Rectangle 27"/>
          <p:cNvSpPr/>
          <p:nvPr/>
        </p:nvSpPr>
        <p:spPr>
          <a:xfrm>
            <a:off x="6187287" y="437489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278727" y="444804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6644487" y="446633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移動時間の見積は、自宅発着で足りますか。前の訪問先からの移動も必要ですか</a:t>
            </a:r>
          </a:p>
        </p:txBody>
      </p:sp>
      <p:sp>
        <p:nvSpPr>
          <p:cNvPr id="31" name="Rounded Rectangle 30"/>
          <p:cNvSpPr/>
          <p:nvPr/>
        </p:nvSpPr>
        <p:spPr>
          <a:xfrm>
            <a:off x="457200" y="4581652"/>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48640" y="46548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914400" y="4673092"/>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割り当てた理由の記録は必要ですか(後から「なぜこの人だったのか」を説明する場面はありますか)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第13章 移動と手当</a:t>
            </a:r>
            <a:r>
              <a:rPr sz="1250" b="0" i="0">
                <a:solidFill>
                  <a:srgbClr val="64748B"/>
                </a:solidFill>
                <a:latin typeface="Meiryo"/>
                <a:cs typeface="Meiryo"/>
                <a:ea typeface="Meiryo"/>
              </a:rPr>
              <a:t>   自動車・公共交通・自転車・徒歩。手段ごとに計算方法が違う</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38</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手当の単価を「マスタ」に持ち、実際の移動を「区間」で1本ずつ記録します。自動車だけを前提にしていた現行システムを、他の手段にも広げる形です。</a:t>
            </a:r>
          </a:p>
        </p:txBody>
      </p:sp>
      <p:sp>
        <p:nvSpPr>
          <p:cNvPr id="8" name="Rounded Rectangle 7"/>
          <p:cNvSpPr/>
          <p:nvPr/>
        </p:nvSpPr>
        <p:spPr>
          <a:xfrm>
            <a:off x="457200" y="193776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9311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手当の単価マスタ</a:t>
            </a:r>
            <a:r>
              <a:rPr sz="950" b="0" i="0">
                <a:solidFill>
                  <a:srgbClr val="64748B"/>
                </a:solidFill>
                <a:latin typeface="Consolas"/>
                <a:cs typeface="Consolas"/>
                <a:ea typeface="Consolas"/>
              </a:rPr>
              <a:t>  transport_allowance_rules</a:t>
            </a:r>
          </a:p>
        </p:txBody>
      </p:sp>
      <p:sp>
        <p:nvSpPr>
          <p:cNvPr id="11" name="Rounded Rectangle 10"/>
          <p:cNvSpPr/>
          <p:nvPr/>
        </p:nvSpPr>
        <p:spPr>
          <a:xfrm>
            <a:off x="10378833" y="2010918"/>
            <a:ext cx="1209357" cy="23774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45309"/>
                </a:solidFill>
                <a:latin typeface="Meiryo"/>
                <a:cs typeface="Meiryo"/>
                <a:ea typeface="Meiryo"/>
              </a:rPr>
              <a:t>手段×期間 = 1行</a:t>
            </a:r>
          </a:p>
        </p:txBody>
      </p:sp>
      <p:sp>
        <p:nvSpPr>
          <p:cNvPr id="12" name="TextBox 11"/>
          <p:cNvSpPr txBox="1"/>
          <p:nvPr/>
        </p:nvSpPr>
        <p:spPr>
          <a:xfrm>
            <a:off x="658368" y="228523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移動手段(自動車・公共交通・自転車・徒歩) / 計算方法(km単価・1回定額・1日定額・実費) / 単価 / 下限額 / 上限額 / 適用開始日 / 適用終了日 / 有効かどうか / 備考</a:t>
            </a:r>
          </a:p>
        </p:txBody>
      </p:sp>
      <p:sp>
        <p:nvSpPr>
          <p:cNvPr id="13" name="Rounded Rectangle 12"/>
          <p:cNvSpPr/>
          <p:nvPr/>
        </p:nvSpPr>
        <p:spPr>
          <a:xfrm>
            <a:off x="457200" y="2996946"/>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996946"/>
            <a:ext cx="68580" cy="9311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070098"/>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移動区間</a:t>
            </a:r>
            <a:r>
              <a:rPr sz="950" b="0" i="0">
                <a:solidFill>
                  <a:srgbClr val="64748B"/>
                </a:solidFill>
                <a:latin typeface="Consolas"/>
                <a:cs typeface="Consolas"/>
                <a:ea typeface="Consolas"/>
              </a:rPr>
              <a:t>  travel_legs</a:t>
            </a:r>
          </a:p>
        </p:txBody>
      </p:sp>
      <p:sp>
        <p:nvSpPr>
          <p:cNvPr id="16" name="Rounded Rectangle 15"/>
          <p:cNvSpPr/>
          <p:nvPr/>
        </p:nvSpPr>
        <p:spPr>
          <a:xfrm>
            <a:off x="10499483" y="3070098"/>
            <a:ext cx="1088707"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移動1本 = 1行</a:t>
            </a:r>
          </a:p>
        </p:txBody>
      </p:sp>
      <p:sp>
        <p:nvSpPr>
          <p:cNvPr id="17" name="TextBox 16"/>
          <p:cNvSpPr txBox="1"/>
          <p:nvPr/>
        </p:nvSpPr>
        <p:spPr>
          <a:xfrm>
            <a:off x="658368" y="3344418"/>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スタッフ / 営業日 / その日の何本目か / 区間の種別(出勤・訪問へ・訪問間・退勤) / 移動手段 / 出発地 / 到着地 / 到着先の顧客 / 対応する日報 / 距離(m) / 所要時間(分) / 実費(交通費) / 手当額 / 適用した単価規則 / 備考</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第13章 移動と手当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39</a:t>
            </a:r>
          </a:p>
        </p:txBody>
      </p:sp>
      <p:sp>
        <p:nvSpPr>
          <p:cNvPr id="7" name="Rounded Rectangle 6"/>
          <p:cNvSpPr/>
          <p:nvPr/>
        </p:nvSpPr>
        <p:spPr>
          <a:xfrm>
            <a:off x="457200" y="1115568"/>
            <a:ext cx="5547207" cy="150520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50520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002284"/>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手当額と「どの規則で計算したか」は必ず対で入る(あとから根拠をたどれる)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計算方法と単価の組み合わせが矛盾する規則は登録できない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単価を改定しても、過去に計算済みの手当額は動かない</a:t>
            </a:r>
          </a:p>
        </p:txBody>
      </p:sp>
      <p:sp>
        <p:nvSpPr>
          <p:cNvPr id="11" name="Rounded Rectangle 10"/>
          <p:cNvSpPr/>
          <p:nvPr/>
        </p:nvSpPr>
        <p:spPr>
          <a:xfrm>
            <a:off x="6187287" y="1115568"/>
            <a:ext cx="5547207" cy="150520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5052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002284"/>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「1日あたり定額」の手当を、区間ごとの行のどこに載せるかが未決</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単価マスタの有効期間が重なる登録を、システム側で止められていない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勤怠(第9章)にも距離があり、当面は二重に存在する</a:t>
            </a:r>
          </a:p>
        </p:txBody>
      </p:sp>
      <p:sp>
        <p:nvSpPr>
          <p:cNvPr id="15" name="TextBox 14"/>
          <p:cNvSpPr txBox="1"/>
          <p:nvPr/>
        </p:nvSpPr>
        <p:spPr>
          <a:xfrm>
            <a:off x="457200" y="2803652"/>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13283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20598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22427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実際の移動手当の規程を教えてください(手段ごとの単価・上限・支給条件)</a:t>
            </a:r>
          </a:p>
        </p:txBody>
      </p:sp>
      <p:sp>
        <p:nvSpPr>
          <p:cNvPr id="19" name="Rounded Rectangle 18"/>
          <p:cNvSpPr/>
          <p:nvPr/>
        </p:nvSpPr>
        <p:spPr>
          <a:xfrm>
            <a:off x="6187287" y="313283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20598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22427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自家用車の駐車場代・高速代はどう扱いますか。手当に含みますか、実費精算ですか</a:t>
            </a:r>
          </a:p>
        </p:txBody>
      </p:sp>
      <p:sp>
        <p:nvSpPr>
          <p:cNvPr id="22" name="Rounded Rectangle 21"/>
          <p:cNvSpPr/>
          <p:nvPr/>
        </p:nvSpPr>
        <p:spPr>
          <a:xfrm>
            <a:off x="457200" y="3857244"/>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393039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3948684"/>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公共交通の定期券区間はどう扱いますか。定期券の有無をシステムで持つ必要はありますか</a:t>
            </a:r>
          </a:p>
        </p:txBody>
      </p:sp>
      <p:sp>
        <p:nvSpPr>
          <p:cNvPr id="25" name="Rounded Rectangle 24"/>
          <p:cNvSpPr/>
          <p:nvPr/>
        </p:nvSpPr>
        <p:spPr>
          <a:xfrm>
            <a:off x="6187287" y="3857244"/>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393039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3948684"/>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距離は実走距離ですか、地図上の距離ですか。誰が入力しますか</a:t>
            </a:r>
          </a:p>
        </p:txBody>
      </p:sp>
      <p:sp>
        <p:nvSpPr>
          <p:cNvPr id="28" name="Rounded Rectangle 27"/>
          <p:cNvSpPr/>
          <p:nvPr/>
        </p:nvSpPr>
        <p:spPr>
          <a:xfrm>
            <a:off x="6187287" y="437489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278727" y="444804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6644487" y="446633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「1日あたり定額」の手当はありますか。ある場合、どういう日に付きますか</a:t>
            </a:r>
          </a:p>
        </p:txBody>
      </p:sp>
      <p:sp>
        <p:nvSpPr>
          <p:cNvPr id="31" name="Rounded Rectangle 30"/>
          <p:cNvSpPr/>
          <p:nvPr/>
        </p:nvSpPr>
        <p:spPr>
          <a:xfrm>
            <a:off x="457200" y="4581652"/>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48640" y="4654804"/>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914400" y="4673092"/>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自転車・徒歩にも手当は出ますか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第14章 システムの裏方</a:t>
            </a:r>
            <a:r>
              <a:rPr sz="1250" b="0" i="0">
                <a:solidFill>
                  <a:srgbClr val="64748B"/>
                </a:solidFill>
                <a:latin typeface="Meiryo"/>
                <a:cs typeface="Meiryo"/>
                <a:ea typeface="Meiryo"/>
              </a:rPr>
              <a:t>   業務担当の方が直接触ることはない、動かすための土台</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40</a:t>
            </a:r>
          </a:p>
        </p:txBody>
      </p:sp>
      <p:sp>
        <p:nvSpPr>
          <p:cNvPr id="7" name="TextBox 6"/>
          <p:cNvSpPr txBox="1"/>
          <p:nvPr/>
        </p:nvSpPr>
        <p:spPr>
          <a:xfrm>
            <a:off x="475488" y="1115568"/>
            <a:ext cx="10820095" cy="712470"/>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直接の業務データではありませんが、「抜けが無いか」の確認対象として一覧に入れます。特に一番下の「法人ごとの設定」は、実務の運用値が入る場所です。</a:t>
            </a:r>
          </a:p>
        </p:txBody>
      </p:sp>
      <p:sp>
        <p:nvSpPr>
          <p:cNvPr id="8" name="Rounded Rectangle 7"/>
          <p:cNvSpPr/>
          <p:nvPr/>
        </p:nvSpPr>
        <p:spPr>
          <a:xfrm>
            <a:off x="457200" y="193776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937766"/>
            <a:ext cx="68580" cy="72161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010918"/>
            <a:ext cx="6705295" cy="256032"/>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法人</a:t>
            </a:r>
            <a:r>
              <a:rPr sz="950" b="0" i="0">
                <a:solidFill>
                  <a:srgbClr val="64748B"/>
                </a:solidFill>
                <a:latin typeface="Consolas"/>
                <a:cs typeface="Consolas"/>
                <a:ea typeface="Consolas"/>
              </a:rPr>
              <a:t>  tenants</a:t>
            </a:r>
          </a:p>
        </p:txBody>
      </p:sp>
      <p:sp>
        <p:nvSpPr>
          <p:cNvPr id="11" name="Rounded Rectangle 10"/>
          <p:cNvSpPr/>
          <p:nvPr/>
        </p:nvSpPr>
        <p:spPr>
          <a:xfrm>
            <a:off x="10499483" y="2010918"/>
            <a:ext cx="1088707" cy="23774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法人1社 = 1行</a:t>
            </a:r>
          </a:p>
        </p:txBody>
      </p:sp>
      <p:sp>
        <p:nvSpPr>
          <p:cNvPr id="12" name="TextBox 11"/>
          <p:cNvSpPr txBox="1"/>
          <p:nvPr/>
        </p:nvSpPr>
        <p:spPr>
          <a:xfrm>
            <a:off x="658368" y="228523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法人名 / URLに使う識別子 / 登録日時</a:t>
            </a:r>
          </a:p>
        </p:txBody>
      </p:sp>
      <p:sp>
        <p:nvSpPr>
          <p:cNvPr id="13" name="Rounded Rectangle 12"/>
          <p:cNvSpPr/>
          <p:nvPr/>
        </p:nvSpPr>
        <p:spPr>
          <a:xfrm>
            <a:off x="457200" y="278739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787396"/>
            <a:ext cx="68580" cy="72161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860548"/>
            <a:ext cx="6705295" cy="256032"/>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暗号鍵</a:t>
            </a:r>
            <a:r>
              <a:rPr sz="950" b="0" i="0">
                <a:solidFill>
                  <a:srgbClr val="64748B"/>
                </a:solidFill>
                <a:latin typeface="Consolas"/>
                <a:cs typeface="Consolas"/>
                <a:ea typeface="Consolas"/>
              </a:rPr>
              <a:t>  tenant_keys</a:t>
            </a:r>
          </a:p>
        </p:txBody>
      </p:sp>
      <p:sp>
        <p:nvSpPr>
          <p:cNvPr id="16" name="Rounded Rectangle 15"/>
          <p:cNvSpPr/>
          <p:nvPr/>
        </p:nvSpPr>
        <p:spPr>
          <a:xfrm>
            <a:off x="10137533" y="2860548"/>
            <a:ext cx="1450657" cy="23774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法人×鍵の世代 = 1行</a:t>
            </a:r>
          </a:p>
        </p:txBody>
      </p:sp>
      <p:sp>
        <p:nvSpPr>
          <p:cNvPr id="17" name="TextBox 16"/>
          <p:cNvSpPr txBox="1"/>
          <p:nvPr/>
        </p:nvSpPr>
        <p:spPr>
          <a:xfrm>
            <a:off x="658368" y="313486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法人 / 鍵の世代 / 包んだ鍵 / 上位鍵の世代 / 失効日時</a:t>
            </a:r>
          </a:p>
        </p:txBody>
      </p:sp>
      <p:sp>
        <p:nvSpPr>
          <p:cNvPr id="18" name="Rounded Rectangle 17"/>
          <p:cNvSpPr/>
          <p:nvPr/>
        </p:nvSpPr>
        <p:spPr>
          <a:xfrm>
            <a:off x="457200" y="363702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637026"/>
            <a:ext cx="68580" cy="72161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710178"/>
            <a:ext cx="6705295" cy="256032"/>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ログインセッション</a:t>
            </a:r>
            <a:r>
              <a:rPr sz="950" b="0" i="0">
                <a:solidFill>
                  <a:srgbClr val="64748B"/>
                </a:solidFill>
                <a:latin typeface="Consolas"/>
                <a:cs typeface="Consolas"/>
                <a:ea typeface="Consolas"/>
              </a:rPr>
              <a:t>  sessions</a:t>
            </a:r>
          </a:p>
        </p:txBody>
      </p:sp>
      <p:sp>
        <p:nvSpPr>
          <p:cNvPr id="21" name="Rounded Rectangle 20"/>
          <p:cNvSpPr/>
          <p:nvPr/>
        </p:nvSpPr>
        <p:spPr>
          <a:xfrm>
            <a:off x="10258183" y="3710178"/>
            <a:ext cx="1330007" cy="23774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ログイン1回 = 1行</a:t>
            </a:r>
          </a:p>
        </p:txBody>
      </p:sp>
      <p:sp>
        <p:nvSpPr>
          <p:cNvPr id="22" name="TextBox 21"/>
          <p:cNvSpPr txBox="1"/>
          <p:nvPr/>
        </p:nvSpPr>
        <p:spPr>
          <a:xfrm>
            <a:off x="658368" y="398449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法人 / スタッフ / 合言葉の照合用の値 / 有効期限</a:t>
            </a:r>
          </a:p>
        </p:txBody>
      </p:sp>
      <p:sp>
        <p:nvSpPr>
          <p:cNvPr id="23" name="Rounded Rectangle 22"/>
          <p:cNvSpPr/>
          <p:nvPr/>
        </p:nvSpPr>
        <p:spPr>
          <a:xfrm>
            <a:off x="457200" y="448665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486656"/>
            <a:ext cx="68580" cy="72161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559808"/>
            <a:ext cx="6705295" cy="256032"/>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パスワード再設定コード</a:t>
            </a:r>
            <a:r>
              <a:rPr sz="950" b="0" i="0">
                <a:solidFill>
                  <a:srgbClr val="64748B"/>
                </a:solidFill>
                <a:latin typeface="Consolas"/>
                <a:cs typeface="Consolas"/>
                <a:ea typeface="Consolas"/>
              </a:rPr>
              <a:t>  password_reset_codes</a:t>
            </a:r>
          </a:p>
        </p:txBody>
      </p:sp>
      <p:sp>
        <p:nvSpPr>
          <p:cNvPr id="26" name="Rounded Rectangle 25"/>
          <p:cNvSpPr/>
          <p:nvPr/>
        </p:nvSpPr>
        <p:spPr>
          <a:xfrm>
            <a:off x="10499483" y="4559808"/>
            <a:ext cx="1088707" cy="23774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発行1回 = 1行</a:t>
            </a:r>
          </a:p>
        </p:txBody>
      </p:sp>
      <p:sp>
        <p:nvSpPr>
          <p:cNvPr id="27" name="TextBox 26"/>
          <p:cNvSpPr txBox="1"/>
          <p:nvPr/>
        </p:nvSpPr>
        <p:spPr>
          <a:xfrm>
            <a:off x="658368" y="483412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スタッフ / 照合用の値 / 有効期限(30分) / 使用済み日時 / 誤入力回数(5回で無効)</a:t>
            </a:r>
          </a:p>
        </p:txBody>
      </p:sp>
      <p:sp>
        <p:nvSpPr>
          <p:cNvPr id="28" name="Rounded Rectangle 27"/>
          <p:cNvSpPr/>
          <p:nvPr/>
        </p:nvSpPr>
        <p:spPr>
          <a:xfrm>
            <a:off x="457200" y="5336286"/>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5336286"/>
            <a:ext cx="68580" cy="72161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5409438"/>
            <a:ext cx="6705295" cy="256032"/>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外部送信の待ち行列</a:t>
            </a:r>
            <a:r>
              <a:rPr sz="950" b="0" i="0">
                <a:solidFill>
                  <a:srgbClr val="64748B"/>
                </a:solidFill>
                <a:latin typeface="Consolas"/>
                <a:cs typeface="Consolas"/>
                <a:ea typeface="Consolas"/>
              </a:rPr>
              <a:t>  outbox_jobs</a:t>
            </a:r>
          </a:p>
        </p:txBody>
      </p:sp>
      <p:sp>
        <p:nvSpPr>
          <p:cNvPr id="31" name="Rounded Rectangle 30"/>
          <p:cNvSpPr/>
          <p:nvPr/>
        </p:nvSpPr>
        <p:spPr>
          <a:xfrm>
            <a:off x="10499483" y="5409438"/>
            <a:ext cx="1088707" cy="23774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送信1件 = 1行</a:t>
            </a:r>
          </a:p>
        </p:txBody>
      </p:sp>
      <p:sp>
        <p:nvSpPr>
          <p:cNvPr id="32" name="TextBox 31"/>
          <p:cNvSpPr txBox="1"/>
          <p:nvPr/>
        </p:nvSpPr>
        <p:spPr>
          <a:xfrm>
            <a:off x="658368" y="5683758"/>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種類 / 対象 / 重複防止キー / 状態 / 試行回数 / 直近のエラー / 次回試行時刻 / 完了日時</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第14章 システムの裏方(続き)</a:t>
            </a:r>
            <a:r>
              <a:rPr sz="1250" b="0" i="0">
                <a:solidFill>
                  <a:srgbClr val="64748B"/>
                </a:solidFill>
                <a:latin typeface="Meiryo"/>
                <a:cs typeface="Meiryo"/>
                <a:ea typeface="Meiryo"/>
              </a:rPr>
              <a:t>   記録している項目</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41</a:t>
            </a:r>
          </a:p>
        </p:txBody>
      </p:sp>
      <p:sp>
        <p:nvSpPr>
          <p:cNvPr id="7" name="Rounded Rectangle 6"/>
          <p:cNvSpPr/>
          <p:nvPr/>
        </p:nvSpPr>
        <p:spPr>
          <a:xfrm>
            <a:off x="457200" y="1115568"/>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93116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188720"/>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法人ごとの設定</a:t>
            </a:r>
            <a:r>
              <a:rPr sz="950" b="0" i="0">
                <a:solidFill>
                  <a:srgbClr val="64748B"/>
                </a:solidFill>
                <a:latin typeface="Consolas"/>
                <a:cs typeface="Consolas"/>
                <a:ea typeface="Consolas"/>
              </a:rPr>
              <a:t>  app_settings</a:t>
            </a:r>
          </a:p>
        </p:txBody>
      </p:sp>
      <p:sp>
        <p:nvSpPr>
          <p:cNvPr id="10" name="Rounded Rectangle 9"/>
          <p:cNvSpPr/>
          <p:nvPr/>
        </p:nvSpPr>
        <p:spPr>
          <a:xfrm>
            <a:off x="10499483" y="1188720"/>
            <a:ext cx="1088707"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法人1社 = 1行</a:t>
            </a:r>
          </a:p>
        </p:txBody>
      </p:sp>
      <p:sp>
        <p:nvSpPr>
          <p:cNvPr id="11" name="TextBox 10"/>
          <p:cNvSpPr txBox="1"/>
          <p:nvPr/>
        </p:nvSpPr>
        <p:spPr>
          <a:xfrm>
            <a:off x="658368" y="1463040"/>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AI(Gemini)のAPIキー ※暗号化 / 使用するAIモデル(日報用・読み取り用) / チャット通知先(日報用・領収書用) ※暗号化 / 領収書の締め日 / 領収書の取り消し可能日数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第14章 システムの裏方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42</a:t>
            </a:r>
          </a:p>
        </p:txBody>
      </p:sp>
      <p:sp>
        <p:nvSpPr>
          <p:cNvPr id="7" name="Rounded Rectangle 6"/>
          <p:cNvSpPr/>
          <p:nvPr/>
        </p:nvSpPr>
        <p:spPr>
          <a:xfrm>
            <a:off x="457200" y="1115568"/>
            <a:ext cx="5547207" cy="150520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50520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002283"/>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パスワード・再設定コードは、元に戻せない形に変換して保存する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APIキーと通知先URLだけは、データベースの中でも別途暗号化する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スプレッドシートへの写しは失敗しても自動で再試行し、8回失敗した分だけ別に溜める</a:t>
            </a:r>
          </a:p>
        </p:txBody>
      </p:sp>
      <p:sp>
        <p:nvSpPr>
          <p:cNvPr id="11" name="Rounded Rectangle 10"/>
          <p:cNvSpPr/>
          <p:nvPr/>
        </p:nvSpPr>
        <p:spPr>
          <a:xfrm>
            <a:off x="6187287" y="1115568"/>
            <a:ext cx="5547207" cy="150520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5052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002283"/>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本番環境はまだ用意していない(保存時の暗号化・バックアップは本番構築時に設定)</a:t>
            </a:r>
          </a:p>
        </p:txBody>
      </p:sp>
      <p:sp>
        <p:nvSpPr>
          <p:cNvPr id="15" name="TextBox 14"/>
          <p:cNvSpPr txBox="1"/>
          <p:nvPr/>
        </p:nvSpPr>
        <p:spPr>
          <a:xfrm>
            <a:off x="457200" y="2803652"/>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132836"/>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20598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224276"/>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スプレッドシートへの写しは、いつまで続けますか。並行運用の終了時期の目安はありますか</a:t>
            </a:r>
          </a:p>
        </p:txBody>
      </p:sp>
      <p:sp>
        <p:nvSpPr>
          <p:cNvPr id="19" name="Rounded Rectangle 18"/>
          <p:cNvSpPr/>
          <p:nvPr/>
        </p:nvSpPr>
        <p:spPr>
          <a:xfrm>
            <a:off x="6187287" y="3132836"/>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205988"/>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224276"/>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AIによる日報の下書き・領収書の読み取りは、どこまで使う想定ですか</a:t>
            </a:r>
          </a:p>
        </p:txBody>
      </p:sp>
      <p:sp>
        <p:nvSpPr>
          <p:cNvPr id="22" name="Rounded Rectangle 21"/>
          <p:cNvSpPr/>
          <p:nvPr/>
        </p:nvSpPr>
        <p:spPr>
          <a:xfrm>
            <a:off x="6187287" y="3650488"/>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278727" y="372363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6644487" y="3741928"/>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チャット通知の宛先(日報用・領収書用)はそれぞれどのグループですか</a:t>
            </a:r>
          </a:p>
        </p:txBody>
      </p:sp>
      <p:sp>
        <p:nvSpPr>
          <p:cNvPr id="25" name="Rounded Rectangle 24"/>
          <p:cNvSpPr/>
          <p:nvPr/>
        </p:nvSpPr>
        <p:spPr>
          <a:xfrm>
            <a:off x="457200" y="3857244"/>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48640" y="3930396"/>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914400" y="3948684"/>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管理者ができることの範囲を決める必要があります(誰が何を見られるか)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第15章 日報AIの文面の調整</a:t>
            </a:r>
            <a:r>
              <a:rPr sz="1250" b="0" i="0">
                <a:solidFill>
                  <a:srgbClr val="64748B"/>
                </a:solidFill>
                <a:latin typeface="Meiryo"/>
                <a:cs typeface="Meiryo"/>
                <a:ea typeface="Meiryo"/>
              </a:rPr>
              <a:t>   AIに渡す指示文と、保護者向けの文面を組み替えるための材料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この一覧に無いものは、いまのままでは記録できません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43</a:t>
            </a:r>
          </a:p>
        </p:txBody>
      </p:sp>
      <p:sp>
        <p:nvSpPr>
          <p:cNvPr id="7" name="TextBox 6"/>
          <p:cNvSpPr txBox="1"/>
          <p:nvPr/>
        </p:nvSpPr>
        <p:spPr>
          <a:xfrm>
            <a:off x="475488" y="1115568"/>
            <a:ext cx="10820095" cy="493395"/>
          </a:xfrm>
          <a:prstGeom prst="rect">
            <a:avLst/>
          </a:prstGeom>
          <a:noFill/>
        </p:spPr>
        <p:txBody>
          <a:bodyPr wrap="square" lIns="0" rIns="0" tIns="0" bIns="0" anchor="t">
            <a:spAutoFit/>
          </a:bodyPr>
          <a:lstStyle/>
          <a:p>
            <a:pPr algn="l">
              <a:lnSpc>
                <a:spcPct val="150000"/>
              </a:lnSpc>
              <a:buNone/>
            </a:pPr>
            <a:r>
              <a:rPr sz="1150" b="0" i="0">
                <a:solidFill>
                  <a:srgbClr val="14223A"/>
                </a:solidFill>
                <a:latin typeface="Meiryo"/>
                <a:cs typeface="Meiryo"/>
                <a:ea typeface="Meiryo"/>
              </a:rPr>
              <a:t>AIに日報の下書きを作らせるときの「指示文」を、法人ごとに書き換えられるようにする仕組みです。</a:t>
            </a:r>
          </a:p>
        </p:txBody>
      </p:sp>
      <p:sp>
        <p:nvSpPr>
          <p:cNvPr id="8" name="Rounded Rectangle 7"/>
          <p:cNvSpPr/>
          <p:nvPr/>
        </p:nvSpPr>
        <p:spPr>
          <a:xfrm>
            <a:off x="457200" y="1718690"/>
            <a:ext cx="11277295" cy="93116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718690"/>
            <a:ext cx="68580" cy="93116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91843"/>
            <a:ext cx="6705295" cy="256032"/>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AIに渡す文面</a:t>
            </a:r>
            <a:r>
              <a:rPr sz="950" b="0" i="0">
                <a:solidFill>
                  <a:srgbClr val="64748B"/>
                </a:solidFill>
                <a:latin typeface="Consolas"/>
                <a:cs typeface="Consolas"/>
                <a:ea typeface="Consolas"/>
              </a:rPr>
              <a:t>  prompt_templates</a:t>
            </a:r>
          </a:p>
        </p:txBody>
      </p:sp>
      <p:sp>
        <p:nvSpPr>
          <p:cNvPr id="11" name="Rounded Rectangle 10"/>
          <p:cNvSpPr/>
          <p:nvPr/>
        </p:nvSpPr>
        <p:spPr>
          <a:xfrm>
            <a:off x="10071176" y="1791843"/>
            <a:ext cx="1517015" cy="237744"/>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文面1種類の1版 = 1行</a:t>
            </a:r>
          </a:p>
        </p:txBody>
      </p:sp>
      <p:sp>
        <p:nvSpPr>
          <p:cNvPr id="12" name="TextBox 11"/>
          <p:cNvSpPr txBox="1"/>
          <p:nvPr/>
        </p:nvSpPr>
        <p:spPr>
          <a:xfrm>
            <a:off x="658368" y="2066162"/>
            <a:ext cx="10874959" cy="51054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文面の種類(日報生成・日報の文体ルール・事故報告生成・領収書の読み取り・日報メモ欄の入力例・事故報告メモ欄の入力例・事故報告の記載要領・ヒヤリハットの記載要領) / 版番号 / 本文 / 変更メモ / 編集した人 / 保存日時</a:t>
            </a:r>
          </a:p>
        </p:txBody>
      </p:sp>
      <p:sp>
        <p:nvSpPr>
          <p:cNvPr id="13" name="Rounded Rectangle 12"/>
          <p:cNvSpPr/>
          <p:nvPr/>
        </p:nvSpPr>
        <p:spPr>
          <a:xfrm>
            <a:off x="457200" y="2777870"/>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57200" y="2777870"/>
            <a:ext cx="68580" cy="721614"/>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851023"/>
            <a:ext cx="6705295" cy="256032"/>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年齢帯と教育の言葉</a:t>
            </a:r>
            <a:r>
              <a:rPr sz="950" b="0" i="0">
                <a:solidFill>
                  <a:srgbClr val="64748B"/>
                </a:solidFill>
                <a:latin typeface="Consolas"/>
                <a:cs typeface="Consolas"/>
                <a:ea typeface="Consolas"/>
              </a:rPr>
              <a:t>  report_age_bands / report_keywords / report_age_band_keywords</a:t>
            </a:r>
          </a:p>
        </p:txBody>
      </p:sp>
      <p:sp>
        <p:nvSpPr>
          <p:cNvPr id="16" name="Rounded Rectangle 15"/>
          <p:cNvSpPr/>
          <p:nvPr/>
        </p:nvSpPr>
        <p:spPr>
          <a:xfrm>
            <a:off x="10083241" y="2851023"/>
            <a:ext cx="1504950" cy="237744"/>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区切り・言葉 = 各1行</a:t>
            </a:r>
          </a:p>
        </p:txBody>
      </p:sp>
      <p:sp>
        <p:nvSpPr>
          <p:cNvPr id="17" name="TextBox 16"/>
          <p:cNvSpPr txBox="1"/>
          <p:nvPr/>
        </p:nvSpPr>
        <p:spPr>
          <a:xfrm>
            <a:off x="658368" y="3125342"/>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区切りの名前 / 月齢の範囲 / その時期の姿を表す言葉 / 言葉 / 分類 / やさしい言い換え / 使ってよい月齢・関心度・負担の範囲 / 使うかどうか</a:t>
            </a:r>
          </a:p>
        </p:txBody>
      </p:sp>
      <p:sp>
        <p:nvSpPr>
          <p:cNvPr id="18" name="Rounded Rectangle 17"/>
          <p:cNvSpPr/>
          <p:nvPr/>
        </p:nvSpPr>
        <p:spPr>
          <a:xfrm>
            <a:off x="457200" y="3627500"/>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627500"/>
            <a:ext cx="68580" cy="72161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700653"/>
            <a:ext cx="6705295" cy="256032"/>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組み替えの決めごと</a:t>
            </a:r>
            <a:r>
              <a:rPr sz="950" b="0" i="0">
                <a:solidFill>
                  <a:srgbClr val="64748B"/>
                </a:solidFill>
                <a:latin typeface="Consolas"/>
                <a:cs typeface="Consolas"/>
                <a:ea typeface="Consolas"/>
              </a:rPr>
              <a:t>  report_education_levels / report_stress_levels</a:t>
            </a:r>
          </a:p>
        </p:txBody>
      </p:sp>
      <p:sp>
        <p:nvSpPr>
          <p:cNvPr id="21" name="Rounded Rectangle 20"/>
          <p:cNvSpPr/>
          <p:nvPr/>
        </p:nvSpPr>
        <p:spPr>
          <a:xfrm>
            <a:off x="10137533" y="3700653"/>
            <a:ext cx="1450657" cy="23774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45309"/>
                </a:solidFill>
                <a:latin typeface="Meiryo"/>
                <a:cs typeface="Meiryo"/>
                <a:ea typeface="Meiryo"/>
              </a:rPr>
              <a:t>5段階それぞれ = 1行</a:t>
            </a:r>
          </a:p>
        </p:txBody>
      </p:sp>
      <p:sp>
        <p:nvSpPr>
          <p:cNvPr id="22" name="TextBox 21"/>
          <p:cNvSpPr txBox="1"/>
          <p:nvPr/>
        </p:nvSpPr>
        <p:spPr>
          <a:xfrm>
            <a:off x="658368" y="3974972"/>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教育への関心度ごと:使ってよい言葉の数・専門用語の可否 / 負担の大きさごと:関心度を何段下げるか・教育の言葉の可否・管理者への連絡の要否</a:t>
            </a:r>
          </a:p>
        </p:txBody>
      </p:sp>
      <p:sp>
        <p:nvSpPr>
          <p:cNvPr id="23" name="Rounded Rectangle 22"/>
          <p:cNvSpPr/>
          <p:nvPr/>
        </p:nvSpPr>
        <p:spPr>
          <a:xfrm>
            <a:off x="457200" y="4477131"/>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477131"/>
            <a:ext cx="68580" cy="72161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550283"/>
            <a:ext cx="6705295" cy="256032"/>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言い回しとご家庭の設定</a:t>
            </a:r>
            <a:r>
              <a:rPr sz="950" b="0" i="0">
                <a:solidFill>
                  <a:srgbClr val="64748B"/>
                </a:solidFill>
                <a:latin typeface="Consolas"/>
                <a:cs typeface="Consolas"/>
                <a:ea typeface="Consolas"/>
              </a:rPr>
              <a:t>  report_phrases / customer_report_profiles</a:t>
            </a:r>
          </a:p>
        </p:txBody>
      </p:sp>
      <p:sp>
        <p:nvSpPr>
          <p:cNvPr id="26" name="Rounded Rectangle 25"/>
          <p:cNvSpPr/>
          <p:nvPr/>
        </p:nvSpPr>
        <p:spPr>
          <a:xfrm>
            <a:off x="9841941" y="4550283"/>
            <a:ext cx="174625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言い回し・ご家庭 = 各1行</a:t>
            </a:r>
          </a:p>
        </p:txBody>
      </p:sp>
      <p:sp>
        <p:nvSpPr>
          <p:cNvPr id="27" name="TextBox 26"/>
          <p:cNvSpPr txBox="1"/>
          <p:nvPr/>
        </p:nvSpPr>
        <p:spPr>
          <a:xfrm>
            <a:off x="658368" y="4824603"/>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温かみのある言い回し / 避ける言い回し / それぞれの意図と、効かせる負担の範囲 / ご家庭ごとの教育への関心度(5段階)・メモ・付けた人</a:t>
            </a:r>
          </a:p>
        </p:txBody>
      </p:sp>
      <p:sp>
        <p:nvSpPr>
          <p:cNvPr id="28" name="Rounded Rectangle 27"/>
          <p:cNvSpPr/>
          <p:nvPr/>
        </p:nvSpPr>
        <p:spPr>
          <a:xfrm>
            <a:off x="457200" y="5326761"/>
            <a:ext cx="11277295" cy="721614"/>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5326761"/>
            <a:ext cx="68580" cy="72161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5399913"/>
            <a:ext cx="6705295" cy="256032"/>
          </a:xfrm>
          <a:prstGeom prst="rect">
            <a:avLst/>
          </a:prstGeom>
          <a:noFill/>
        </p:spPr>
        <p:txBody>
          <a:bodyPr wrap="square" lIns="0" rIns="0" tIns="0" bIns="0" anchor="t">
            <a:spAutoFit/>
          </a:bodyPr>
          <a:lstStyle/>
          <a:p>
            <a:pPr algn="l">
              <a:lnSpc>
                <a:spcPct val="125000"/>
              </a:lnSpc>
              <a:buNone/>
            </a:pPr>
            <a:r>
              <a:rPr sz="1250" b="1" i="0">
                <a:solidFill>
                  <a:srgbClr val="0F766E"/>
                </a:solidFill>
                <a:latin typeface="Meiryo"/>
                <a:cs typeface="Meiryo"/>
                <a:ea typeface="Meiryo"/>
              </a:rPr>
              <a:t>AI生成の記録</a:t>
            </a:r>
            <a:r>
              <a:rPr sz="950" b="0" i="0">
                <a:solidFill>
                  <a:srgbClr val="64748B"/>
                </a:solidFill>
                <a:latin typeface="Consolas"/>
                <a:cs typeface="Consolas"/>
                <a:ea typeface="Consolas"/>
              </a:rPr>
              <a:t>  report_ai_generations / report_ai_generation_keywords</a:t>
            </a:r>
          </a:p>
        </p:txBody>
      </p:sp>
      <p:sp>
        <p:nvSpPr>
          <p:cNvPr id="31" name="Rounded Rectangle 30"/>
          <p:cNvSpPr/>
          <p:nvPr/>
        </p:nvSpPr>
        <p:spPr>
          <a:xfrm>
            <a:off x="10499483" y="5399913"/>
            <a:ext cx="1088707"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F766E"/>
                </a:solidFill>
                <a:latin typeface="Meiryo"/>
                <a:cs typeface="Meiryo"/>
                <a:ea typeface="Meiryo"/>
              </a:rPr>
              <a:t>生成1回 = 1行</a:t>
            </a:r>
          </a:p>
        </p:txBody>
      </p:sp>
      <p:sp>
        <p:nvSpPr>
          <p:cNvPr id="32" name="TextBox 31"/>
          <p:cNvSpPr txBox="1"/>
          <p:nvPr/>
        </p:nvSpPr>
        <p:spPr>
          <a:xfrm>
            <a:off x="658368" y="5674233"/>
            <a:ext cx="10874959" cy="300990"/>
          </a:xfrm>
          <a:prstGeom prst="rect">
            <a:avLst/>
          </a:prstGeom>
          <a:noFill/>
        </p:spPr>
        <p:txBody>
          <a:bodyPr wrap="square" lIns="0" rIns="0" tIns="0" bIns="0" anchor="t">
            <a:spAutoFit/>
          </a:bodyPr>
          <a:lstStyle/>
          <a:p>
            <a:pPr algn="l">
              <a:lnSpc>
                <a:spcPct val="150000"/>
              </a:lnSpc>
              <a:buNone/>
            </a:pPr>
            <a:r>
              <a:rPr sz="1100" b="0" i="0">
                <a:solidFill>
                  <a:srgbClr val="14223A"/>
                </a:solidFill>
                <a:latin typeface="Meiryo"/>
                <a:cs typeface="Meiryo"/>
                <a:ea typeface="Meiryo"/>
              </a:rPr>
              <a:t>いつ・どの文面(版)で作ったか / AIのモデル名 / 月齢 / 関心度と負担の大きさ / 入力したメモ / AIが返した文面 / 提示した語と使われた語</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第15章 日報AIの文面の調整 — ご確認のお願い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ご回答は「これで問題ない」の一言でも構いません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44</a:t>
            </a:r>
          </a:p>
        </p:txBody>
      </p:sp>
      <p:sp>
        <p:nvSpPr>
          <p:cNvPr id="7" name="Rounded Rectangle 6"/>
          <p:cNvSpPr/>
          <p:nvPr/>
        </p:nvSpPr>
        <p:spPr>
          <a:xfrm>
            <a:off x="457200"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1707769"/>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自動で守られること</a:t>
            </a:r>
          </a:p>
        </p:txBody>
      </p:sp>
      <p:sp>
        <p:nvSpPr>
          <p:cNvPr id="10" name="TextBox 9"/>
          <p:cNvSpPr txBox="1"/>
          <p:nvPr/>
        </p:nvSpPr>
        <p:spPr>
          <a:xfrm>
            <a:off x="667512"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文面を書き換えても前の文面は版として残り、どの文面で作った日報かを後からたどれる</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「既定に戻す」も新しい版として残る。過去の版は消せない</a:t>
            </a:r>
          </a:p>
          <a:p>
            <a:pPr marL="182880" indent="-182880">
              <a:lnSpc>
                <a:spcPct val="145000"/>
              </a:lnSpc>
              <a:spcBef>
                <a:spcPts val="400"/>
              </a:spcBef>
              <a:buClr>
                <a:srgbClr val="0369A1"/>
              </a:buClr>
              <a:buFont typeface="Meiryo"/>
              <a:buChar char="▪"/>
            </a:pPr>
            <a:r>
              <a:rPr sz="1100" b="0">
                <a:solidFill>
                  <a:srgbClr val="14223A"/>
                </a:solidFill>
                <a:latin typeface="Meiryo"/>
                <a:cs typeface="Meiryo"/>
                <a:ea typeface="Meiryo"/>
              </a:rPr>
              <a:t>書き換えていない文面は、最初から入っている既定の文面がそのまま使われる</a:t>
            </a:r>
          </a:p>
        </p:txBody>
      </p:sp>
      <p:sp>
        <p:nvSpPr>
          <p:cNvPr id="11" name="Rounded Rectangle 10"/>
          <p:cNvSpPr/>
          <p:nvPr/>
        </p:nvSpPr>
        <p:spPr>
          <a:xfrm>
            <a:off x="6187287" y="1115568"/>
            <a:ext cx="5547207" cy="170776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7287" y="1115568"/>
            <a:ext cx="68580" cy="170776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97599" y="1225295"/>
            <a:ext cx="5218023"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まだ決まっていないこと</a:t>
            </a:r>
          </a:p>
        </p:txBody>
      </p:sp>
      <p:sp>
        <p:nvSpPr>
          <p:cNvPr id="14" name="TextBox 13"/>
          <p:cNvSpPr txBox="1"/>
          <p:nvPr/>
        </p:nvSpPr>
        <p:spPr>
          <a:xfrm>
            <a:off x="6397599" y="1527048"/>
            <a:ext cx="5172303" cy="1204849"/>
          </a:xfrm>
          <a:prstGeom prst="rect">
            <a:avLst/>
          </a:prstGeom>
          <a:noFill/>
        </p:spPr>
        <p:txBody>
          <a:bodyPr wrap="square" lIns="0" rIns="0" tIns="0" bIns="0">
            <a:spAutoFit/>
          </a:bodyPr>
          <a:lstStyle/>
          <a:p>
            <a:pPr marL="182880" indent="-182880">
              <a:lnSpc>
                <a:spcPct val="145000"/>
              </a:lnSpc>
              <a:spcBef>
                <a:spcPts val="0"/>
              </a:spcBef>
              <a:buClr>
                <a:srgbClr val="0369A1"/>
              </a:buClr>
              <a:buFont typeface="Meiryo"/>
              <a:buChar char="▪"/>
            </a:pPr>
            <a:r>
              <a:rPr sz="1100" b="0">
                <a:solidFill>
                  <a:srgbClr val="14223A"/>
                </a:solidFill>
                <a:latin typeface="Meiryo"/>
                <a:cs typeface="Meiryo"/>
                <a:ea typeface="Meiryo"/>
              </a:rPr>
              <a:t>AIが作った文面の記録を、どれくらいの期間残すかが未決(いまは1年で消す設定)</a:t>
            </a:r>
          </a:p>
        </p:txBody>
      </p:sp>
      <p:sp>
        <p:nvSpPr>
          <p:cNvPr id="15" name="TextBox 14"/>
          <p:cNvSpPr txBox="1"/>
          <p:nvPr/>
        </p:nvSpPr>
        <p:spPr>
          <a:xfrm>
            <a:off x="457200" y="3006217"/>
            <a:ext cx="11277295"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確認していただきたいこと</a:t>
            </a:r>
          </a:p>
        </p:txBody>
      </p:sp>
      <p:sp>
        <p:nvSpPr>
          <p:cNvPr id="16" name="Rounded Rectangle 15"/>
          <p:cNvSpPr/>
          <p:nvPr/>
        </p:nvSpPr>
        <p:spPr>
          <a:xfrm>
            <a:off x="457200" y="3335401"/>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48640"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1</a:t>
            </a:r>
          </a:p>
        </p:txBody>
      </p:sp>
      <p:sp>
        <p:nvSpPr>
          <p:cNvPr id="18" name="TextBox 17"/>
          <p:cNvSpPr txBox="1"/>
          <p:nvPr/>
        </p:nvSpPr>
        <p:spPr>
          <a:xfrm>
            <a:off x="914400" y="342684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教育への関心度(5段階)は、どなたが・いつ付けますか。初回の面談ですか、担当者の判断ですか</a:t>
            </a:r>
          </a:p>
        </p:txBody>
      </p:sp>
      <p:sp>
        <p:nvSpPr>
          <p:cNvPr id="19" name="Rounded Rectangle 18"/>
          <p:cNvSpPr/>
          <p:nvPr/>
        </p:nvSpPr>
        <p:spPr>
          <a:xfrm>
            <a:off x="6187287" y="3335401"/>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3408553"/>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2</a:t>
            </a:r>
          </a:p>
        </p:txBody>
      </p:sp>
      <p:sp>
        <p:nvSpPr>
          <p:cNvPr id="21" name="TextBox 20"/>
          <p:cNvSpPr txBox="1"/>
          <p:nvPr/>
        </p:nvSpPr>
        <p:spPr>
          <a:xfrm>
            <a:off x="6644487" y="3426841"/>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保護者の負担の大きさ(5段階)は訪問ごとにスタッフが付ける前提です。その判定基準は、現場でそのまま使える言葉になっていますか</a:t>
            </a:r>
          </a:p>
        </p:txBody>
      </p:sp>
      <p:sp>
        <p:nvSpPr>
          <p:cNvPr id="22" name="Rounded Rectangle 21"/>
          <p:cNvSpPr/>
          <p:nvPr/>
        </p:nvSpPr>
        <p:spPr>
          <a:xfrm>
            <a:off x="457200" y="40598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48640" y="41329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3</a:t>
            </a:r>
          </a:p>
        </p:txBody>
      </p:sp>
      <p:sp>
        <p:nvSpPr>
          <p:cNvPr id="24" name="TextBox 23"/>
          <p:cNvSpPr txBox="1"/>
          <p:nvPr/>
        </p:nvSpPr>
        <p:spPr>
          <a:xfrm>
            <a:off x="914400" y="415124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AIが作った文面の記録(入力したメモと、AIが返した文面)は、どれくらい保持しますか。保存しなかった下書きの分も残ります</a:t>
            </a:r>
          </a:p>
        </p:txBody>
      </p:sp>
      <p:sp>
        <p:nvSpPr>
          <p:cNvPr id="25" name="Rounded Rectangle 24"/>
          <p:cNvSpPr/>
          <p:nvPr/>
        </p:nvSpPr>
        <p:spPr>
          <a:xfrm>
            <a:off x="6187287" y="4059809"/>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4132961"/>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4</a:t>
            </a:r>
          </a:p>
        </p:txBody>
      </p:sp>
      <p:sp>
        <p:nvSpPr>
          <p:cNvPr id="27" name="TextBox 26"/>
          <p:cNvSpPr txBox="1"/>
          <p:nvPr/>
        </p:nvSpPr>
        <p:spPr>
          <a:xfrm>
            <a:off x="6644487" y="4151248"/>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教育的な言葉(「敏感期」「感覚統合」など)は、どのご家庭にどこまで使ってよいですか。実際に使っている言い回しを挙げてください</a:t>
            </a:r>
          </a:p>
        </p:txBody>
      </p:sp>
      <p:sp>
        <p:nvSpPr>
          <p:cNvPr id="28" name="Rounded Rectangle 27"/>
          <p:cNvSpPr/>
          <p:nvPr/>
        </p:nvSpPr>
        <p:spPr>
          <a:xfrm>
            <a:off x="457200" y="4784217"/>
            <a:ext cx="5547207" cy="407924"/>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48640"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5</a:t>
            </a:r>
          </a:p>
        </p:txBody>
      </p:sp>
      <p:sp>
        <p:nvSpPr>
          <p:cNvPr id="30" name="TextBox 29"/>
          <p:cNvSpPr txBox="1"/>
          <p:nvPr/>
        </p:nvSpPr>
        <p:spPr>
          <a:xfrm>
            <a:off x="914400" y="4875657"/>
            <a:ext cx="4980279" cy="261619"/>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保護者を追い詰めてしまうため避けたい言い回しがあれば挙げてください</a:t>
            </a:r>
          </a:p>
        </p:txBody>
      </p:sp>
      <p:sp>
        <p:nvSpPr>
          <p:cNvPr id="31" name="Rounded Rectangle 30"/>
          <p:cNvSpPr/>
          <p:nvPr/>
        </p:nvSpPr>
        <p:spPr>
          <a:xfrm>
            <a:off x="6187287" y="4784217"/>
            <a:ext cx="5547207" cy="614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4857369"/>
            <a:ext cx="274320"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6</a:t>
            </a:r>
          </a:p>
        </p:txBody>
      </p:sp>
      <p:sp>
        <p:nvSpPr>
          <p:cNvPr id="33" name="TextBox 32"/>
          <p:cNvSpPr txBox="1"/>
          <p:nvPr/>
        </p:nvSpPr>
        <p:spPr>
          <a:xfrm>
            <a:off x="6644487" y="4875657"/>
            <a:ext cx="4980279" cy="468376"/>
          </a:xfrm>
          <a:prstGeom prst="rect">
            <a:avLst/>
          </a:prstGeom>
          <a:noFill/>
        </p:spPr>
        <p:txBody>
          <a:bodyPr wrap="square" lIns="0" rIns="0" tIns="0" bIns="0" anchor="t">
            <a:spAutoFit/>
          </a:bodyPr>
          <a:lstStyle/>
          <a:p>
            <a:pPr algn="l">
              <a:lnSpc>
                <a:spcPct val="148000"/>
              </a:lnSpc>
              <a:buNone/>
            </a:pPr>
            <a:r>
              <a:rPr sz="1100" b="0" i="0">
                <a:solidFill>
                  <a:srgbClr val="14223A"/>
                </a:solidFill>
                <a:latin typeface="Meiryo"/>
                <a:cs typeface="Meiryo"/>
                <a:ea typeface="Meiryo"/>
              </a:rPr>
              <a:t>兄弟姉妹がいる世帯で、日報は「主に見ていたお子様」1人分でよいですか</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第16章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全体で守っている決めごと</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どの章にも共通してかかっているルールです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44枚すべてに共通する7つの決めごと</a:t>
            </a:r>
            <a:r>
              <a:rPr sz="1250" b="0" i="0">
                <a:solidFill>
                  <a:srgbClr val="64748B"/>
                </a:solidFill>
                <a:latin typeface="Meiryo"/>
                <a:cs typeface="Meiryo"/>
                <a:ea typeface="Meiryo"/>
              </a:rPr>
              <a:t>   第16章 全体の決めごと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46</a:t>
            </a:r>
          </a:p>
        </p:txBody>
      </p:sp>
      <p:sp>
        <p:nvSpPr>
          <p:cNvPr id="6" name="Rounded Rectangle 5"/>
          <p:cNvSpPr/>
          <p:nvPr/>
        </p:nvSpPr>
        <p:spPr>
          <a:xfrm>
            <a:off x="457200" y="1115568"/>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15568"/>
            <a:ext cx="68580" cy="56692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1261872"/>
            <a:ext cx="3200400" cy="274320"/>
          </a:xfrm>
          <a:prstGeom prst="rect">
            <a:avLst/>
          </a:prstGeom>
          <a:noFill/>
        </p:spPr>
        <p:txBody>
          <a:bodyPr wrap="square" lIns="0" rIns="0" tIns="0" bIns="0" anchor="t">
            <a:spAutoFit/>
          </a:bodyPr>
          <a:lstStyle/>
          <a:p>
            <a:pPr algn="l">
              <a:lnSpc>
                <a:spcPct val="125000"/>
              </a:lnSpc>
              <a:buNone/>
            </a:pPr>
            <a:r>
              <a:rPr sz="1150" b="1" i="0">
                <a:solidFill>
                  <a:srgbClr val="047857"/>
                </a:solidFill>
                <a:latin typeface="Meiryo"/>
                <a:cs typeface="Meiryo"/>
                <a:ea typeface="Meiryo"/>
              </a:rPr>
              <a:t>金額は「円の整数」で持つ</a:t>
            </a:r>
          </a:p>
        </p:txBody>
      </p:sp>
      <p:sp>
        <p:nvSpPr>
          <p:cNvPr id="9" name="TextBox 8"/>
          <p:cNvSpPr txBox="1"/>
          <p:nvPr/>
        </p:nvSpPr>
        <p:spPr>
          <a:xfrm>
            <a:off x="3977639" y="1216152"/>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1円未満を持ちません。消費税の端数処理は決めた場所で1回だけ行い、Excelの表示桁で誤差が出るようなことは起きません。</a:t>
            </a:r>
          </a:p>
        </p:txBody>
      </p:sp>
      <p:sp>
        <p:nvSpPr>
          <p:cNvPr id="10" name="Rounded Rectangle 9"/>
          <p:cNvSpPr/>
          <p:nvPr/>
        </p:nvSpPr>
        <p:spPr>
          <a:xfrm>
            <a:off x="457200" y="1773936"/>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57200" y="1773936"/>
            <a:ext cx="68580" cy="56692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1920240"/>
            <a:ext cx="3200400" cy="274320"/>
          </a:xfrm>
          <a:prstGeom prst="rect">
            <a:avLst/>
          </a:prstGeom>
          <a:noFill/>
        </p:spPr>
        <p:txBody>
          <a:bodyPr wrap="square" lIns="0" rIns="0" tIns="0" bIns="0" anchor="t">
            <a:spAutoFit/>
          </a:bodyPr>
          <a:lstStyle/>
          <a:p>
            <a:pPr algn="l">
              <a:lnSpc>
                <a:spcPct val="125000"/>
              </a:lnSpc>
              <a:buNone/>
            </a:pPr>
            <a:r>
              <a:rPr sz="1150" b="1" i="0">
                <a:solidFill>
                  <a:srgbClr val="047857"/>
                </a:solidFill>
                <a:latin typeface="Meiryo"/>
                <a:cs typeface="Meiryo"/>
                <a:ea typeface="Meiryo"/>
              </a:rPr>
              <a:t>日付・時刻は「日付として」持つ</a:t>
            </a:r>
          </a:p>
        </p:txBody>
      </p:sp>
      <p:sp>
        <p:nvSpPr>
          <p:cNvPr id="13" name="TextBox 12"/>
          <p:cNvSpPr txBox="1"/>
          <p:nvPr/>
        </p:nvSpPr>
        <p:spPr>
          <a:xfrm>
            <a:off x="3977639" y="1874519"/>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「2026/4/1」という文字ではなく日付そのものとして記録します。月またぎの集計や、勤務時間の計算が確実になります。</a:t>
            </a:r>
          </a:p>
        </p:txBody>
      </p:sp>
      <p:sp>
        <p:nvSpPr>
          <p:cNvPr id="14" name="Rounded Rectangle 13"/>
          <p:cNvSpPr/>
          <p:nvPr/>
        </p:nvSpPr>
        <p:spPr>
          <a:xfrm>
            <a:off x="457200" y="2432304"/>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432304"/>
            <a:ext cx="68580" cy="5669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2578608"/>
            <a:ext cx="3200400" cy="274320"/>
          </a:xfrm>
          <a:prstGeom prst="rect">
            <a:avLst/>
          </a:prstGeom>
          <a:noFill/>
        </p:spPr>
        <p:txBody>
          <a:bodyPr wrap="square" lIns="0" rIns="0" tIns="0" bIns="0" anchor="t">
            <a:spAutoFit/>
          </a:bodyPr>
          <a:lstStyle/>
          <a:p>
            <a:pPr algn="l">
              <a:lnSpc>
                <a:spcPct val="125000"/>
              </a:lnSpc>
              <a:buNone/>
            </a:pPr>
            <a:r>
              <a:rPr sz="1150" b="1" i="0">
                <a:solidFill>
                  <a:srgbClr val="6D28D9"/>
                </a:solidFill>
                <a:latin typeface="Meiryo"/>
                <a:cs typeface="Meiryo"/>
                <a:ea typeface="Meiryo"/>
              </a:rPr>
              <a:t>消さずに「取り消し」を記録する</a:t>
            </a:r>
          </a:p>
        </p:txBody>
      </p:sp>
      <p:sp>
        <p:nvSpPr>
          <p:cNvPr id="17" name="TextBox 16"/>
          <p:cNvSpPr txBox="1"/>
          <p:nvPr/>
        </p:nvSpPr>
        <p:spPr>
          <a:xfrm>
            <a:off x="3977639" y="2532888"/>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領収書・請求書・予約は、訂正しても行を消しません。取り消しの印と理由を残します。「あったはずのものが痕跡なく消える」状態を作りません。</a:t>
            </a:r>
          </a:p>
        </p:txBody>
      </p:sp>
      <p:sp>
        <p:nvSpPr>
          <p:cNvPr id="18" name="Rounded Rectangle 17"/>
          <p:cNvSpPr/>
          <p:nvPr/>
        </p:nvSpPr>
        <p:spPr>
          <a:xfrm>
            <a:off x="457200" y="3090672"/>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090672"/>
            <a:ext cx="68580" cy="5669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236976"/>
            <a:ext cx="3200400" cy="274320"/>
          </a:xfrm>
          <a:prstGeom prst="rect">
            <a:avLst/>
          </a:prstGeom>
          <a:noFill/>
        </p:spPr>
        <p:txBody>
          <a:bodyPr wrap="square" lIns="0" rIns="0" tIns="0" bIns="0" anchor="t">
            <a:spAutoFit/>
          </a:bodyPr>
          <a:lstStyle/>
          <a:p>
            <a:pPr algn="l">
              <a:lnSpc>
                <a:spcPct val="125000"/>
              </a:lnSpc>
              <a:buNone/>
            </a:pPr>
            <a:r>
              <a:rPr sz="1150" b="1" i="0">
                <a:solidFill>
                  <a:srgbClr val="6D28D9"/>
                </a:solidFill>
                <a:latin typeface="Meiryo"/>
                <a:cs typeface="Meiryo"/>
                <a:ea typeface="Meiryo"/>
              </a:rPr>
              <a:t>過去の金額は後から動かない</a:t>
            </a:r>
          </a:p>
        </p:txBody>
      </p:sp>
      <p:sp>
        <p:nvSpPr>
          <p:cNvPr id="21" name="TextBox 20"/>
          <p:cNvSpPr txBox="1"/>
          <p:nvPr/>
        </p:nvSpPr>
        <p:spPr>
          <a:xfrm>
            <a:off x="3977639" y="3191256"/>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クーポンの割引率や移動手当の単価を改定しても、すでに適用済みの金額は変わりません。適用した時点の条件を控えとして残しているためです。</a:t>
            </a:r>
          </a:p>
        </p:txBody>
      </p:sp>
      <p:sp>
        <p:nvSpPr>
          <p:cNvPr id="22" name="Rounded Rectangle 21"/>
          <p:cNvSpPr/>
          <p:nvPr/>
        </p:nvSpPr>
        <p:spPr>
          <a:xfrm>
            <a:off x="457200" y="3749039"/>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57200" y="3749039"/>
            <a:ext cx="68580" cy="5669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3895344"/>
            <a:ext cx="3200400" cy="274320"/>
          </a:xfrm>
          <a:prstGeom prst="rect">
            <a:avLst/>
          </a:prstGeom>
          <a:noFill/>
        </p:spPr>
        <p:txBody>
          <a:bodyPr wrap="square" lIns="0" rIns="0" tIns="0" bIns="0" anchor="t">
            <a:spAutoFit/>
          </a:bodyPr>
          <a:lstStyle/>
          <a:p>
            <a:pPr algn="l">
              <a:lnSpc>
                <a:spcPct val="125000"/>
              </a:lnSpc>
              <a:buNone/>
            </a:pPr>
            <a:r>
              <a:rPr sz="1150" b="1" i="0">
                <a:solidFill>
                  <a:srgbClr val="0369A1"/>
                </a:solidFill>
                <a:latin typeface="Meiryo"/>
                <a:cs typeface="Meiryo"/>
                <a:ea typeface="Meiryo"/>
              </a:rPr>
              <a:t>登録日時・更新日時が自動で入る</a:t>
            </a:r>
          </a:p>
        </p:txBody>
      </p:sp>
      <p:sp>
        <p:nvSpPr>
          <p:cNvPr id="25" name="TextBox 24"/>
          <p:cNvSpPr txBox="1"/>
          <p:nvPr/>
        </p:nvSpPr>
        <p:spPr>
          <a:xfrm>
            <a:off x="3977639" y="3849624"/>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入力する人が意識しなくても、いつ作られ、いつ直されたかが必ず残ります。</a:t>
            </a:r>
          </a:p>
        </p:txBody>
      </p:sp>
      <p:sp>
        <p:nvSpPr>
          <p:cNvPr id="26" name="Rounded Rectangle 25"/>
          <p:cNvSpPr/>
          <p:nvPr/>
        </p:nvSpPr>
        <p:spPr>
          <a:xfrm>
            <a:off x="457200" y="4407407"/>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57200" y="4407407"/>
            <a:ext cx="68580" cy="56692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4553712"/>
            <a:ext cx="3200400" cy="274320"/>
          </a:xfrm>
          <a:prstGeom prst="rect">
            <a:avLst/>
          </a:prstGeom>
          <a:noFill/>
        </p:spPr>
        <p:txBody>
          <a:bodyPr wrap="square" lIns="0" rIns="0" tIns="0" bIns="0" anchor="t">
            <a:spAutoFit/>
          </a:bodyPr>
          <a:lstStyle/>
          <a:p>
            <a:pPr algn="l">
              <a:lnSpc>
                <a:spcPct val="125000"/>
              </a:lnSpc>
              <a:buNone/>
            </a:pPr>
            <a:r>
              <a:rPr sz="1150" b="1" i="0">
                <a:solidFill>
                  <a:srgbClr val="0369A1"/>
                </a:solidFill>
                <a:latin typeface="Meiryo"/>
                <a:cs typeface="Meiryo"/>
                <a:ea typeface="Meiryo"/>
              </a:rPr>
              <a:t>法人ごとに完全に分かれている</a:t>
            </a:r>
          </a:p>
        </p:txBody>
      </p:sp>
      <p:sp>
        <p:nvSpPr>
          <p:cNvPr id="29" name="TextBox 28"/>
          <p:cNvSpPr txBox="1"/>
          <p:nvPr/>
        </p:nvSpPr>
        <p:spPr>
          <a:xfrm>
            <a:off x="3977639" y="4507992"/>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1つのシステムで複数の法人が使えますが、他法人のデータは見えません。画面の作りではなく、データの置き場所そのもので分けています。</a:t>
            </a:r>
          </a:p>
        </p:txBody>
      </p:sp>
      <p:sp>
        <p:nvSpPr>
          <p:cNvPr id="30" name="Rounded Rectangle 29"/>
          <p:cNvSpPr/>
          <p:nvPr/>
        </p:nvSpPr>
        <p:spPr>
          <a:xfrm>
            <a:off x="457200" y="5065775"/>
            <a:ext cx="11277295" cy="5669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457200" y="5065775"/>
            <a:ext cx="68580" cy="5669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5212079"/>
            <a:ext cx="3200400" cy="274320"/>
          </a:xfrm>
          <a:prstGeom prst="rect">
            <a:avLst/>
          </a:prstGeom>
          <a:noFill/>
        </p:spPr>
        <p:txBody>
          <a:bodyPr wrap="square" lIns="0" rIns="0" tIns="0" bIns="0" anchor="t">
            <a:spAutoFit/>
          </a:bodyPr>
          <a:lstStyle/>
          <a:p>
            <a:pPr algn="l">
              <a:lnSpc>
                <a:spcPct val="125000"/>
              </a:lnSpc>
              <a:buNone/>
            </a:pPr>
            <a:r>
              <a:rPr sz="1150" b="1" i="0">
                <a:solidFill>
                  <a:srgbClr val="B45309"/>
                </a:solidFill>
                <a:latin typeface="Meiryo"/>
                <a:cs typeface="Meiryo"/>
                <a:ea typeface="Meiryo"/>
              </a:rPr>
              <a:t>パスワードは元に戻せない形で保存</a:t>
            </a:r>
          </a:p>
        </p:txBody>
      </p:sp>
      <p:sp>
        <p:nvSpPr>
          <p:cNvPr id="33" name="TextBox 32"/>
          <p:cNvSpPr txBox="1"/>
          <p:nvPr/>
        </p:nvSpPr>
        <p:spPr>
          <a:xfrm>
            <a:off x="3977639" y="5166359"/>
            <a:ext cx="7528255" cy="384048"/>
          </a:xfrm>
          <a:prstGeom prst="rect">
            <a:avLst/>
          </a:prstGeom>
          <a:noFill/>
        </p:spPr>
        <p:txBody>
          <a:bodyPr wrap="square" lIns="0" rIns="0" tIns="0" bIns="0" anchor="t">
            <a:spAutoFit/>
          </a:bodyPr>
          <a:lstStyle/>
          <a:p>
            <a:pPr algn="l">
              <a:lnSpc>
                <a:spcPct val="142000"/>
              </a:lnSpc>
              <a:buNone/>
            </a:pPr>
            <a:r>
              <a:rPr sz="1100" b="0" i="0">
                <a:solidFill>
                  <a:srgbClr val="14223A"/>
                </a:solidFill>
                <a:latin typeface="Meiryo"/>
                <a:cs typeface="Meiryo"/>
                <a:ea typeface="Meiryo"/>
              </a:rPr>
              <a:t>管理者でも本人のパスワードを見ることはできません。万一データが流出しても、そのままログインには使えません。</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「消さない」「後から動かない」が効く場面</a:t>
            </a:r>
            <a:r>
              <a:rPr sz="1250" b="0" i="0">
                <a:solidFill>
                  <a:srgbClr val="64748B"/>
                </a:solidFill>
                <a:latin typeface="Meiryo"/>
                <a:cs typeface="Meiryo"/>
                <a:ea typeface="Meiryo"/>
              </a:rPr>
              <a:t>   第16章 全体の決めごと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実務でいちばん影響が出る2つの決めごとです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47</a:t>
            </a:r>
          </a:p>
        </p:txBody>
      </p:sp>
      <p:sp>
        <p:nvSpPr>
          <p:cNvPr id="7" name="Rounded Rectangle 6"/>
          <p:cNvSpPr/>
          <p:nvPr/>
        </p:nvSpPr>
        <p:spPr>
          <a:xfrm>
            <a:off x="457200" y="1115568"/>
            <a:ext cx="5632704"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15568"/>
            <a:ext cx="68580" cy="2286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25295"/>
            <a:ext cx="5303520"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例1 — 領収書を間違えて登録した</a:t>
            </a:r>
          </a:p>
        </p:txBody>
      </p:sp>
      <p:sp>
        <p:nvSpPr>
          <p:cNvPr id="10" name="TextBox 9"/>
          <p:cNvSpPr txBox="1"/>
          <p:nvPr/>
        </p:nvSpPr>
        <p:spPr>
          <a:xfrm>
            <a:off x="667512" y="1527048"/>
            <a:ext cx="5257800" cy="1783079"/>
          </a:xfrm>
          <a:prstGeom prst="rect">
            <a:avLst/>
          </a:prstGeom>
          <a:noFill/>
        </p:spPr>
        <p:txBody>
          <a:bodyPr wrap="square" lIns="0" rIns="0" tIns="0" bIns="0">
            <a:spAutoFit/>
          </a:bodyPr>
          <a:lstStyle/>
          <a:p>
            <a:pPr marL="182880" indent="-182880">
              <a:lnSpc>
                <a:spcPct val="142000"/>
              </a:lnSpc>
              <a:spcBef>
                <a:spcPts val="0"/>
              </a:spcBef>
              <a:buClr>
                <a:srgbClr val="0369A1"/>
              </a:buClr>
              <a:buFont typeface="Meiryo"/>
              <a:buChar char="▪"/>
            </a:pPr>
            <a:r>
              <a:rPr sz="1150" b="1">
                <a:solidFill>
                  <a:srgbClr val="14223A"/>
                </a:solidFill>
                <a:latin typeface="Meiryo"/>
                <a:cs typeface="Meiryo"/>
                <a:ea typeface="Meiryo"/>
              </a:rPr>
              <a:t>Excelなら: </a:t>
            </a:r>
            <a:r>
              <a:rPr sz="1150" b="0">
                <a:solidFill>
                  <a:srgbClr val="14223A"/>
                </a:solidFill>
                <a:latin typeface="Meiryo"/>
                <a:cs typeface="Meiryo"/>
                <a:ea typeface="Meiryo"/>
              </a:rPr>
              <a:t>その行を消して入れ直す。誰が何を消したかは残らない。</a:t>
            </a:r>
          </a:p>
          <a:p>
            <a:pPr marL="182880" indent="-182880">
              <a:lnSpc>
                <a:spcPct val="142000"/>
              </a:lnSpc>
              <a:spcBef>
                <a:spcPts val="400"/>
              </a:spcBef>
              <a:buClr>
                <a:srgbClr val="0369A1"/>
              </a:buClr>
              <a:buFont typeface="Meiryo"/>
              <a:buChar char="▪"/>
            </a:pPr>
            <a:r>
              <a:rPr sz="1150" b="1">
                <a:solidFill>
                  <a:srgbClr val="14223A"/>
                </a:solidFill>
                <a:latin typeface="Meiryo"/>
                <a:cs typeface="Meiryo"/>
                <a:ea typeface="Meiryo"/>
              </a:rPr>
              <a:t>このシステム: </a:t>
            </a:r>
            <a:r>
              <a:rPr sz="1150" b="0">
                <a:solidFill>
                  <a:srgbClr val="14223A"/>
                </a:solidFill>
                <a:latin typeface="Meiryo"/>
                <a:cs typeface="Meiryo"/>
                <a:ea typeface="Meiryo"/>
              </a:rPr>
              <a:t>取り消しの印・理由・取り消した人を記録したうえで、新しい行を登録する。集計からは外れるが、履歴としては残る。</a:t>
            </a:r>
          </a:p>
          <a:p>
            <a:pPr marL="182880" indent="-182880">
              <a:lnSpc>
                <a:spcPct val="142000"/>
              </a:lnSpc>
              <a:spcBef>
                <a:spcPts val="400"/>
              </a:spcBef>
              <a:buClr>
                <a:srgbClr val="0369A1"/>
              </a:buClr>
              <a:buFont typeface="Meiryo"/>
              <a:buChar char="▪"/>
            </a:pPr>
            <a:r>
              <a:rPr sz="1150" b="1">
                <a:solidFill>
                  <a:srgbClr val="14223A"/>
                </a:solidFill>
                <a:latin typeface="Meiryo"/>
                <a:cs typeface="Meiryo"/>
                <a:ea typeface="Meiryo"/>
              </a:rPr>
              <a:t>効いてくる場面: </a:t>
            </a:r>
            <a:r>
              <a:rPr sz="1150" b="0">
                <a:solidFill>
                  <a:srgbClr val="14223A"/>
                </a:solidFill>
                <a:latin typeface="Meiryo"/>
                <a:cs typeface="Meiryo"/>
                <a:ea typeface="Meiryo"/>
              </a:rPr>
              <a:t>月次の締め後に金額が合わないとき、何がどう直されたかを追える。</a:t>
            </a:r>
          </a:p>
        </p:txBody>
      </p:sp>
      <p:sp>
        <p:nvSpPr>
          <p:cNvPr id="11" name="Rounded Rectangle 10"/>
          <p:cNvSpPr/>
          <p:nvPr/>
        </p:nvSpPr>
        <p:spPr>
          <a:xfrm>
            <a:off x="6272784" y="1115568"/>
            <a:ext cx="5632704"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2784" y="1115568"/>
            <a:ext cx="68580" cy="22860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83096" y="1225295"/>
            <a:ext cx="5303520"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例2 — クーポンの割引率を変えた</a:t>
            </a:r>
          </a:p>
        </p:txBody>
      </p:sp>
      <p:sp>
        <p:nvSpPr>
          <p:cNvPr id="14" name="TextBox 13"/>
          <p:cNvSpPr txBox="1"/>
          <p:nvPr/>
        </p:nvSpPr>
        <p:spPr>
          <a:xfrm>
            <a:off x="6483096" y="1527048"/>
            <a:ext cx="5257800" cy="1783079"/>
          </a:xfrm>
          <a:prstGeom prst="rect">
            <a:avLst/>
          </a:prstGeom>
          <a:noFill/>
        </p:spPr>
        <p:txBody>
          <a:bodyPr wrap="square" lIns="0" rIns="0" tIns="0" bIns="0">
            <a:spAutoFit/>
          </a:bodyPr>
          <a:lstStyle/>
          <a:p>
            <a:pPr marL="182880" indent="-182880">
              <a:lnSpc>
                <a:spcPct val="142000"/>
              </a:lnSpc>
              <a:spcBef>
                <a:spcPts val="0"/>
              </a:spcBef>
              <a:buClr>
                <a:srgbClr val="0369A1"/>
              </a:buClr>
              <a:buFont typeface="Meiryo"/>
              <a:buChar char="▪"/>
            </a:pPr>
            <a:r>
              <a:rPr sz="1150" b="1">
                <a:solidFill>
                  <a:srgbClr val="14223A"/>
                </a:solidFill>
                <a:latin typeface="Meiryo"/>
                <a:cs typeface="Meiryo"/>
                <a:ea typeface="Meiryo"/>
              </a:rPr>
              <a:t>Excelなら: </a:t>
            </a:r>
            <a:r>
              <a:rPr sz="1150" b="0">
                <a:solidFill>
                  <a:srgbClr val="14223A"/>
                </a:solidFill>
                <a:latin typeface="Meiryo"/>
                <a:cs typeface="Meiryo"/>
                <a:ea typeface="Meiryo"/>
              </a:rPr>
              <a:t>割引率のセルを直すと、それを参照している過去の請求額まで変わってしまうことがある。</a:t>
            </a:r>
          </a:p>
          <a:p>
            <a:pPr marL="182880" indent="-182880">
              <a:lnSpc>
                <a:spcPct val="142000"/>
              </a:lnSpc>
              <a:spcBef>
                <a:spcPts val="400"/>
              </a:spcBef>
              <a:buClr>
                <a:srgbClr val="0369A1"/>
              </a:buClr>
              <a:buFont typeface="Meiryo"/>
              <a:buChar char="▪"/>
            </a:pPr>
            <a:r>
              <a:rPr sz="1150" b="1">
                <a:solidFill>
                  <a:srgbClr val="14223A"/>
                </a:solidFill>
                <a:latin typeface="Meiryo"/>
                <a:cs typeface="Meiryo"/>
                <a:ea typeface="Meiryo"/>
              </a:rPr>
              <a:t>このシステム: </a:t>
            </a:r>
            <a:r>
              <a:rPr sz="1150" b="0">
                <a:solidFill>
                  <a:srgbClr val="14223A"/>
                </a:solidFill>
                <a:latin typeface="Meiryo"/>
                <a:cs typeface="Meiryo"/>
                <a:ea typeface="Meiryo"/>
              </a:rPr>
              <a:t>使った時点の割引率を、使用記録の側に控えとして持つ。マスタを直しても過去の請求額は1円も動かない。</a:t>
            </a:r>
          </a:p>
          <a:p>
            <a:pPr marL="182880" indent="-182880">
              <a:lnSpc>
                <a:spcPct val="142000"/>
              </a:lnSpc>
              <a:spcBef>
                <a:spcPts val="400"/>
              </a:spcBef>
              <a:buClr>
                <a:srgbClr val="0369A1"/>
              </a:buClr>
              <a:buFont typeface="Meiryo"/>
              <a:buChar char="▪"/>
            </a:pPr>
            <a:r>
              <a:rPr sz="1150" b="1">
                <a:solidFill>
                  <a:srgbClr val="14223A"/>
                </a:solidFill>
                <a:latin typeface="Meiryo"/>
                <a:cs typeface="Meiryo"/>
                <a:ea typeface="Meiryo"/>
              </a:rPr>
              <a:t>効いてくる場面: </a:t>
            </a:r>
            <a:r>
              <a:rPr sz="1150" b="0">
                <a:solidFill>
                  <a:srgbClr val="14223A"/>
                </a:solidFill>
                <a:latin typeface="Meiryo"/>
                <a:cs typeface="Meiryo"/>
                <a:ea typeface="Meiryo"/>
              </a:rPr>
              <a:t>値上げ・料金改定のたびに過去分を確認し直す必要がない。</a:t>
            </a:r>
          </a:p>
        </p:txBody>
      </p:sp>
      <p:sp>
        <p:nvSpPr>
          <p:cNvPr id="15" name="Rounded Rectangle 14"/>
          <p:cNvSpPr/>
          <p:nvPr/>
        </p:nvSpPr>
        <p:spPr>
          <a:xfrm>
            <a:off x="457200" y="3611880"/>
            <a:ext cx="11277295" cy="908558"/>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3611880"/>
            <a:ext cx="68580" cy="90855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3703320"/>
            <a:ext cx="10874959"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ご確認いただきたいこと</a:t>
            </a:r>
          </a:p>
        </p:txBody>
      </p:sp>
      <p:sp>
        <p:nvSpPr>
          <p:cNvPr id="18" name="TextBox 17"/>
          <p:cNvSpPr txBox="1"/>
          <p:nvPr/>
        </p:nvSpPr>
        <p:spPr>
          <a:xfrm>
            <a:off x="658368" y="3977640"/>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この「消さない」方針により、取り消した領収書や取り消した請求書が一覧に残り続けます(グレー表示で、集計からは外れます)。実務上、一覧が見づらくなるようであれば、既定で非表示にするなどの調整ができます。現場の感覚として、どちらが使いやすいかお聞かせください。</a:t>
            </a:r>
          </a:p>
        </p:txBody>
      </p:sp>
      <p:sp>
        <p:nvSpPr>
          <p:cNvPr id="19" name="Rounded Rectangle 18"/>
          <p:cNvSpPr/>
          <p:nvPr/>
        </p:nvSpPr>
        <p:spPr>
          <a:xfrm>
            <a:off x="457200" y="4846320"/>
            <a:ext cx="11277295" cy="13716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4846320"/>
            <a:ext cx="68580" cy="1371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67512" y="4956048"/>
            <a:ext cx="10948111"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「後から動かない」の副作用</a:t>
            </a:r>
          </a:p>
        </p:txBody>
      </p:sp>
      <p:sp>
        <p:nvSpPr>
          <p:cNvPr id="22" name="TextBox 21"/>
          <p:cNvSpPr txBox="1"/>
          <p:nvPr/>
        </p:nvSpPr>
        <p:spPr>
          <a:xfrm>
            <a:off x="667512" y="5257800"/>
            <a:ext cx="10902391" cy="8686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料金やクーポンの内容を直しても、過去分には反映されません。「過去にさかのぼって正しい金額に直したい」という場面があるなら、それは訂正の請求書を作る運用になります。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そうした遡及訂正が実務で発生するかどうか、あるとすれば年に何回くらいかを教えてください。</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第17章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まだ決まっていないこと・作りかけのこと</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ご意見をいただきたい箇所を、章をまたいで一覧にしました</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業務の決めごととして、ご判断いただきたいこと</a:t>
            </a:r>
            <a:r>
              <a:rPr sz="1250" b="0" i="0">
                <a:solidFill>
                  <a:srgbClr val="64748B"/>
                </a:solidFill>
                <a:latin typeface="Meiryo"/>
                <a:cs typeface="Meiryo"/>
                <a:ea typeface="Meiryo"/>
              </a:rPr>
              <a:t>   第17章 まだ決まっていないこと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技術的な検討課題は別資料(doc/slides/db-review.pptx)にまとめてあり、ここには含めていません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49</a:t>
            </a:r>
          </a:p>
        </p:txBody>
      </p:sp>
      <p:graphicFrame>
        <p:nvGraphicFramePr>
          <p:cNvPr id="7" name="Table 6"/>
          <p:cNvGraphicFramePr>
            <a:graphicFrameLocks noGrp="1"/>
          </p:cNvGraphicFramePr>
          <p:nvPr/>
        </p:nvGraphicFramePr>
        <p:xfrm>
          <a:off x="457200" y="1115568"/>
          <a:ext cx="11277294" cy="4023360"/>
        </p:xfrm>
        <a:graphic>
          <a:graphicData uri="http://schemas.openxmlformats.org/drawingml/2006/table">
            <a:tbl>
              <a:tblPr firstRow="1" bandRow="1">
                <a:tableStyleId>{5C22544A-7EE6-4342-B048-85BDC9FD1C3A}</a:tableStyleId>
              </a:tblPr>
              <a:tblGrid>
                <a:gridCol w="845797"/>
                <a:gridCol w="6202512"/>
                <a:gridCol w="4228985"/>
              </a:tblGrid>
              <a:tr h="292608">
                <a:tc>
                  <a:txBody>
                    <a:bodyPr wrap="square"/>
                    <a:lstStyle/>
                    <a:p>
                      <a:pPr algn="l">
                        <a:lnSpc>
                          <a:spcPct val="115000"/>
                        </a:lnSpc>
                        <a:buNone/>
                      </a:pPr>
                      <a:r>
                        <a:rPr sz="1100" b="1">
                          <a:solidFill>
                            <a:srgbClr val="14223A"/>
                          </a:solidFill>
                          <a:latin typeface="Meiryo"/>
                          <a:cs typeface="Meiryo"/>
                          <a:ea typeface="Meiryo"/>
                        </a:rPr>
                        <a:t>章</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決まっていないこと</a:t>
                      </a:r>
                    </a:p>
                  </a:txBody>
                  <a:tcPr marL="64008" marR="64008" marT="27432" marB="27432" anchor="ctr">
                    <a:solidFill>
                      <a:srgbClr val="E2E8F0"/>
                    </a:solidFill>
                  </a:tcPr>
                </a:tc>
                <a:tc>
                  <a:txBody>
                    <a:bodyPr wrap="square"/>
                    <a:lstStyle/>
                    <a:p>
                      <a:pPr algn="l">
                        <a:lnSpc>
                          <a:spcPct val="115000"/>
                        </a:lnSpc>
                        <a:buNone/>
                      </a:pPr>
                      <a:r>
                        <a:rPr sz="1100" b="1">
                          <a:solidFill>
                            <a:srgbClr val="14223A"/>
                          </a:solidFill>
                          <a:latin typeface="Meiryo"/>
                          <a:cs typeface="Meiryo"/>
                          <a:ea typeface="Meiryo"/>
                        </a:rPr>
                        <a:t>決まらないと困ること</a:t>
                      </a:r>
                    </a:p>
                  </a:txBody>
                  <a:tcPr marL="64008" marR="64008" marT="27432" marB="27432" anchor="ctr">
                    <a:solidFill>
                      <a:srgbClr val="E2E8F0"/>
                    </a:solidFill>
                  </a:tcPr>
                </a:tc>
              </a:tr>
              <a:tr h="310896">
                <a:tc>
                  <a:txBody>
                    <a:bodyPr wrap="square"/>
                    <a:lstStyle/>
                    <a:p>
                      <a:pPr algn="l">
                        <a:lnSpc>
                          <a:spcPct val="115000"/>
                        </a:lnSpc>
                        <a:buNone/>
                      </a:pPr>
                      <a:r>
                        <a:rPr sz="1100" b="1">
                          <a:solidFill>
                            <a:srgbClr val="14223A"/>
                          </a:solidFill>
                          <a:latin typeface="Meiryo"/>
                          <a:cs typeface="Meiryo"/>
                          <a:ea typeface="Meiryo"/>
                        </a:rPr>
                        <a:t>第3章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会員区分・会員状態・支払方法・支払状態に入る値の一覧</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どれにも当てはまらない顧客が出る</a:t>
                      </a:r>
                    </a:p>
                  </a:txBody>
                  <a:tcPr marL="64008" marR="64008" marT="27432" marB="27432" anchor="ctr">
                    <a:solidFill>
                      <a:srgbClr val="FFFFFF"/>
                    </a:solidFill>
                  </a:tcPr>
                </a:tc>
              </a:tr>
              <a:tr h="310896">
                <a:tc>
                  <a:txBody>
                    <a:bodyPr wrap="square"/>
                    <a:lstStyle/>
                    <a:p>
                      <a:pPr algn="l">
                        <a:lnSpc>
                          <a:spcPct val="115000"/>
                        </a:lnSpc>
                        <a:buNone/>
                      </a:pPr>
                      <a:r>
                        <a:rPr sz="1100" b="1">
                          <a:solidFill>
                            <a:srgbClr val="14223A"/>
                          </a:solidFill>
                          <a:latin typeface="Meiryo"/>
                          <a:cs typeface="Meiryo"/>
                          <a:ea typeface="Meiryo"/>
                        </a:rPr>
                        <a:t>第6章</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同じスタッフの時間が重なる予約を、止めるか警告だけにするか</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ダブルブッキングが起きる</a:t>
                      </a:r>
                    </a:p>
                  </a:txBody>
                  <a:tcPr marL="64008" marR="64008" marT="27432" marB="27432" anchor="ctr">
                    <a:solidFill>
                      <a:srgbClr val="F8FAFC"/>
                    </a:solidFill>
                  </a:tcPr>
                </a:tc>
              </a:tr>
              <a:tr h="310896">
                <a:tc>
                  <a:txBody>
                    <a:bodyPr wrap="square"/>
                    <a:lstStyle/>
                    <a:p>
                      <a:pPr algn="l">
                        <a:lnSpc>
                          <a:spcPct val="115000"/>
                        </a:lnSpc>
                        <a:buNone/>
                      </a:pPr>
                      <a:r>
                        <a:rPr sz="1100" b="1">
                          <a:solidFill>
                            <a:srgbClr val="14223A"/>
                          </a:solidFill>
                          <a:latin typeface="Meiryo"/>
                          <a:cs typeface="Meiryo"/>
                          <a:ea typeface="Meiryo"/>
                        </a:rPr>
                        <a:t>第6章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キャンセル料の規定と、その記録場所</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キャンセル料を請求できない</a:t>
                      </a:r>
                    </a:p>
                  </a:txBody>
                  <a:tcPr marL="64008" marR="64008" marT="27432" marB="27432" anchor="ctr">
                    <a:solidFill>
                      <a:srgbClr val="FFFFFF"/>
                    </a:solidFill>
                  </a:tcPr>
                </a:tc>
              </a:tr>
              <a:tr h="310896">
                <a:tc>
                  <a:txBody>
                    <a:bodyPr wrap="square"/>
                    <a:lstStyle/>
                    <a:p>
                      <a:pPr algn="l">
                        <a:lnSpc>
                          <a:spcPct val="115000"/>
                        </a:lnSpc>
                        <a:buNone/>
                      </a:pPr>
                      <a:r>
                        <a:rPr sz="1100" b="1">
                          <a:solidFill>
                            <a:srgbClr val="14223A"/>
                          </a:solidFill>
                          <a:latin typeface="Meiryo"/>
                          <a:cs typeface="Meiryo"/>
                          <a:ea typeface="Meiryo"/>
                        </a:rPr>
                        <a:t>第7章</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「リスク評価」「ES評価」の意味と段階</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入力する人によって基準がばらつく</a:t>
                      </a:r>
                    </a:p>
                  </a:txBody>
                  <a:tcPr marL="64008" marR="64008" marT="27432" marB="27432" anchor="ctr">
                    <a:solidFill>
                      <a:srgbClr val="F8FAFC"/>
                    </a:solidFill>
                  </a:tcPr>
                </a:tc>
              </a:tr>
              <a:tr h="310896">
                <a:tc>
                  <a:txBody>
                    <a:bodyPr wrap="square"/>
                    <a:lstStyle/>
                    <a:p>
                      <a:pPr algn="l">
                        <a:lnSpc>
                          <a:spcPct val="115000"/>
                        </a:lnSpc>
                        <a:buNone/>
                      </a:pPr>
                      <a:r>
                        <a:rPr sz="1100" b="1">
                          <a:solidFill>
                            <a:srgbClr val="14223A"/>
                          </a:solidFill>
                          <a:latin typeface="Meiryo"/>
                          <a:cs typeface="Meiryo"/>
                          <a:ea typeface="Meiryo"/>
                        </a:rPr>
                        <a:t>第8章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領収書の締め日と、取り消しを認める日数</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締め後の訂正の可否が現場で判断できない</a:t>
                      </a:r>
                    </a:p>
                  </a:txBody>
                  <a:tcPr marL="64008" marR="64008" marT="27432" marB="27432" anchor="ctr">
                    <a:solidFill>
                      <a:srgbClr val="FFFFFF"/>
                    </a:solidFill>
                  </a:tcPr>
                </a:tc>
              </a:tr>
              <a:tr h="310896">
                <a:tc>
                  <a:txBody>
                    <a:bodyPr wrap="square"/>
                    <a:lstStyle/>
                    <a:p>
                      <a:pPr algn="l">
                        <a:lnSpc>
                          <a:spcPct val="115000"/>
                        </a:lnSpc>
                        <a:buNone/>
                      </a:pPr>
                      <a:r>
                        <a:rPr sz="1100" b="1">
                          <a:solidFill>
                            <a:srgbClr val="14223A"/>
                          </a:solidFill>
                          <a:latin typeface="Meiryo"/>
                          <a:cs typeface="Meiryo"/>
                          <a:ea typeface="Meiryo"/>
                        </a:rPr>
                        <a:t>第9章</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1日4件以上の訪問があるか(現状は3件まで)</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4件目が記録できず給与に反映されない</a:t>
                      </a:r>
                    </a:p>
                  </a:txBody>
                  <a:tcPr marL="64008" marR="64008" marT="27432" marB="27432" anchor="ctr">
                    <a:solidFill>
                      <a:srgbClr val="F8FAFC"/>
                    </a:solidFill>
                  </a:tcPr>
                </a:tc>
              </a:tr>
              <a:tr h="310896">
                <a:tc>
                  <a:txBody>
                    <a:bodyPr wrap="square"/>
                    <a:lstStyle/>
                    <a:p>
                      <a:pPr algn="l">
                        <a:lnSpc>
                          <a:spcPct val="115000"/>
                        </a:lnSpc>
                        <a:buNone/>
                      </a:pPr>
                      <a:r>
                        <a:rPr sz="1100" b="1">
                          <a:solidFill>
                            <a:srgbClr val="14223A"/>
                          </a:solidFill>
                          <a:latin typeface="Meiryo"/>
                          <a:cs typeface="Meiryo"/>
                          <a:ea typeface="Meiryo"/>
                        </a:rPr>
                        <a:t>第10章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クーポンの併用可否と、使用上限の単位</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想定外の割引が通ってしまう</a:t>
                      </a:r>
                    </a:p>
                  </a:txBody>
                  <a:tcPr marL="64008" marR="64008" marT="27432" marB="27432" anchor="ctr">
                    <a:solidFill>
                      <a:srgbClr val="FFFFFF"/>
                    </a:solidFill>
                  </a:tcPr>
                </a:tc>
              </a:tr>
              <a:tr h="310896">
                <a:tc>
                  <a:txBody>
                    <a:bodyPr wrap="square"/>
                    <a:lstStyle/>
                    <a:p>
                      <a:pPr algn="l">
                        <a:lnSpc>
                          <a:spcPct val="115000"/>
                        </a:lnSpc>
                        <a:buNone/>
                      </a:pPr>
                      <a:r>
                        <a:rPr sz="1100" b="1">
                          <a:solidFill>
                            <a:srgbClr val="14223A"/>
                          </a:solidFill>
                          <a:latin typeface="Meiryo"/>
                          <a:cs typeface="Meiryo"/>
                          <a:ea typeface="Meiryo"/>
                        </a:rPr>
                        <a:t>第11章</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請求サイクル・消費税の扱い・請求書番号の付け方</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請求書が発行できない</a:t>
                      </a:r>
                    </a:p>
                  </a:txBody>
                  <a:tcPr marL="64008" marR="64008" marT="27432" marB="27432" anchor="ctr">
                    <a:solidFill>
                      <a:srgbClr val="F8FAFC"/>
                    </a:solidFill>
                  </a:tcPr>
                </a:tc>
              </a:tr>
              <a:tr h="310896">
                <a:tc>
                  <a:txBody>
                    <a:bodyPr wrap="square"/>
                    <a:lstStyle/>
                    <a:p>
                      <a:pPr algn="l">
                        <a:lnSpc>
                          <a:spcPct val="115000"/>
                        </a:lnSpc>
                        <a:buNone/>
                      </a:pPr>
                      <a:r>
                        <a:rPr sz="1100" b="1">
                          <a:solidFill>
                            <a:srgbClr val="14223A"/>
                          </a:solidFill>
                          <a:latin typeface="Meiryo"/>
                          <a:cs typeface="Meiryo"/>
                          <a:ea typeface="Meiryo"/>
                        </a:rPr>
                        <a:t>第11章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自治体助成・企業の福利厚生で請求先がお客様以外になるケース</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その分の請求ができない</a:t>
                      </a:r>
                    </a:p>
                  </a:txBody>
                  <a:tcPr marL="64008" marR="64008" marT="27432" marB="27432" anchor="ctr">
                    <a:solidFill>
                      <a:srgbClr val="FFFFFF"/>
                    </a:solidFill>
                  </a:tcPr>
                </a:tc>
              </a:tr>
              <a:tr h="310896">
                <a:tc>
                  <a:txBody>
                    <a:bodyPr wrap="square"/>
                    <a:lstStyle/>
                    <a:p>
                      <a:pPr algn="l">
                        <a:lnSpc>
                          <a:spcPct val="115000"/>
                        </a:lnSpc>
                        <a:buNone/>
                      </a:pPr>
                      <a:r>
                        <a:rPr sz="1100" b="1">
                          <a:solidFill>
                            <a:srgbClr val="14223A"/>
                          </a:solidFill>
                          <a:latin typeface="Meiryo"/>
                          <a:cs typeface="Meiryo"/>
                          <a:ea typeface="Meiryo"/>
                        </a:rPr>
                        <a:t>第12章</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割当を決めるときに実際に見ている条件</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自動割当の材料が揃わない</a:t>
                      </a:r>
                    </a:p>
                  </a:txBody>
                  <a:tcPr marL="64008" marR="64008" marT="27432" marB="27432" anchor="ctr">
                    <a:solidFill>
                      <a:srgbClr val="F8FAFC"/>
                    </a:solidFill>
                  </a:tcPr>
                </a:tc>
              </a:tr>
              <a:tr h="310896">
                <a:tc>
                  <a:txBody>
                    <a:bodyPr wrap="square"/>
                    <a:lstStyle/>
                    <a:p>
                      <a:pPr algn="l">
                        <a:lnSpc>
                          <a:spcPct val="115000"/>
                        </a:lnSpc>
                        <a:buNone/>
                      </a:pPr>
                      <a:r>
                        <a:rPr sz="1100" b="1">
                          <a:solidFill>
                            <a:srgbClr val="14223A"/>
                          </a:solidFill>
                          <a:latin typeface="Meiryo"/>
                          <a:cs typeface="Meiryo"/>
                          <a:ea typeface="Meiryo"/>
                        </a:rPr>
                        <a:t>第13章</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移動手当の規程(手段ごとの単価・上限・支給条件)</a:t>
                      </a:r>
                    </a:p>
                  </a:txBody>
                  <a:tcPr marL="64008" marR="64008" marT="27432" marB="27432" anchor="ctr">
                    <a:solidFill>
                      <a:srgbClr val="FFFFFF"/>
                    </a:solidFill>
                  </a:tcPr>
                </a:tc>
                <a:tc>
                  <a:txBody>
                    <a:bodyPr wrap="square"/>
                    <a:lstStyle/>
                    <a:p>
                      <a:pPr algn="l">
                        <a:lnSpc>
                          <a:spcPct val="115000"/>
                        </a:lnSpc>
                        <a:buNone/>
                      </a:pPr>
                      <a:r>
                        <a:rPr sz="1100" b="0">
                          <a:solidFill>
                            <a:srgbClr val="14223A"/>
                          </a:solidFill>
                          <a:latin typeface="Meiryo"/>
                          <a:cs typeface="Meiryo"/>
                          <a:ea typeface="Meiryo"/>
                        </a:rPr>
                        <a:t>手当が計算できない</a:t>
                      </a:r>
                    </a:p>
                  </a:txBody>
                  <a:tcPr marL="64008" marR="64008" marT="27432" marB="27432" anchor="ctr">
                    <a:solidFill>
                      <a:srgbClr val="FFFFFF"/>
                    </a:solidFill>
                  </a:tcPr>
                </a:tc>
              </a:tr>
              <a:tr h="310896">
                <a:tc>
                  <a:txBody>
                    <a:bodyPr wrap="square"/>
                    <a:lstStyle/>
                    <a:p>
                      <a:pPr algn="l">
                        <a:lnSpc>
                          <a:spcPct val="115000"/>
                        </a:lnSpc>
                        <a:buNone/>
                      </a:pPr>
                      <a:r>
                        <a:rPr sz="1100" b="1">
                          <a:solidFill>
                            <a:srgbClr val="14223A"/>
                          </a:solidFill>
                          <a:latin typeface="Meiryo"/>
                          <a:cs typeface="Meiryo"/>
                          <a:ea typeface="Meiryo"/>
                        </a:rPr>
                        <a:t>第15章</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教育への関心度★・負担の大きさ(PSI)の判定基準の中身(貴社の言葉で)</a:t>
                      </a:r>
                    </a:p>
                  </a:txBody>
                  <a:tcPr marL="64008" marR="64008" marT="27432" marB="27432" anchor="ctr">
                    <a:solidFill>
                      <a:srgbClr val="F8FAFC"/>
                    </a:solidFill>
                  </a:tcPr>
                </a:tc>
                <a:tc>
                  <a:txBody>
                    <a:bodyPr wrap="square"/>
                    <a:lstStyle/>
                    <a:p>
                      <a:pPr algn="l">
                        <a:lnSpc>
                          <a:spcPct val="115000"/>
                        </a:lnSpc>
                        <a:buNone/>
                      </a:pPr>
                      <a:r>
                        <a:rPr sz="1100" b="0">
                          <a:solidFill>
                            <a:srgbClr val="14223A"/>
                          </a:solidFill>
                          <a:latin typeface="Meiryo"/>
                          <a:cs typeface="Meiryo"/>
                          <a:ea typeface="Meiryo"/>
                        </a:rPr>
                        <a:t>日報の文面を組み替える材料(キーワード表・言い回し)が空のまま</a:t>
                      </a:r>
                    </a:p>
                  </a:txBody>
                  <a:tcPr marL="64008" marR="64008" marT="27432" marB="27432" anchor="ctr">
                    <a:solidFill>
                      <a:srgbClr val="F8FAFC"/>
                    </a:solidFill>
                  </a:tcPr>
                </a:tc>
              </a:tr>
            </a:tbl>
          </a:graphicData>
        </a:graphic>
      </p:graphicFrame>
      <p:sp>
        <p:nvSpPr>
          <p:cNvPr id="8" name="Rounded Rectangle 7"/>
          <p:cNvSpPr/>
          <p:nvPr/>
        </p:nvSpPr>
        <p:spPr>
          <a:xfrm>
            <a:off x="457200" y="5559552"/>
            <a:ext cx="11277295" cy="66167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559552"/>
            <a:ext cx="68580" cy="66167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5678424"/>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上の12件は、いずれも「業務の決めごと」であって、システムの都合ではありません。決まり次第、そのとおりに作ります。現時点で決まっているものがあれば教えてください。</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作りかけのもの(入れ物はあるが画面が無い)</a:t>
            </a:r>
            <a:r>
              <a:rPr sz="1250" b="0" i="0">
                <a:solidFill>
                  <a:srgbClr val="64748B"/>
                </a:solidFill>
                <a:latin typeface="Meiryo"/>
                <a:cs typeface="Meiryo"/>
                <a:ea typeface="Meiryo"/>
              </a:rPr>
              <a:t>   第17章 まだ決まっていないこと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50</a:t>
            </a:r>
          </a:p>
        </p:txBody>
      </p:sp>
      <p:sp>
        <p:nvSpPr>
          <p:cNvPr id="6" name="Rounded Rectangle 5"/>
          <p:cNvSpPr/>
          <p:nvPr/>
        </p:nvSpPr>
        <p:spPr>
          <a:xfrm>
            <a:off x="457200" y="1115568"/>
            <a:ext cx="5632704" cy="2194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15568"/>
            <a:ext cx="68580" cy="21945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25295"/>
            <a:ext cx="5303520"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画面まで動くもの</a:t>
            </a:r>
          </a:p>
        </p:txBody>
      </p:sp>
      <p:sp>
        <p:nvSpPr>
          <p:cNvPr id="9" name="TextBox 8"/>
          <p:cNvSpPr txBox="1"/>
          <p:nvPr/>
        </p:nvSpPr>
        <p:spPr>
          <a:xfrm>
            <a:off x="667512" y="1527048"/>
            <a:ext cx="5257800" cy="16916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顧客・世帯構成員の登録と一覧</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保育日報・事故報告の登録</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領収書(実費報告)の登録・一覧・取り消し</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勤怠(出勤簿)の入力と月次集計</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割引クーポンの登録・配布・適用</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AIに渡す文面の編集(版の履歴・既定に戻す)</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日報AIの年齢帯・教育の言葉・判定基準・ご家庭の設定・生成の記録</a:t>
            </a:r>
          </a:p>
        </p:txBody>
      </p:sp>
      <p:sp>
        <p:nvSpPr>
          <p:cNvPr id="10" name="Rounded Rectangle 9"/>
          <p:cNvSpPr/>
          <p:nvPr/>
        </p:nvSpPr>
        <p:spPr>
          <a:xfrm>
            <a:off x="6272784" y="1115568"/>
            <a:ext cx="5632704" cy="2194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72784" y="1115568"/>
            <a:ext cx="68580" cy="21945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83096" y="1225295"/>
            <a:ext cx="5303520"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記録する場所だけ決めてあるもの</a:t>
            </a:r>
          </a:p>
        </p:txBody>
      </p:sp>
      <p:sp>
        <p:nvSpPr>
          <p:cNvPr id="13" name="TextBox 12"/>
          <p:cNvSpPr txBox="1"/>
          <p:nvPr/>
        </p:nvSpPr>
        <p:spPr>
          <a:xfrm>
            <a:off x="6483096" y="1527048"/>
            <a:ext cx="5257800" cy="16916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顧客カルテ(写真の表示のしくみが未実装)</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予約・サービスメニュー・スタッフ割当・受付枠</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請求書・請求明細・入金・決済</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特性・相性・移動時間の見積</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移動手当の単価マスタ・移動区間</a:t>
            </a:r>
          </a:p>
        </p:txBody>
      </p:sp>
      <p:sp>
        <p:nvSpPr>
          <p:cNvPr id="14" name="Rounded Rectangle 13"/>
          <p:cNvSpPr/>
          <p:nvPr/>
        </p:nvSpPr>
        <p:spPr>
          <a:xfrm>
            <a:off x="457200" y="3520440"/>
            <a:ext cx="11277295" cy="1115948"/>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3520440"/>
            <a:ext cx="68580" cy="111594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3611880"/>
            <a:ext cx="10874959"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「作りかけ」だからこそ、いま見ていただきたい</a:t>
            </a:r>
          </a:p>
        </p:txBody>
      </p:sp>
      <p:sp>
        <p:nvSpPr>
          <p:cNvPr id="17" name="TextBox 16"/>
          <p:cNvSpPr txBox="1"/>
          <p:nvPr/>
        </p:nvSpPr>
        <p:spPr>
          <a:xfrm>
            <a:off x="658368" y="3886200"/>
            <a:ext cx="10874959" cy="658748"/>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右側の項目は、記録する場所(シートと見出し)だけを先に決めた状態です。画面も無く、データも1件も入っていないので、「この項目は要らない」「この項目が足りない」というご指摘を、いま反映するのがいちばん安く済みます。
逆に、左側の「画面まで動くもの」も本番運用はまだ始めていないため、同じく変更できます。</a:t>
            </a:r>
          </a:p>
        </p:txBody>
      </p:sp>
      <p:sp>
        <p:nvSpPr>
          <p:cNvPr id="18" name="Rounded Rectangle 17"/>
          <p:cNvSpPr/>
          <p:nvPr/>
        </p:nvSpPr>
        <p:spPr>
          <a:xfrm>
            <a:off x="457200" y="4892040"/>
            <a:ext cx="11277295"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4892040"/>
            <a:ext cx="68580" cy="132588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7512" y="5001768"/>
            <a:ext cx="10948111"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本番環境について</a:t>
            </a:r>
          </a:p>
        </p:txBody>
      </p:sp>
      <p:sp>
        <p:nvSpPr>
          <p:cNvPr id="21" name="TextBox 20"/>
          <p:cNvSpPr txBox="1"/>
          <p:nvPr/>
        </p:nvSpPr>
        <p:spPr>
          <a:xfrm>
            <a:off x="667512" y="5303520"/>
            <a:ext cx="10902391"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本番のサーバー・データベースはまだ用意していません。バックアップ・保存時の暗号化・アクセス権限の設定は、本番を作るときにまとめて行います。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現在動いているのは、開発用の環境と、動きを見ていただくための公開デモだけです。デモには実在するお客様の情報は入っていません。</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第18章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ご確認の進め方</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お手数をおかけしますが、よろしくお願いいたします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ご確認の進め方</a:t>
            </a:r>
            <a:r>
              <a:rPr sz="1250" b="0" i="0">
                <a:solidFill>
                  <a:srgbClr val="64748B"/>
                </a:solidFill>
                <a:latin typeface="Meiryo"/>
                <a:cs typeface="Meiryo"/>
                <a:ea typeface="Meiryo"/>
              </a:rPr>
              <a:t>   第18章 ご確認の進め方</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52</a:t>
            </a:r>
          </a:p>
        </p:txBody>
      </p:sp>
      <p:sp>
        <p:nvSpPr>
          <p:cNvPr id="6" name="Rounded Rectangle 5"/>
          <p:cNvSpPr/>
          <p:nvPr/>
        </p:nvSpPr>
        <p:spPr>
          <a:xfrm>
            <a:off x="457200" y="1115568"/>
            <a:ext cx="11277295" cy="74980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15568"/>
            <a:ext cx="68580" cy="74980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76656" y="1298448"/>
            <a:ext cx="384048" cy="384048"/>
          </a:xfrm>
          <a:prstGeom prst="roundRect">
            <a:avLst>
              <a:gd name="adj" fmla="val 50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400" b="1">
                <a:solidFill>
                  <a:srgbClr val="FFFFFF"/>
                </a:solidFill>
                <a:latin typeface="Meiryo"/>
                <a:cs typeface="Meiryo"/>
                <a:ea typeface="Meiryo"/>
              </a:rPr>
              <a:t>1</a:t>
            </a:r>
          </a:p>
        </p:txBody>
      </p:sp>
      <p:sp>
        <p:nvSpPr>
          <p:cNvPr id="9" name="TextBox 8"/>
          <p:cNvSpPr txBox="1"/>
          <p:nvPr/>
        </p:nvSpPr>
        <p:spPr>
          <a:xfrm>
            <a:off x="1207007" y="1234440"/>
            <a:ext cx="4114800" cy="274320"/>
          </a:xfrm>
          <a:prstGeom prst="rect">
            <a:avLst/>
          </a:prstGeom>
          <a:noFill/>
        </p:spPr>
        <p:txBody>
          <a:bodyPr wrap="square" lIns="0" rIns="0" tIns="0" bIns="0" anchor="t">
            <a:spAutoFit/>
          </a:bodyPr>
          <a:lstStyle/>
          <a:p>
            <a:pPr algn="l">
              <a:lnSpc>
                <a:spcPct val="125000"/>
              </a:lnSpc>
              <a:buNone/>
            </a:pPr>
            <a:r>
              <a:rPr sz="1200" b="1" i="0">
                <a:solidFill>
                  <a:srgbClr val="0369A1"/>
                </a:solidFill>
                <a:latin typeface="Meiryo"/>
                <a:cs typeface="Meiryo"/>
                <a:ea typeface="Meiryo"/>
              </a:rPr>
              <a:t>ご自身の担当業務の章から</a:t>
            </a:r>
          </a:p>
        </p:txBody>
      </p:sp>
      <p:sp>
        <p:nvSpPr>
          <p:cNvPr id="10" name="TextBox 9"/>
          <p:cNvSpPr txBox="1"/>
          <p:nvPr/>
        </p:nvSpPr>
        <p:spPr>
          <a:xfrm>
            <a:off x="1207007" y="1499616"/>
            <a:ext cx="10271455" cy="292607"/>
          </a:xfrm>
          <a:prstGeom prst="rect">
            <a:avLst/>
          </a:prstGeom>
          <a:noFill/>
        </p:spPr>
        <p:txBody>
          <a:bodyPr wrap="square" lIns="0" rIns="0" tIns="0" bIns="0" anchor="t">
            <a:spAutoFit/>
          </a:bodyPr>
          <a:lstStyle/>
          <a:p>
            <a:pPr algn="l">
              <a:lnSpc>
                <a:spcPct val="140000"/>
              </a:lnSpc>
              <a:buNone/>
            </a:pPr>
            <a:r>
              <a:rPr sz="1100" b="0" i="0">
                <a:solidFill>
                  <a:srgbClr val="14223A"/>
                </a:solidFill>
                <a:latin typeface="Meiryo"/>
                <a:cs typeface="Meiryo"/>
                <a:ea typeface="Meiryo"/>
              </a:rPr>
              <a:t>全部を通して見る必要はありません。日々触っている業務の章(受付なら第6章、締めなら第8・9・11章)だけでも十分です。</a:t>
            </a:r>
          </a:p>
        </p:txBody>
      </p:sp>
      <p:sp>
        <p:nvSpPr>
          <p:cNvPr id="11" name="Rounded Rectangle 10"/>
          <p:cNvSpPr/>
          <p:nvPr/>
        </p:nvSpPr>
        <p:spPr>
          <a:xfrm>
            <a:off x="457200" y="1993391"/>
            <a:ext cx="11277295" cy="74980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57200" y="1993391"/>
            <a:ext cx="68580" cy="74980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176272"/>
            <a:ext cx="384048" cy="384048"/>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400" b="1">
                <a:solidFill>
                  <a:srgbClr val="FFFFFF"/>
                </a:solidFill>
                <a:latin typeface="Meiryo"/>
                <a:cs typeface="Meiryo"/>
                <a:ea typeface="Meiryo"/>
              </a:rPr>
              <a:t>2</a:t>
            </a:r>
          </a:p>
        </p:txBody>
      </p:sp>
      <p:sp>
        <p:nvSpPr>
          <p:cNvPr id="14" name="TextBox 13"/>
          <p:cNvSpPr txBox="1"/>
          <p:nvPr/>
        </p:nvSpPr>
        <p:spPr>
          <a:xfrm>
            <a:off x="1207007" y="2112263"/>
            <a:ext cx="4114800" cy="274320"/>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「記録している項目」を見て、足りないものを挙げる</a:t>
            </a:r>
          </a:p>
        </p:txBody>
      </p:sp>
      <p:sp>
        <p:nvSpPr>
          <p:cNvPr id="15" name="TextBox 14"/>
          <p:cNvSpPr txBox="1"/>
          <p:nvPr/>
        </p:nvSpPr>
        <p:spPr>
          <a:xfrm>
            <a:off x="1207007" y="2377439"/>
            <a:ext cx="10271455" cy="292607"/>
          </a:xfrm>
          <a:prstGeom prst="rect">
            <a:avLst/>
          </a:prstGeom>
          <a:noFill/>
        </p:spPr>
        <p:txBody>
          <a:bodyPr wrap="square" lIns="0" rIns="0" tIns="0" bIns="0" anchor="t">
            <a:spAutoFit/>
          </a:bodyPr>
          <a:lstStyle/>
          <a:p>
            <a:pPr algn="l">
              <a:lnSpc>
                <a:spcPct val="140000"/>
              </a:lnSpc>
              <a:buNone/>
            </a:pPr>
            <a:r>
              <a:rPr sz="1100" b="0" i="0">
                <a:solidFill>
                  <a:srgbClr val="14223A"/>
                </a:solidFill>
                <a:latin typeface="Meiryo"/>
                <a:cs typeface="Meiryo"/>
                <a:ea typeface="Meiryo"/>
              </a:rPr>
              <a:t>Excelの見出し行を見るつもりでご覧ください。「この項目が無いと困る」が1つでもあれば、それが一番ありがたいご指摘です。</a:t>
            </a:r>
          </a:p>
        </p:txBody>
      </p:sp>
      <p:sp>
        <p:nvSpPr>
          <p:cNvPr id="16" name="Rounded Rectangle 15"/>
          <p:cNvSpPr/>
          <p:nvPr/>
        </p:nvSpPr>
        <p:spPr>
          <a:xfrm>
            <a:off x="457200" y="2871215"/>
            <a:ext cx="11277295" cy="74980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2871215"/>
            <a:ext cx="68580" cy="7498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054096"/>
            <a:ext cx="384048" cy="384048"/>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400" b="1">
                <a:solidFill>
                  <a:srgbClr val="FFFFFF"/>
                </a:solidFill>
                <a:latin typeface="Meiryo"/>
                <a:cs typeface="Meiryo"/>
                <a:ea typeface="Meiryo"/>
              </a:rPr>
              <a:t>3</a:t>
            </a:r>
          </a:p>
        </p:txBody>
      </p:sp>
      <p:sp>
        <p:nvSpPr>
          <p:cNvPr id="19" name="TextBox 18"/>
          <p:cNvSpPr txBox="1"/>
          <p:nvPr/>
        </p:nvSpPr>
        <p:spPr>
          <a:xfrm>
            <a:off x="1207007" y="2990087"/>
            <a:ext cx="4114800" cy="274320"/>
          </a:xfrm>
          <a:prstGeom prst="rect">
            <a:avLst/>
          </a:prstGeom>
          <a:noFill/>
        </p:spPr>
        <p:txBody>
          <a:bodyPr wrap="square" lIns="0" rIns="0" tIns="0" bIns="0" anchor="t">
            <a:spAutoFit/>
          </a:bodyPr>
          <a:lstStyle/>
          <a:p>
            <a:pPr algn="l">
              <a:lnSpc>
                <a:spcPct val="125000"/>
              </a:lnSpc>
              <a:buNone/>
            </a:pPr>
            <a:r>
              <a:rPr sz="1200" b="1" i="0">
                <a:solidFill>
                  <a:srgbClr val="6D28D9"/>
                </a:solidFill>
                <a:latin typeface="Meiryo"/>
                <a:cs typeface="Meiryo"/>
                <a:ea typeface="Meiryo"/>
              </a:rPr>
              <a:t>「確認していただきたいこと」に答える</a:t>
            </a:r>
          </a:p>
        </p:txBody>
      </p:sp>
      <p:sp>
        <p:nvSpPr>
          <p:cNvPr id="20" name="TextBox 19"/>
          <p:cNvSpPr txBox="1"/>
          <p:nvPr/>
        </p:nvSpPr>
        <p:spPr>
          <a:xfrm>
            <a:off x="1207007" y="3255263"/>
            <a:ext cx="10271455" cy="292607"/>
          </a:xfrm>
          <a:prstGeom prst="rect">
            <a:avLst/>
          </a:prstGeom>
          <a:noFill/>
        </p:spPr>
        <p:txBody>
          <a:bodyPr wrap="square" lIns="0" rIns="0" tIns="0" bIns="0" anchor="t">
            <a:spAutoFit/>
          </a:bodyPr>
          <a:lstStyle/>
          <a:p>
            <a:pPr algn="l">
              <a:lnSpc>
                <a:spcPct val="140000"/>
              </a:lnSpc>
              <a:buNone/>
            </a:pPr>
            <a:r>
              <a:rPr sz="1100" b="0" i="0">
                <a:solidFill>
                  <a:srgbClr val="14223A"/>
                </a:solidFill>
                <a:latin typeface="Meiryo"/>
                <a:cs typeface="Meiryo"/>
                <a:ea typeface="Meiryo"/>
              </a:rPr>
              <a:t>質問の形で並べています。「これで問題ない」の一言でも構いません。分からない・判断できないものは飛ばしてください。</a:t>
            </a:r>
          </a:p>
        </p:txBody>
      </p:sp>
      <p:sp>
        <p:nvSpPr>
          <p:cNvPr id="21" name="Rounded Rectangle 20"/>
          <p:cNvSpPr/>
          <p:nvPr/>
        </p:nvSpPr>
        <p:spPr>
          <a:xfrm>
            <a:off x="457200" y="3749039"/>
            <a:ext cx="11277295" cy="74980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57200" y="3749039"/>
            <a:ext cx="68580" cy="7498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3931920"/>
            <a:ext cx="384048" cy="384048"/>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400" b="1">
                <a:solidFill>
                  <a:srgbClr val="FFFFFF"/>
                </a:solidFill>
                <a:latin typeface="Meiryo"/>
                <a:cs typeface="Meiryo"/>
                <a:ea typeface="Meiryo"/>
              </a:rPr>
              <a:t>4</a:t>
            </a:r>
          </a:p>
        </p:txBody>
      </p:sp>
      <p:sp>
        <p:nvSpPr>
          <p:cNvPr id="24" name="TextBox 23"/>
          <p:cNvSpPr txBox="1"/>
          <p:nvPr/>
        </p:nvSpPr>
        <p:spPr>
          <a:xfrm>
            <a:off x="1207007" y="3867911"/>
            <a:ext cx="4114800" cy="274320"/>
          </a:xfrm>
          <a:prstGeom prst="rect">
            <a:avLst/>
          </a:prstGeom>
          <a:noFill/>
        </p:spPr>
        <p:txBody>
          <a:bodyPr wrap="square" lIns="0" rIns="0" tIns="0" bIns="0" anchor="t">
            <a:spAutoFit/>
          </a:bodyPr>
          <a:lstStyle/>
          <a:p>
            <a:pPr algn="l">
              <a:lnSpc>
                <a:spcPct val="125000"/>
              </a:lnSpc>
              <a:buNone/>
            </a:pPr>
            <a:r>
              <a:rPr sz="1200" b="1" i="0">
                <a:solidFill>
                  <a:srgbClr val="B45309"/>
                </a:solidFill>
                <a:latin typeface="Meiryo"/>
                <a:cs typeface="Meiryo"/>
                <a:ea typeface="Meiryo"/>
              </a:rPr>
              <a:t>気になったことは何でも書き添える</a:t>
            </a:r>
          </a:p>
        </p:txBody>
      </p:sp>
      <p:sp>
        <p:nvSpPr>
          <p:cNvPr id="25" name="TextBox 24"/>
          <p:cNvSpPr txBox="1"/>
          <p:nvPr/>
        </p:nvSpPr>
        <p:spPr>
          <a:xfrm>
            <a:off x="1207007" y="4133087"/>
            <a:ext cx="10271455" cy="292607"/>
          </a:xfrm>
          <a:prstGeom prst="rect">
            <a:avLst/>
          </a:prstGeom>
          <a:noFill/>
        </p:spPr>
        <p:txBody>
          <a:bodyPr wrap="square" lIns="0" rIns="0" tIns="0" bIns="0" anchor="t">
            <a:spAutoFit/>
          </a:bodyPr>
          <a:lstStyle/>
          <a:p>
            <a:pPr algn="l">
              <a:lnSpc>
                <a:spcPct val="140000"/>
              </a:lnSpc>
              <a:buNone/>
            </a:pPr>
            <a:r>
              <a:rPr sz="1100" b="0" i="0">
                <a:solidFill>
                  <a:srgbClr val="14223A"/>
                </a:solidFill>
                <a:latin typeface="Meiryo"/>
                <a:cs typeface="Meiryo"/>
                <a:ea typeface="Meiryo"/>
              </a:rPr>
              <a:t>「そもそもこの業務はこうではない」といった前提のズレのご指摘が、いちばん大きな手戻りを防ぎます。</a:t>
            </a:r>
          </a:p>
        </p:txBody>
      </p:sp>
      <p:sp>
        <p:nvSpPr>
          <p:cNvPr id="26" name="Rounded Rectangle 25"/>
          <p:cNvSpPr/>
          <p:nvPr/>
        </p:nvSpPr>
        <p:spPr>
          <a:xfrm>
            <a:off x="457200" y="4645151"/>
            <a:ext cx="11277295" cy="908558"/>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57200" y="4645151"/>
            <a:ext cx="68580" cy="90855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4736591"/>
            <a:ext cx="10874959"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優先してご確認いただきたい章</a:t>
            </a:r>
          </a:p>
        </p:txBody>
      </p:sp>
      <p:sp>
        <p:nvSpPr>
          <p:cNvPr id="29" name="TextBox 28"/>
          <p:cNvSpPr txBox="1"/>
          <p:nvPr/>
        </p:nvSpPr>
        <p:spPr>
          <a:xfrm>
            <a:off x="658368" y="5010912"/>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時間が限られている場合は、第6章(予約)・第8章(領収書)・第11章(請求と入金)・第13章(移動と手当)の4つを優先してください。この4つは、決まっていないことが多く、かつ金額に直結するため、後から直すときの影響がいちばん大きい箇所で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ご回答の書き方(例)</a:t>
            </a:r>
            <a:r>
              <a:rPr sz="1250" b="0" i="0">
                <a:solidFill>
                  <a:srgbClr val="64748B"/>
                </a:solidFill>
                <a:latin typeface="Meiryo"/>
                <a:cs typeface="Meiryo"/>
                <a:ea typeface="Meiryo"/>
              </a:rPr>
              <a:t>   第18章 ご確認の進め方</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形式は問いません。メール・チャット・この資料への書き込み、どれでも構いません</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53</a:t>
            </a:r>
          </a:p>
        </p:txBody>
      </p:sp>
      <p:graphicFrame>
        <p:nvGraphicFramePr>
          <p:cNvPr id="7" name="Table 6"/>
          <p:cNvGraphicFramePr>
            <a:graphicFrameLocks noGrp="1"/>
          </p:cNvGraphicFramePr>
          <p:nvPr/>
        </p:nvGraphicFramePr>
        <p:xfrm>
          <a:off x="457200" y="1115568"/>
          <a:ext cx="11277294" cy="3127248"/>
        </p:xfrm>
        <a:graphic>
          <a:graphicData uri="http://schemas.openxmlformats.org/drawingml/2006/table">
            <a:tbl>
              <a:tblPr firstRow="1" bandRow="1">
                <a:tableStyleId>{5C22544A-7EE6-4342-B048-85BDC9FD1C3A}</a:tableStyleId>
              </a:tblPr>
              <a:tblGrid>
                <a:gridCol w="1016805"/>
                <a:gridCol w="1756300"/>
                <a:gridCol w="7672258"/>
                <a:gridCol w="831931"/>
              </a:tblGrid>
              <a:tr h="310896">
                <a:tc>
                  <a:txBody>
                    <a:bodyPr wrap="square"/>
                    <a:lstStyle/>
                    <a:p>
                      <a:pPr algn="l">
                        <a:lnSpc>
                          <a:spcPct val="115000"/>
                        </a:lnSpc>
                        <a:buNone/>
                      </a:pPr>
                      <a:r>
                        <a:rPr sz="1050" b="1">
                          <a:solidFill>
                            <a:srgbClr val="14223A"/>
                          </a:solidFill>
                          <a:latin typeface="Meiryo"/>
                          <a:cs typeface="Meiryo"/>
                          <a:ea typeface="Meiryo"/>
                        </a:rPr>
                        <a:t>章・ページ</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対象</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ご指摘・ご回答</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急ぎ度</a:t>
                      </a:r>
                    </a:p>
                  </a:txBody>
                  <a:tcPr marL="64008" marR="64008" marT="27432" marB="27432" anchor="ctr">
                    <a:solidFill>
                      <a:srgbClr val="E2E8F0"/>
                    </a:solidFill>
                  </a:tcPr>
                </a:tc>
              </a:tr>
              <a:tr h="402336">
                <a:tc>
                  <a:txBody>
                    <a:bodyPr wrap="square"/>
                    <a:lstStyle/>
                    <a:p>
                      <a:pPr algn="l">
                        <a:lnSpc>
                          <a:spcPct val="115000"/>
                        </a:lnSpc>
                        <a:buNone/>
                      </a:pPr>
                      <a:r>
                        <a:rPr sz="1050" b="1">
                          <a:solidFill>
                            <a:srgbClr val="14223A"/>
                          </a:solidFill>
                          <a:latin typeface="Meiryo"/>
                          <a:cs typeface="Meiryo"/>
                          <a:ea typeface="Meiryo"/>
                        </a:rPr>
                        <a:t>第3章</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顧客の項目</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「鍵の受け渡し方法」が必要。宅配ボックス・キーボックス・手渡しの3種類がある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高</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第6章</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予約の状態</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「仮予約」が必要。電話で押さえてから正式確定まで2〜3日空くことがある</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高</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第8章</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締め日</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締めは毎月20日。取り消しは25日まで認めている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高</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第9章</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訪問の件数</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4件入る日が月に2〜3回ある</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高</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第10章</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クーポンの併用</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併用は不可。1回の訪問につき1枚まで</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中</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第12章</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割当の条件</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車の有無、お子様の年齢、過去の担当実績の3つを見ている</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中</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第5章</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カルテの区分</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この7つで問題ない</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a:t>
                      </a:r>
                    </a:p>
                  </a:txBody>
                  <a:tcPr marL="64008" marR="64008" marT="27432" marB="27432" anchor="ctr">
                    <a:solidFill>
                      <a:srgbClr val="FFFFFF"/>
                    </a:solidFill>
                  </a:tcPr>
                </a:tc>
              </a:tr>
            </a:tbl>
          </a:graphicData>
        </a:graphic>
      </p:graphicFrame>
      <p:sp>
        <p:nvSpPr>
          <p:cNvPr id="8" name="Rounded Rectangle 7"/>
          <p:cNvSpPr/>
          <p:nvPr/>
        </p:nvSpPr>
        <p:spPr>
          <a:xfrm>
            <a:off x="457200" y="4251960"/>
            <a:ext cx="5632704" cy="1143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4251960"/>
            <a:ext cx="68580" cy="1143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67512" y="4361688"/>
            <a:ext cx="5303520"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急ぎ度の目安</a:t>
            </a:r>
          </a:p>
        </p:txBody>
      </p:sp>
      <p:sp>
        <p:nvSpPr>
          <p:cNvPr id="11" name="TextBox 10"/>
          <p:cNvSpPr txBox="1"/>
          <p:nvPr/>
        </p:nvSpPr>
        <p:spPr>
          <a:xfrm>
            <a:off x="667512" y="4663440"/>
            <a:ext cx="5257800" cy="640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1">
                <a:solidFill>
                  <a:srgbClr val="14223A"/>
                </a:solidFill>
                <a:latin typeface="Meiryo"/>
                <a:cs typeface="Meiryo"/>
                <a:ea typeface="Meiryo"/>
              </a:rPr>
              <a:t>高 </a:t>
            </a:r>
            <a:r>
              <a:rPr sz="1100" b="0">
                <a:solidFill>
                  <a:srgbClr val="14223A"/>
                </a:solidFill>
                <a:latin typeface="Meiryo"/>
                <a:cs typeface="Meiryo"/>
                <a:ea typeface="Meiryo"/>
              </a:rPr>
              <a:t>— これが無いと業務が回らない / 金額が合わない</a:t>
            </a:r>
          </a:p>
          <a:p>
            <a:pPr marL="182880" indent="-182880">
              <a:lnSpc>
                <a:spcPct val="132000"/>
              </a:lnSpc>
              <a:spcBef>
                <a:spcPts val="400"/>
              </a:spcBef>
              <a:buClr>
                <a:srgbClr val="0369A1"/>
              </a:buClr>
              <a:buFont typeface="Meiryo"/>
              <a:buChar char="▪"/>
            </a:pPr>
            <a:r>
              <a:rPr sz="1100" b="1">
                <a:solidFill>
                  <a:srgbClr val="14223A"/>
                </a:solidFill>
                <a:latin typeface="Meiryo"/>
                <a:cs typeface="Meiryo"/>
                <a:ea typeface="Meiryo"/>
              </a:rPr>
              <a:t>中 </a:t>
            </a:r>
            <a:r>
              <a:rPr sz="1100" b="0">
                <a:solidFill>
                  <a:srgbClr val="14223A"/>
                </a:solidFill>
                <a:latin typeface="Meiryo"/>
                <a:cs typeface="Meiryo"/>
                <a:ea typeface="Meiryo"/>
              </a:rPr>
              <a:t>— 運用でしのげるが、あると助かる</a:t>
            </a:r>
          </a:p>
          <a:p>
            <a:pPr marL="182880" indent="-182880">
              <a:lnSpc>
                <a:spcPct val="132000"/>
              </a:lnSpc>
              <a:spcBef>
                <a:spcPts val="400"/>
              </a:spcBef>
              <a:buClr>
                <a:srgbClr val="0369A1"/>
              </a:buClr>
              <a:buFont typeface="Meiryo"/>
              <a:buChar char="▪"/>
            </a:pPr>
            <a:r>
              <a:rPr sz="1100" b="1">
                <a:solidFill>
                  <a:srgbClr val="14223A"/>
                </a:solidFill>
                <a:latin typeface="Meiryo"/>
                <a:cs typeface="Meiryo"/>
                <a:ea typeface="Meiryo"/>
              </a:rPr>
              <a:t>低 </a:t>
            </a:r>
            <a:r>
              <a:rPr sz="1100" b="0">
                <a:solidFill>
                  <a:srgbClr val="14223A"/>
                </a:solidFill>
                <a:latin typeface="Meiryo"/>
                <a:cs typeface="Meiryo"/>
                <a:ea typeface="Meiryo"/>
              </a:rPr>
              <a:t>— いずれ欲しい</a:t>
            </a:r>
          </a:p>
        </p:txBody>
      </p:sp>
      <p:sp>
        <p:nvSpPr>
          <p:cNvPr id="12" name="Rounded Rectangle 11"/>
          <p:cNvSpPr/>
          <p:nvPr/>
        </p:nvSpPr>
        <p:spPr>
          <a:xfrm>
            <a:off x="6272784" y="4251960"/>
            <a:ext cx="5632704" cy="1143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72784" y="4251960"/>
            <a:ext cx="68580" cy="11430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83096" y="4361688"/>
            <a:ext cx="5303520"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ご指摘の書き方のコツ</a:t>
            </a:r>
          </a:p>
        </p:txBody>
      </p:sp>
      <p:sp>
        <p:nvSpPr>
          <p:cNvPr id="15" name="TextBox 14"/>
          <p:cNvSpPr txBox="1"/>
          <p:nvPr/>
        </p:nvSpPr>
        <p:spPr>
          <a:xfrm>
            <a:off x="6483096" y="4663440"/>
            <a:ext cx="5257800" cy="640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「なぜ必要か」を一言添えていただけると、似た抜けをこちらで一緒に探せます</a:t>
            </a:r>
          </a:p>
          <a:p>
            <a:pPr marL="182880" indent="-182880">
              <a:lnSpc>
                <a:spcPct val="132000"/>
              </a:lnSpc>
              <a:spcBef>
                <a:spcPts val="400"/>
              </a:spcBef>
              <a:buClr>
                <a:srgbClr val="0369A1"/>
              </a:buClr>
              <a:buFont typeface="Meiryo"/>
              <a:buChar char="▪"/>
            </a:pPr>
            <a:r>
              <a:rPr sz="1100" b="0">
                <a:solidFill>
                  <a:srgbClr val="14223A"/>
                </a:solidFill>
                <a:latin typeface="Meiryo"/>
                <a:cs typeface="Meiryo"/>
                <a:ea typeface="Meiryo"/>
              </a:rPr>
              <a:t>実際の件数・頻度(月に◯回、全体の◯割)があると、優先順位を付けられます</a:t>
            </a:r>
          </a:p>
        </p:txBody>
      </p:sp>
      <p:sp>
        <p:nvSpPr>
          <p:cNvPr id="16" name="Rounded Rectangle 15"/>
          <p:cNvSpPr/>
          <p:nvPr/>
        </p:nvSpPr>
        <p:spPr>
          <a:xfrm>
            <a:off x="457200" y="5532120"/>
            <a:ext cx="11277295" cy="454279"/>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5532120"/>
            <a:ext cx="68580" cy="454279"/>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5650992"/>
            <a:ext cx="10874959" cy="243966"/>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分量が多いので、章ごとに分けてご返信いただいても構いません。気づいた順にお送りいただくのがいちばん助かります。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まとめ</a:t>
            </a:r>
            <a:r>
              <a:rPr sz="1250" b="0" i="0">
                <a:solidFill>
                  <a:srgbClr val="64748B"/>
                </a:solidFill>
                <a:latin typeface="Meiryo"/>
                <a:cs typeface="Meiryo"/>
                <a:ea typeface="Meiryo"/>
              </a:rPr>
              <a:t>   第18章 ご確認の進め方</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54</a:t>
            </a:r>
          </a:p>
        </p:txBody>
      </p:sp>
      <p:sp>
        <p:nvSpPr>
          <p:cNvPr id="6" name="Rounded Rectangle 5"/>
          <p:cNvSpPr/>
          <p:nvPr/>
        </p:nvSpPr>
        <p:spPr>
          <a:xfrm>
            <a:off x="457200" y="1115568"/>
            <a:ext cx="3712463" cy="2194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15568"/>
            <a:ext cx="6858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25295"/>
            <a:ext cx="3383279"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この資料は何だったか</a:t>
            </a:r>
          </a:p>
        </p:txBody>
      </p:sp>
      <p:sp>
        <p:nvSpPr>
          <p:cNvPr id="9" name="TextBox 8"/>
          <p:cNvSpPr txBox="1"/>
          <p:nvPr/>
        </p:nvSpPr>
        <p:spPr>
          <a:xfrm>
            <a:off x="667512" y="1527048"/>
            <a:ext cx="3337560" cy="16916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新しい業務システムが「何を記録するか」の一覧です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データベースをExcelのブックに置き換えて、シート(44枚)と見出し行の形でご説明しました</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専門用語は括弧に添えるだけで、本文には使っていません</a:t>
            </a:r>
          </a:p>
        </p:txBody>
      </p:sp>
      <p:sp>
        <p:nvSpPr>
          <p:cNvPr id="10" name="Rounded Rectangle 9"/>
          <p:cNvSpPr/>
          <p:nvPr/>
        </p:nvSpPr>
        <p:spPr>
          <a:xfrm>
            <a:off x="4352544" y="1115568"/>
            <a:ext cx="3712463" cy="2194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52544" y="1115568"/>
            <a:ext cx="68580" cy="21945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62855" y="1225295"/>
            <a:ext cx="3383279"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お願いしたいこと</a:t>
            </a:r>
          </a:p>
        </p:txBody>
      </p:sp>
      <p:sp>
        <p:nvSpPr>
          <p:cNvPr id="13" name="TextBox 12"/>
          <p:cNvSpPr txBox="1"/>
          <p:nvPr/>
        </p:nvSpPr>
        <p:spPr>
          <a:xfrm>
            <a:off x="4562855" y="1527048"/>
            <a:ext cx="3337560" cy="16916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項目の抜け</a:t>
            </a:r>
            <a:r>
              <a:rPr sz="1150" b="0">
                <a:solidFill>
                  <a:srgbClr val="14223A"/>
                </a:solidFill>
                <a:latin typeface="Meiryo"/>
                <a:cs typeface="Meiryo"/>
                <a:ea typeface="Meiryo"/>
              </a:rPr>
              <a:t>(記録したいのに一覧に無いもの)</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選択肢の抜け</a:t>
            </a:r>
            <a:r>
              <a:rPr sz="1150" b="0">
                <a:solidFill>
                  <a:srgbClr val="14223A"/>
                </a:solidFill>
                <a:latin typeface="Meiryo"/>
                <a:cs typeface="Meiryo"/>
                <a:ea typeface="Meiryo"/>
              </a:rPr>
              <a:t>(状態・区分に足りない選択肢)</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ルールの食い違い</a:t>
            </a:r>
            <a:r>
              <a:rPr sz="1150" b="0">
                <a:solidFill>
                  <a:srgbClr val="14223A"/>
                </a:solidFill>
                <a:latin typeface="Meiryo"/>
                <a:cs typeface="Meiryo"/>
                <a:ea typeface="Meiryo"/>
              </a:rPr>
              <a:t>(実際の運用とのズレ)</a:t>
            </a:r>
          </a:p>
        </p:txBody>
      </p:sp>
      <p:sp>
        <p:nvSpPr>
          <p:cNvPr id="14" name="Rounded Rectangle 13"/>
          <p:cNvSpPr/>
          <p:nvPr/>
        </p:nvSpPr>
        <p:spPr>
          <a:xfrm>
            <a:off x="8247888" y="1115568"/>
            <a:ext cx="3712463" cy="2194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247888" y="1115568"/>
            <a:ext cx="68580" cy="21945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58200" y="1225295"/>
            <a:ext cx="3383279"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いま見ていただく理由</a:t>
            </a:r>
          </a:p>
        </p:txBody>
      </p:sp>
      <p:sp>
        <p:nvSpPr>
          <p:cNvPr id="17" name="TextBox 16"/>
          <p:cNvSpPr txBox="1"/>
          <p:nvPr/>
        </p:nvSpPr>
        <p:spPr>
          <a:xfrm>
            <a:off x="8458200" y="1527048"/>
            <a:ext cx="3337560" cy="169163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本稼働前で、データが1件も入っていない段階です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いまなら、項目を足すのも作り直すのも短時間で済みます</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運用開始後だと、入力済みのデータを全件直す作業が付いてきます</a:t>
            </a:r>
          </a:p>
        </p:txBody>
      </p:sp>
      <p:sp>
        <p:nvSpPr>
          <p:cNvPr id="18" name="Rounded Rectangle 17"/>
          <p:cNvSpPr/>
          <p:nvPr/>
        </p:nvSpPr>
        <p:spPr>
          <a:xfrm>
            <a:off x="457200" y="3566160"/>
            <a:ext cx="11277295" cy="908558"/>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57200" y="3566160"/>
            <a:ext cx="68580" cy="90855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3657600"/>
            <a:ext cx="10874959" cy="237744"/>
          </a:xfrm>
          <a:prstGeom prst="rect">
            <a:avLst/>
          </a:prstGeom>
          <a:noFill/>
        </p:spPr>
        <p:txBody>
          <a:bodyPr wrap="square" lIns="0" rIns="0" tIns="0" bIns="0" anchor="t">
            <a:spAutoFit/>
          </a:bodyPr>
          <a:lstStyle/>
          <a:p>
            <a:pPr algn="l">
              <a:lnSpc>
                <a:spcPct val="125000"/>
              </a:lnSpc>
              <a:buNone/>
            </a:pPr>
            <a:r>
              <a:rPr sz="1050" b="1" i="0">
                <a:solidFill>
                  <a:srgbClr val="64748B"/>
                </a:solidFill>
                <a:latin typeface="Meiryo"/>
                <a:cs typeface="Meiryo"/>
                <a:ea typeface="Meiryo"/>
              </a:rPr>
              <a:t>この資料に無いもの</a:t>
            </a:r>
          </a:p>
        </p:txBody>
      </p:sp>
      <p:sp>
        <p:nvSpPr>
          <p:cNvPr id="21" name="TextBox 20"/>
          <p:cNvSpPr txBox="1"/>
          <p:nvPr/>
        </p:nvSpPr>
        <p:spPr>
          <a:xfrm>
            <a:off x="658368" y="3931920"/>
            <a:ext cx="10874959" cy="451357"/>
          </a:xfrm>
          <a:prstGeom prst="rect">
            <a:avLst/>
          </a:prstGeom>
          <a:noFill/>
        </p:spPr>
        <p:txBody>
          <a:bodyPr wrap="square" lIns="0" rIns="0" tIns="0" bIns="0" anchor="t">
            <a:spAutoFit/>
          </a:bodyPr>
          <a:lstStyle/>
          <a:p>
            <a:pPr algn="l">
              <a:lnSpc>
                <a:spcPct val="142000"/>
              </a:lnSpc>
              <a:buNone/>
            </a:pPr>
            <a:r>
              <a:rPr sz="1150" b="0" i="0">
                <a:solidFill>
                  <a:srgbClr val="14223A"/>
                </a:solidFill>
                <a:latin typeface="Meiryo"/>
                <a:cs typeface="Meiryo"/>
                <a:ea typeface="Meiryo"/>
              </a:rPr>
              <a:t>技術的な妥当性(安全性・性能・設計の作法)は、この資料の対象外です。そちらは別の資料(データベース構造レビュー資料)で、データベースの専門家に見ていただきます。ここでお願いしたいのは、業務をご存じの方にしか分からない「抜け」だけです。</a:t>
            </a:r>
          </a:p>
        </p:txBody>
      </p:sp>
      <p:sp>
        <p:nvSpPr>
          <p:cNvPr id="22" name="TextBox 21"/>
          <p:cNvSpPr txBox="1"/>
          <p:nvPr/>
        </p:nvSpPr>
        <p:spPr>
          <a:xfrm>
            <a:off x="457200" y="4892040"/>
            <a:ext cx="11277295" cy="548640"/>
          </a:xfrm>
          <a:prstGeom prst="rect">
            <a:avLst/>
          </a:prstGeom>
          <a:noFill/>
        </p:spPr>
        <p:txBody>
          <a:bodyPr wrap="square" lIns="0" rIns="0" tIns="0" bIns="0" anchor="t">
            <a:spAutoFit/>
          </a:bodyPr>
          <a:lstStyle/>
          <a:p>
            <a:pPr algn="ctr">
              <a:lnSpc>
                <a:spcPct val="125000"/>
              </a:lnSpc>
              <a:buNone/>
            </a:pPr>
            <a:r>
              <a:rPr sz="1500" b="1" i="0">
                <a:solidFill>
                  <a:srgbClr val="14223A"/>
                </a:solidFill>
                <a:latin typeface="Meiryo"/>
                <a:cs typeface="Meiryo"/>
                <a:ea typeface="Meiryo"/>
              </a:rPr>
              <a:t>お忙しいところ恐れ入りますが、よろしくお願いいたします。</a:t>
            </a:r>
          </a:p>
        </p:txBody>
      </p:sp>
      <p:sp>
        <p:nvSpPr>
          <p:cNvPr id="23" name="TextBox 22"/>
          <p:cNvSpPr txBox="1"/>
          <p:nvPr/>
        </p:nvSpPr>
        <p:spPr>
          <a:xfrm>
            <a:off x="457200" y="5486400"/>
            <a:ext cx="11277295" cy="548640"/>
          </a:xfrm>
          <a:prstGeom prst="rect">
            <a:avLst/>
          </a:prstGeom>
          <a:noFill/>
        </p:spPr>
        <p:txBody>
          <a:bodyPr wrap="square" lIns="0" rIns="0" tIns="0" bIns="0" anchor="t">
            <a:spAutoFit/>
          </a:bodyPr>
          <a:lstStyle/>
          <a:p>
            <a:pPr algn="ctr">
              <a:lnSpc>
                <a:spcPct val="125000"/>
              </a:lnSpc>
              <a:buNone/>
            </a:pPr>
            <a:r>
              <a:rPr sz="1150" b="0" i="0">
                <a:solidFill>
                  <a:srgbClr val="64748B"/>
                </a:solidFill>
                <a:latin typeface="Meiryo"/>
                <a:cs typeface="Meiryo"/>
                <a:ea typeface="Meiryo"/>
              </a:rPr>
              <a:t>ご不明な点は、どの章のどのページかだけ教えていただければ、個別にご説明にうかがいます。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