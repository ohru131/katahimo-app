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44テーブル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図を中心にし、正確な定義はコードとdoc/db/overview.mdに委ねる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資料の構成(全30ページ)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44テーブルの全体像と、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P6–18</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P19–25</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P26–30</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「この用語の使い方が違う」という指摘も歓迎です。設計の詳細は doc/db/overview.md、ER図と全列一覧は doc/db/reference.md(自動生成)にあります。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Excelの1シートに相当。このシステムには44枚ある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44テーブルの全体像と、テナント分離・データ保護・トランザクションの考え方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この①〜④の外側に、先に形だけ固めた5領域がある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予約 / 請求・決済 / 顧客カルテ / 訪問割当の最適化 / 移動手段別の手当。表と制約を先に用意してあり、この資料の第4章で扱う(日報AIのプロンプト調整は3軸まで実装済みで、この5領域には含めない)</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44テーブル</a:t>
            </a:r>
            <a:r>
              <a:rPr sz="1250" b="0" i="0">
                <a:solidFill>
                  <a:srgbClr val="64748B"/>
                </a:solidFill>
                <a:latin typeface="Meiryo"/>
                <a:cs typeface="Meiryo"/>
                <a:ea typeface="Meiryo"/>
              </a:rPr>
              <a:t>   業務ドメインごとに11のまとまり。tenants以外の43枚はすべて同じ形を守る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ドメイン別のER図は doc/db/reference.md 第1章(自動生成)</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05840"/>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05840"/>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05840"/>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05840"/>
            <a:ext cx="2692590"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doc/db/reference.md のER図</a:t>
            </a:r>
          </a:p>
        </p:txBody>
      </p:sp>
      <p:sp>
        <p:nvSpPr>
          <p:cNvPr id="11" name="TextBox 10"/>
          <p:cNvSpPr txBox="1"/>
          <p:nvPr/>
        </p:nvSpPr>
        <p:spPr>
          <a:xfrm>
            <a:off x="457200" y="1316736"/>
            <a:ext cx="73152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アプリが読み書きしている26枚</a:t>
            </a:r>
          </a:p>
        </p:txBody>
      </p:sp>
      <p:sp>
        <p:nvSpPr>
          <p:cNvPr id="12" name="Rounded Rectangle 11"/>
          <p:cNvSpPr/>
          <p:nvPr/>
        </p:nvSpPr>
        <p:spPr>
          <a:xfrm>
            <a:off x="457200"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テナント基盤 (4)</a:t>
            </a:r>
          </a:p>
        </p:txBody>
      </p:sp>
      <p:sp>
        <p:nvSpPr>
          <p:cNvPr id="14" name="TextBox 13"/>
          <p:cNvSpPr txBox="1"/>
          <p:nvPr/>
        </p:nvSpPr>
        <p:spPr>
          <a:xfrm>
            <a:off x="539496"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tenants
tenant_keys
app_settings
outbox_jobs</a:t>
            </a:r>
          </a:p>
        </p:txBody>
      </p:sp>
      <p:sp>
        <p:nvSpPr>
          <p:cNvPr id="15" name="Rounded Rectangle 14"/>
          <p:cNvSpPr/>
          <p:nvPr/>
        </p:nvSpPr>
        <p:spPr>
          <a:xfrm>
            <a:off x="2361133"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61133"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認証・スタッフ (3)</a:t>
            </a:r>
          </a:p>
        </p:txBody>
      </p:sp>
      <p:sp>
        <p:nvSpPr>
          <p:cNvPr id="17" name="TextBox 16"/>
          <p:cNvSpPr txBox="1"/>
          <p:nvPr/>
        </p:nvSpPr>
        <p:spPr>
          <a:xfrm>
            <a:off x="2443429"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staff
sessions
password_reset_codes</a:t>
            </a:r>
          </a:p>
        </p:txBody>
      </p:sp>
      <p:sp>
        <p:nvSpPr>
          <p:cNvPr id="18" name="Rounded Rectangle 17"/>
          <p:cNvSpPr/>
          <p:nvPr/>
        </p:nvSpPr>
        <p:spPr>
          <a:xfrm>
            <a:off x="4265066"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2650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 (2)</a:t>
            </a:r>
          </a:p>
        </p:txBody>
      </p:sp>
      <p:sp>
        <p:nvSpPr>
          <p:cNvPr id="20" name="TextBox 19"/>
          <p:cNvSpPr txBox="1"/>
          <p:nvPr/>
        </p:nvSpPr>
        <p:spPr>
          <a:xfrm>
            <a:off x="4347362"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customers
family_members</a:t>
            </a:r>
          </a:p>
        </p:txBody>
      </p:sp>
      <p:sp>
        <p:nvSpPr>
          <p:cNvPr id="21" name="Rounded Rectangle 20"/>
          <p:cNvSpPr/>
          <p:nvPr/>
        </p:nvSpPr>
        <p:spPr>
          <a:xfrm>
            <a:off x="6168999"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168999"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訪問の記録 (4)</a:t>
            </a:r>
          </a:p>
        </p:txBody>
      </p:sp>
      <p:sp>
        <p:nvSpPr>
          <p:cNvPr id="23" name="TextBox 22"/>
          <p:cNvSpPr txBox="1"/>
          <p:nvPr/>
        </p:nvSpPr>
        <p:spPr>
          <a:xfrm>
            <a:off x="6251295"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8072932"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072932"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割引クーポン (3)</a:t>
            </a:r>
          </a:p>
        </p:txBody>
      </p:sp>
      <p:sp>
        <p:nvSpPr>
          <p:cNvPr id="26" name="TextBox 25"/>
          <p:cNvSpPr txBox="1"/>
          <p:nvPr/>
        </p:nvSpPr>
        <p:spPr>
          <a:xfrm>
            <a:off x="8155228"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coupons
customer_coupons
coupon_redemptions</a:t>
            </a:r>
          </a:p>
        </p:txBody>
      </p:sp>
      <p:sp>
        <p:nvSpPr>
          <p:cNvPr id="27" name="Rounded Rectangle 26"/>
          <p:cNvSpPr/>
          <p:nvPr/>
        </p:nvSpPr>
        <p:spPr>
          <a:xfrm>
            <a:off x="9976866"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9768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日報AI(3軸+文面) (10)</a:t>
            </a:r>
          </a:p>
        </p:txBody>
      </p:sp>
      <p:sp>
        <p:nvSpPr>
          <p:cNvPr id="29" name="TextBox 28"/>
          <p:cNvSpPr txBox="1"/>
          <p:nvPr/>
        </p:nvSpPr>
        <p:spPr>
          <a:xfrm>
            <a:off x="10059162"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prompt_templates
report_age_bands
report_keywords
report_age_band_keywords
report_education_levels
report_stress_levels
report_phrases
customer_report_profiles
report_ai_generations
report_ai_generation_keywords</a:t>
            </a:r>
          </a:p>
        </p:txBody>
      </p:sp>
      <p:sp>
        <p:nvSpPr>
          <p:cNvPr id="30" name="TextBox 29"/>
          <p:cNvSpPr txBox="1"/>
          <p:nvPr/>
        </p:nvSpPr>
        <p:spPr>
          <a:xfrm>
            <a:off x="457200" y="2962656"/>
            <a:ext cx="86868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31" name="Rounded Rectangle 30"/>
          <p:cNvSpPr/>
          <p:nvPr/>
        </p:nvSpPr>
        <p:spPr>
          <a:xfrm>
            <a:off x="457200"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 (2)</a:t>
            </a:r>
          </a:p>
        </p:txBody>
      </p:sp>
      <p:sp>
        <p:nvSpPr>
          <p:cNvPr id="33" name="TextBox 32"/>
          <p:cNvSpPr txBox="1"/>
          <p:nvPr/>
        </p:nvSpPr>
        <p:spPr>
          <a:xfrm>
            <a:off x="539496"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customer_notes
customer_note_photos</a:t>
            </a:r>
          </a:p>
        </p:txBody>
      </p:sp>
      <p:sp>
        <p:nvSpPr>
          <p:cNvPr id="34" name="Rounded Rectangle 33"/>
          <p:cNvSpPr/>
          <p:nvPr/>
        </p:nvSpPr>
        <p:spPr>
          <a:xfrm>
            <a:off x="274191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274191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 (4)</a:t>
            </a:r>
          </a:p>
        </p:txBody>
      </p:sp>
      <p:sp>
        <p:nvSpPr>
          <p:cNvPr id="36" name="TextBox 35"/>
          <p:cNvSpPr txBox="1"/>
          <p:nvPr/>
        </p:nvSpPr>
        <p:spPr>
          <a:xfrm>
            <a:off x="282421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service_menus
reservations
reservation_assignments
staff_availabilities</a:t>
            </a:r>
          </a:p>
        </p:txBody>
      </p:sp>
      <p:sp>
        <p:nvSpPr>
          <p:cNvPr id="37" name="Rounded Rectangle 36"/>
          <p:cNvSpPr/>
          <p:nvPr/>
        </p:nvSpPr>
        <p:spPr>
          <a:xfrm>
            <a:off x="502663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502663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 (5)</a:t>
            </a:r>
          </a:p>
        </p:txBody>
      </p:sp>
      <p:sp>
        <p:nvSpPr>
          <p:cNvPr id="39" name="TextBox 38"/>
          <p:cNvSpPr txBox="1"/>
          <p:nvPr/>
        </p:nvSpPr>
        <p:spPr>
          <a:xfrm>
            <a:off x="510893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customer_payment_profiles
invoices
invoice_lines
payments
stripe_webhook_events</a:t>
            </a:r>
          </a:p>
        </p:txBody>
      </p:sp>
      <p:sp>
        <p:nvSpPr>
          <p:cNvPr id="40" name="Rounded Rectangle 39"/>
          <p:cNvSpPr/>
          <p:nvPr/>
        </p:nvSpPr>
        <p:spPr>
          <a:xfrm>
            <a:off x="731135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731135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 (5)</a:t>
            </a:r>
          </a:p>
        </p:txBody>
      </p:sp>
      <p:sp>
        <p:nvSpPr>
          <p:cNvPr id="42" name="TextBox 41"/>
          <p:cNvSpPr txBox="1"/>
          <p:nvPr/>
        </p:nvSpPr>
        <p:spPr>
          <a:xfrm>
            <a:off x="739365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trait_definitions
customer_traits
staff_traits
staff_customer_compatibilities
staff_customer_travel_estimates</a:t>
            </a:r>
          </a:p>
        </p:txBody>
      </p:sp>
      <p:sp>
        <p:nvSpPr>
          <p:cNvPr id="43" name="Rounded Rectangle 42"/>
          <p:cNvSpPr/>
          <p:nvPr/>
        </p:nvSpPr>
        <p:spPr>
          <a:xfrm>
            <a:off x="9596079" y="3218688"/>
            <a:ext cx="2138415"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596079" y="3218688"/>
            <a:ext cx="2138415"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 (2)</a:t>
            </a:r>
          </a:p>
        </p:txBody>
      </p:sp>
      <p:sp>
        <p:nvSpPr>
          <p:cNvPr id="45" name="TextBox 44"/>
          <p:cNvSpPr txBox="1"/>
          <p:nvPr/>
        </p:nvSpPr>
        <p:spPr>
          <a:xfrm>
            <a:off x="9678375" y="3630168"/>
            <a:ext cx="1973823"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transport_allowance_rules
travel_legs</a:t>
            </a:r>
          </a:p>
        </p:txBody>
      </p:sp>
      <p:sp>
        <p:nvSpPr>
          <p:cNvPr id="46" name="Rounded Rectangle 45"/>
          <p:cNvSpPr/>
          <p:nvPr/>
        </p:nvSpPr>
        <p:spPr>
          <a:xfrm>
            <a:off x="457200" y="5541264"/>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541264"/>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9" name="TextBox 48"/>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稼働中の17枚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169664"/>
        </p:xfrm>
        <a:graphic>
          <a:graphicData uri="http://schemas.openxmlformats.org/drawingml/2006/table">
            <a:tbl>
              <a:tblPr firstRow="1" bandRow="1">
                <a:tableStyleId>{5C22544A-7EE6-4342-B048-85BDC9FD1C3A}</a:tableStyleId>
              </a:tblPr>
              <a:tblGrid>
                <a:gridCol w="2025310"/>
                <a:gridCol w="3590322"/>
                <a:gridCol w="4971215"/>
                <a:gridCol w="690446"/>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28600">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 + 領収書の締め日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prompt_templates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AI生成のプロンプト文面。版を積む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key, version)。無い版は既定文面へ</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世帯構成員。アレルギーは専用の2列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customers への複合FK。未確認/なし/ありを区別</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領収書。取消は行を消さず cancelled_at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金額は整数の円。cancellable_until を登録時に固定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194808"/>
            <a:ext cx="5486400" cy="1187704"/>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194808"/>
            <a:ext cx="68580" cy="1187704"/>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286248"/>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この17枚が「土台」です</a:t>
            </a:r>
          </a:p>
        </p:txBody>
      </p:sp>
      <p:sp>
        <p:nvSpPr>
          <p:cNvPr id="15" name="TextBox 14"/>
          <p:cNvSpPr txBox="1"/>
          <p:nvPr/>
        </p:nvSpPr>
        <p:spPr>
          <a:xfrm>
            <a:off x="6428232" y="5542280"/>
            <a:ext cx="5138928" cy="767080"/>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提案書の差別化要因のうち、予約・請求・カルテ・訪問割当の最適化・移動手当(18枚)は次ページでスキーマだけ先に用意してあります。日報AIの3軸の9枚はその次のページで、この一覧の prompt_templates と合わせて既に実装まで進んでいます。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先行整備の18枚</a:t>
            </a:r>
            <a:r>
              <a:rPr sz="1250" b="0" i="0">
                <a:solidFill>
                  <a:srgbClr val="64748B"/>
                </a:solidFill>
                <a:latin typeface="Meiryo"/>
                <a:cs typeface="Meiryo"/>
                <a:ea typeface="Meiryo"/>
              </a:rPr>
              <a:t>   カルテ・予約・決済・最適化・手当の18枚</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第1〜5章。実装・API・画面はこれから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上の子。写真は実体を持たず保存キーのみ。1枚10MBまでをCHECKで制限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この18枚も既存17枚と同じ規約(tenant_id + RLS + 複合外部キー + CHECK + updated_at トリガー)に載せてあります。この5領域はスキーマまで。次ページの日報AIの3軸は実装まで進んでいます。先に作った理由と迷った判断は第4章(P27・P28)で扱います。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テーブル一覧③ — 稼働中: 日報AIの3軸(9枚)</a:t>
            </a:r>
            <a:r>
              <a:rPr sz="1250" b="0" i="0">
                <a:solidFill>
                  <a:srgbClr val="64748B"/>
                </a:solidFill>
                <a:latin typeface="Meiryo"/>
                <a:cs typeface="Meiryo"/>
                <a:ea typeface="Meiryo"/>
              </a:rPr>
              <a:t>   年齢帯・教育関心度★・ストレス度PSIの表と、生成記録。生成まで接続済み。文面は一覧①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第6章 / 区分値と値域は packages/shared/src/contracts/reportAi.ts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graphicFrame>
        <p:nvGraphicFramePr>
          <p:cNvPr id="7" name="Table 6"/>
          <p:cNvGraphicFramePr>
            <a:graphicFrameLocks noGrp="1"/>
          </p:cNvGraphicFramePr>
          <p:nvPr/>
        </p:nvGraphicFramePr>
        <p:xfrm>
          <a:off x="457200" y="1143000"/>
          <a:ext cx="11277294" cy="2999232"/>
        </p:xfrm>
        <a:graphic>
          <a:graphicData uri="http://schemas.openxmlformats.org/drawingml/2006/table">
            <a:tbl>
              <a:tblPr firstRow="1" bandRow="1">
                <a:tableStyleId>{5C22544A-7EE6-4342-B048-85BDC9FD1C3A}</a:tableStyleId>
              </a:tblPr>
              <a:tblGrid>
                <a:gridCol w="3037965"/>
                <a:gridCol w="1012655"/>
                <a:gridCol w="7226674"/>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区分</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301752">
                <a:tc>
                  <a:txBody>
                    <a:bodyPr wrap="square"/>
                    <a:lstStyle/>
                    <a:p>
                      <a:pPr algn="l">
                        <a:lnSpc>
                          <a:spcPct val="115000"/>
                        </a:lnSpc>
                        <a:buNone/>
                      </a:pPr>
                      <a:r>
                        <a:rPr sz="1000" b="1">
                          <a:solidFill>
                            <a:srgbClr val="14223A"/>
                          </a:solidFill>
                          <a:latin typeface="Meiryo"/>
                          <a:cs typeface="Meiryo"/>
                          <a:ea typeface="Meiryo"/>
                        </a:rPr>
                        <a:t>report_age_bands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子の年齢帯。月齢は半開区間 [from, to) でCHECK。帯どうしの重なり禁止は入口で担保</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report_keywords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教育キーワードと使ってよい条件(月齢・★の範囲・ストレス度の下限)。廃止は active=false</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report_age_band_keywords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年齢帯と相性の良い語の対応(多対多)。PK=(tenant_id, age_band_id, keyword_id)</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report_phrases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温かみ表現(encourage)と全日報で避ける表現(avoid)。適用するストレス度の範囲を持つ</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report_education_levels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教育関心度★(1〜5)ごとの教育語の使い方。上限語数(0〜3)と専門語の可否</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report_stress_levels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ストレス度(1〜5)ごとの安全弁。★の引き下げ幅・教育語の可否・連絡要否の3列</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customer_report_profiles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家庭ごとの★。PK=(tenant_id, customer_id)。customers の列にはしない</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AI生成1回。モデル・使った版・★/ストレス度・入力・生の出力。updated_atを持たない</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report_ai_generation_keywords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その生成で提示した候補(candidate)とAIが実際に使った語(used)</a:t>
                      </a:r>
                    </a:p>
                  </a:txBody>
                  <a:tcPr marL="64008" marR="64008" marT="27432" marB="27432" anchor="ctr">
                    <a:solidFill>
                      <a:srgbClr val="FFFFFF"/>
                    </a:solidFill>
                  </a:tcPr>
                </a:tc>
              </a:tr>
            </a:tbl>
          </a:graphicData>
        </a:graphic>
      </p:graphicFrame>
      <p:sp>
        <p:nvSpPr>
          <p:cNvPr id="8" name="TextBox 7"/>
          <p:cNvSpPr txBox="1"/>
          <p:nvPr/>
        </p:nvSpPr>
        <p:spPr>
          <a:xfrm>
            <a:off x="457200" y="4224528"/>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保護者向けの文面を組み替える3つの軸</a:t>
            </a:r>
          </a:p>
        </p:txBody>
      </p:sp>
      <p:sp>
        <p:nvSpPr>
          <p:cNvPr id="9" name="Rounded Rectangle 8"/>
          <p:cNvSpPr/>
          <p:nvPr/>
        </p:nvSpPr>
        <p:spPr>
          <a:xfrm>
            <a:off x="457200" y="4498848"/>
            <a:ext cx="3661562" cy="96926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3504"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子の年齢帯</a:t>
            </a:r>
          </a:p>
        </p:txBody>
      </p:sp>
      <p:sp>
        <p:nvSpPr>
          <p:cNvPr id="11" name="TextBox 10"/>
          <p:cNvSpPr txBox="1"/>
          <p:nvPr/>
        </p:nvSpPr>
        <p:spPr>
          <a:xfrm>
            <a:off x="603504"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生年月日と訪問日から月齢を都度計算し、report_age_bands の帯に当てる</a:t>
            </a:r>
          </a:p>
        </p:txBody>
      </p:sp>
      <p:sp>
        <p:nvSpPr>
          <p:cNvPr id="12" name="Rounded Rectangle 11"/>
          <p:cNvSpPr/>
          <p:nvPr/>
        </p:nvSpPr>
        <p:spPr>
          <a:xfrm>
            <a:off x="4265066" y="4498848"/>
            <a:ext cx="3661562" cy="96926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11370"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家庭の教育関心度★(1〜5)</a:t>
            </a:r>
          </a:p>
        </p:txBody>
      </p:sp>
      <p:sp>
        <p:nvSpPr>
          <p:cNvPr id="14" name="TextBox 13"/>
          <p:cNvSpPr txBox="1"/>
          <p:nvPr/>
        </p:nvSpPr>
        <p:spPr>
          <a:xfrm>
            <a:off x="4411370"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高いほど教育語を使う。家庭ごとに管理者・担当者が付ける</a:t>
            </a:r>
          </a:p>
        </p:txBody>
      </p:sp>
      <p:sp>
        <p:nvSpPr>
          <p:cNvPr id="15" name="Rounded Rectangle 14"/>
          <p:cNvSpPr/>
          <p:nvPr/>
        </p:nvSpPr>
        <p:spPr>
          <a:xfrm>
            <a:off x="8072932" y="4498848"/>
            <a:ext cx="3661562" cy="96926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219236"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③ 保護者のストレス度(1〜5)</a:t>
            </a:r>
          </a:p>
        </p:txBody>
      </p:sp>
      <p:sp>
        <p:nvSpPr>
          <p:cNvPr id="17" name="TextBox 16"/>
          <p:cNvSpPr txBox="1"/>
          <p:nvPr/>
        </p:nvSpPr>
        <p:spPr>
          <a:xfrm>
            <a:off x="8219236"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低いほど負担が大きい。訪問ごとにスタッフが評価(daily_reports.stress_level)</a:t>
            </a:r>
          </a:p>
        </p:txBody>
      </p:sp>
      <p:sp>
        <p:nvSpPr>
          <p:cNvPr id="18" name="Rounded Rectangle 17"/>
          <p:cNvSpPr/>
          <p:nvPr/>
        </p:nvSpPr>
        <p:spPr>
          <a:xfrm>
            <a:off x="457200" y="5541264"/>
            <a:ext cx="11277295"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5541264"/>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ストレス度は★より優先する(安全弁を文面ではなく列で持つ)</a:t>
            </a:r>
          </a:p>
        </p:txBody>
      </p:sp>
      <p:sp>
        <p:nvSpPr>
          <p:cNvPr id="21" name="TextBox 20"/>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負担の大きい家庭では教育語を止めてねぎらいに切り替えます。「★を何段下げるか」「教育語を使ってよいか」「管理者連絡を要するか」は report_stress_levels の3列に持たせ、コードが機械的に適用します(文面の一節として書くと、文面の編集で安全弁が外れるため)。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doc/db/overview.md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静的検査:全44テーブル分のSQLに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doc/db/overview.md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この形を適用した参照(全63本)</a:t>
            </a:r>
            <a:r>
              <a:rPr sz="1050" b="0" i="0">
                <a:solidFill>
                  <a:srgbClr val="64748B"/>
                </a:solidFill>
                <a:latin typeface="Meiryo"/>
                <a:cs typeface="Meiryo"/>
                <a:ea typeface="Meiryo"/>
              </a:rPr>
              <a:t>   下は稼働中の17枚にあるもの</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 / reservations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407533"/>
            <a:ext cx="11277295" cy="9749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407533"/>
            <a:ext cx="68580" cy="9749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498973"/>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755005"/>
            <a:ext cx="10929823" cy="554355"/>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クーポンの2枚(customer_coupons / coupon_redemptions)も同じ形で customers・coupons・daily_reports を指しています。先行整備の18枚・稼働中の日報AI3軸の10枚も同じ規約に載せてあり、複合外部キーは全部で63本です。参照先には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doc/db/overview.md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doc/db/overview.md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新しい表を足すときに考えることが少ない(同じ形をコピーすればよい)。RLSとupdated_atトリガーの張り忘れはCIが機械的に検出する。第4章の18枚・日報AIの10枚も、この形にそのまま載せてあります。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doc/db/overview.md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doc/db/new-domains.md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doc/db/guidelines.md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doc/db/new-domains.md 第7章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提案書では訪問看護事業者への展開を想定しています(doc/proposal/tech-stack.md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18テーブル。リポジトリ実装・API・画面はまだ無い(日報AIの3軸は実装済みでここには含めない)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8415"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8415"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a:t>
            </a:r>
          </a:p>
        </p:txBody>
      </p:sp>
      <p:sp>
        <p:nvSpPr>
          <p:cNvPr id="10" name="TextBox 9"/>
          <p:cNvSpPr txBox="1"/>
          <p:nvPr/>
        </p:nvSpPr>
        <p:spPr>
          <a:xfrm>
            <a:off x="557784" y="1920240"/>
            <a:ext cx="1937247" cy="294386"/>
          </a:xfrm>
          <a:prstGeom prst="rect">
            <a:avLst/>
          </a:prstGeom>
          <a:noFill/>
        </p:spPr>
        <p:txBody>
          <a:bodyPr wrap="square" lIns="0" rIns="0" tIns="0" bIns="0" anchor="t">
            <a:spAutoFit/>
          </a:bodyPr>
          <a:lstStyle/>
          <a:p>
            <a:pPr algn="l">
              <a:lnSpc>
                <a:spcPct val="145000"/>
              </a:lnSpc>
              <a:buNone/>
            </a:pPr>
            <a:r>
              <a:rPr sz="700" b="0" i="0">
                <a:solidFill>
                  <a:srgbClr val="BE185D"/>
                </a:solidFill>
                <a:latin typeface="Consolas"/>
                <a:cs typeface="Consolas"/>
                <a:ea typeface="Consolas"/>
              </a:rPr>
              <a:t>customer_notes
customer_note_photos</a:t>
            </a:r>
          </a:p>
        </p:txBody>
      </p:sp>
      <p:sp>
        <p:nvSpPr>
          <p:cNvPr id="11" name="TextBox 10"/>
          <p:cNvSpPr txBox="1"/>
          <p:nvPr/>
        </p:nvSpPr>
        <p:spPr>
          <a:xfrm>
            <a:off x="557784" y="2269490"/>
            <a:ext cx="1937247" cy="2805429"/>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85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写真は子テーブル。実体は持たず保存キーのみ</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1919" y="1481328"/>
            <a:ext cx="2138415"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1919" y="1481328"/>
            <a:ext cx="2138415"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予約(RESERVA移植)</a:t>
            </a:r>
          </a:p>
        </p:txBody>
      </p:sp>
      <p:sp>
        <p:nvSpPr>
          <p:cNvPr id="14" name="TextBox 13"/>
          <p:cNvSpPr txBox="1"/>
          <p:nvPr/>
        </p:nvSpPr>
        <p:spPr>
          <a:xfrm>
            <a:off x="2842503" y="1920240"/>
            <a:ext cx="1937247" cy="552196"/>
          </a:xfrm>
          <a:prstGeom prst="rect">
            <a:avLst/>
          </a:prstGeom>
          <a:noFill/>
        </p:spPr>
        <p:txBody>
          <a:bodyPr wrap="square" lIns="0" rIns="0" tIns="0" bIns="0" anchor="t">
            <a:spAutoFit/>
          </a:bodyPr>
          <a:lstStyle/>
          <a:p>
            <a:pPr algn="l">
              <a:lnSpc>
                <a:spcPct val="145000"/>
              </a:lnSpc>
              <a:buNone/>
            </a:pPr>
            <a:r>
              <a:rPr sz="70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42503" y="2527300"/>
            <a:ext cx="1937247" cy="25476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85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主担当は1予約1人までを部分一意索引で保証</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6639" y="1481328"/>
            <a:ext cx="2138415"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6639" y="1481328"/>
            <a:ext cx="2138415"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請求・決済(Stripe)</a:t>
            </a:r>
          </a:p>
        </p:txBody>
      </p:sp>
      <p:sp>
        <p:nvSpPr>
          <p:cNvPr id="18" name="TextBox 17"/>
          <p:cNvSpPr txBox="1"/>
          <p:nvPr/>
        </p:nvSpPr>
        <p:spPr>
          <a:xfrm>
            <a:off x="5127223" y="1920240"/>
            <a:ext cx="1937247" cy="681101"/>
          </a:xfrm>
          <a:prstGeom prst="rect">
            <a:avLst/>
          </a:prstGeom>
          <a:noFill/>
        </p:spPr>
        <p:txBody>
          <a:bodyPr wrap="square" lIns="0" rIns="0" tIns="0" bIns="0" anchor="t">
            <a:spAutoFit/>
          </a:bodyPr>
          <a:lstStyle/>
          <a:p>
            <a:pPr algn="l">
              <a:lnSpc>
                <a:spcPct val="145000"/>
              </a:lnSpc>
              <a:buNone/>
            </a:pPr>
            <a:r>
              <a:rPr sz="70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27223" y="2656205"/>
            <a:ext cx="1937247" cy="2418714"/>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85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total = subtotal − discount + tax をCHECKで強制</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1359" y="1481328"/>
            <a:ext cx="2138415"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1359" y="1481328"/>
            <a:ext cx="2138415"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a:t>
            </a:r>
          </a:p>
        </p:txBody>
      </p:sp>
      <p:sp>
        <p:nvSpPr>
          <p:cNvPr id="22" name="TextBox 21"/>
          <p:cNvSpPr txBox="1"/>
          <p:nvPr/>
        </p:nvSpPr>
        <p:spPr>
          <a:xfrm>
            <a:off x="7411943" y="1920240"/>
            <a:ext cx="1937247" cy="681101"/>
          </a:xfrm>
          <a:prstGeom prst="rect">
            <a:avLst/>
          </a:prstGeom>
          <a:noFill/>
        </p:spPr>
        <p:txBody>
          <a:bodyPr wrap="square" lIns="0" rIns="0" tIns="0" bIns="0" anchor="t">
            <a:spAutoFit/>
          </a:bodyPr>
          <a:lstStyle/>
          <a:p>
            <a:pPr algn="l">
              <a:lnSpc>
                <a:spcPct val="145000"/>
              </a:lnSpc>
              <a:buNone/>
            </a:pPr>
            <a:r>
              <a:rPr sz="70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11943" y="2656205"/>
            <a:ext cx="1937247" cy="2418714"/>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85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596079" y="1481328"/>
            <a:ext cx="2138415"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596079" y="1481328"/>
            <a:ext cx="2138415"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a:t>
            </a:r>
          </a:p>
        </p:txBody>
      </p:sp>
      <p:sp>
        <p:nvSpPr>
          <p:cNvPr id="26" name="TextBox 25"/>
          <p:cNvSpPr txBox="1"/>
          <p:nvPr/>
        </p:nvSpPr>
        <p:spPr>
          <a:xfrm>
            <a:off x="9696663" y="1920240"/>
            <a:ext cx="1937247" cy="294386"/>
          </a:xfrm>
          <a:prstGeom prst="rect">
            <a:avLst/>
          </a:prstGeom>
          <a:noFill/>
        </p:spPr>
        <p:txBody>
          <a:bodyPr wrap="square" lIns="0" rIns="0" tIns="0" bIns="0" anchor="t">
            <a:spAutoFit/>
          </a:bodyPr>
          <a:lstStyle/>
          <a:p>
            <a:pPr algn="l">
              <a:lnSpc>
                <a:spcPct val="145000"/>
              </a:lnSpc>
              <a:buNone/>
            </a:pPr>
            <a:r>
              <a:rPr sz="700" b="0" i="0">
                <a:solidFill>
                  <a:srgbClr val="C2410C"/>
                </a:solidFill>
                <a:latin typeface="Consolas"/>
                <a:cs typeface="Consolas"/>
                <a:ea typeface="Consolas"/>
              </a:rPr>
              <a:t>transport_allowance_rules
travel_legs</a:t>
            </a:r>
          </a:p>
        </p:txBody>
      </p:sp>
      <p:sp>
        <p:nvSpPr>
          <p:cNvPr id="27" name="TextBox 26"/>
          <p:cNvSpPr txBox="1"/>
          <p:nvPr/>
        </p:nvSpPr>
        <p:spPr>
          <a:xfrm>
            <a:off x="9696663" y="2269490"/>
            <a:ext cx="1937247" cy="2805429"/>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850" b="0">
                <a:solidFill>
                  <a:srgbClr val="14223A"/>
                </a:solidFill>
                <a:latin typeface="Meiryo"/>
                <a:cs typeface="Meiryo"/>
                <a:ea typeface="Meiryo"/>
              </a:rPr>
              <a:t>自動車・公共交通機関・自転車・徒歩を選べる</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既存17枚と同じ規約に載せてある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15568"/>
          <a:ext cx="11277293" cy="3291840"/>
        </p:xfrm>
        <a:graphic>
          <a:graphicData uri="http://schemas.openxmlformats.org/drawingml/2006/table">
            <a:tbl>
              <a:tblPr firstRow="1" bandRow="1">
                <a:tableStyleId>{5C22544A-7EE6-4342-B048-85BDC9FD1C3A}</a:tableStyleId>
              </a:tblPr>
              <a:tblGrid>
                <a:gridCol w="3018254"/>
                <a:gridCol w="1006084"/>
                <a:gridCol w="4207263"/>
                <a:gridCol w="3045692"/>
              </a:tblGrid>
              <a:tr h="274320">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502920">
                <a:tc>
                  <a:txBody>
                    <a:bodyPr wrap="square"/>
                    <a:lstStyle/>
                    <a:p>
                      <a:pPr algn="l">
                        <a:lnSpc>
                          <a:spcPct val="115000"/>
                        </a:lnSpc>
                        <a:buNone/>
                      </a:pPr>
                      <a:r>
                        <a:rPr sz="90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0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0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04688"/>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04688"/>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52159"/>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第5章「レビュー観点」/ doc/db/new-domains.md 第7章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graphicFrame>
        <p:nvGraphicFramePr>
          <p:cNvPr id="7" name="Table 6"/>
          <p:cNvGraphicFramePr>
            <a:graphicFrameLocks noGrp="1"/>
          </p:cNvGraphicFramePr>
          <p:nvPr/>
        </p:nvGraphicFramePr>
        <p:xfrm>
          <a:off x="457200" y="1152144"/>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0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20</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15・21</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範囲の重なりをどこで止めるか(予約・単価・年齢帯)</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22・11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EXCLUDE制約が使えない(テスト環境に拡張が無い)ため3箇所とも入口(usecase)で担保している。本番だけ張る / アプリで直列化 / 固定スロット / 運用で検知、のどれを採るべきか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23</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24</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25</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27</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0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28</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0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13・14</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44テーブルの定義。列ごとに「なぜこの形か」をコメントで書いてある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業務ロジックが外部に求める窓口の定義(33本)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00" b="1">
                <a:solidFill>
                  <a:srgbClr val="14223A"/>
                </a:solidFill>
                <a:latin typeface="Meiryo"/>
                <a:cs typeface="Meiryo"/>
                <a:ea typeface="Meiryo"/>
              </a:rPr>
              <a:t>doc/db/overview.md</a:t>
            </a:r>
            <a:r>
              <a:rPr sz="1000" b="0">
                <a:solidFill>
                  <a:srgbClr val="14223A"/>
                </a:solidFill>
                <a:latin typeface="Meiryo"/>
                <a:cs typeface="Meiryo"/>
                <a:ea typeface="Meiryo"/>
              </a:rPr>
              <a:t>  本資料の詳細版。設計方針・暗号化の構成・レビュー観点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doc/db/reference.md</a:t>
            </a:r>
            <a:r>
              <a:rPr sz="1000" b="0">
                <a:solidFill>
                  <a:srgbClr val="14223A"/>
                </a:solidFill>
                <a:latin typeface="Meiryo"/>
                <a:cs typeface="Meiryo"/>
                <a:ea typeface="Meiryo"/>
              </a:rPr>
              <a:t>  ER図と全44テーブルの全列一覧。スキーマから自動生成(pnpm db:docs)</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doc/db/new-domains.md</a:t>
            </a:r>
            <a:r>
              <a:rPr sz="1000" b="0">
                <a:solidFill>
                  <a:srgbClr val="14223A"/>
                </a:solidFill>
                <a:latin typeface="Meiryo"/>
                <a:cs typeface="Meiryo"/>
                <a:ea typeface="Meiryo"/>
              </a:rPr>
              <a:t>  先行整備5領域(18テーブル)・日報AI3軸(10テーブル)の設計理由と、未決の論点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doc/db/guidelines.md</a:t>
            </a:r>
            <a:r>
              <a:rPr sz="100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doc/slides/architecture.pptx</a:t>
            </a:r>
            <a:r>
              <a:rPr sz="100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