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50" b="1" i="0">
                <a:solidFill>
                  <a:srgbClr val="7DD3FC"/>
                </a:solidFill>
                <a:latin typeface="Meiryo"/>
                <a:cs typeface="Meiryo"/>
                <a:ea typeface="Meiryo"/>
              </a:rPr>
              <a:t>DATABASE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katahimo-app
データベース構造レビュー資料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600" b="0" i="0">
                <a:solidFill>
                  <a:srgbClr val="CBD5E1"/>
                </a:solidFill>
                <a:latin typeface="Meiryo"/>
                <a:cs typeface="Meiryo"/>
                <a:ea typeface="Meiryo"/>
              </a:rPr>
              <a:t>訪問保育(ベビーシッター法人)向け業務SaaS — PostgreSQL / 44テーブル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4681728"/>
            <a:ext cx="3749040" cy="0"/>
          </a:xfrm>
          <a:prstGeom prst="line">
            <a:avLst/>
          </a:prstGeom>
          <a:ln w="15240">
            <a:solidFill>
              <a:srgbClr val="4755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486460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buNone/>
            </a:pPr>
            <a:r>
              <a:rPr sz="1250" b="0" i="0">
                <a:solidFill>
                  <a:srgbClr val="94A3B8"/>
                </a:solidFill>
                <a:latin typeface="Meiryo"/>
                <a:cs typeface="Meiryo"/>
                <a:ea typeface="Meiryo"/>
              </a:rPr>
              <a:t>現状の構成 ・ 設計上の問題点 ・ ご相談したいこと
実装は packages/db/src/schema/*.ts が正 / 本番未配備・運用開始前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この資料の目的と読み方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を図解・要約したもの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361188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8580" cy="21488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52728"/>
            <a:ext cx="3282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54480"/>
            <a:ext cx="3236976" cy="1645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この設計のまま運用を始めてよいか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を判断いただきたい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まだ運用前なので、破壊的な作り直しも可能な段階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危ないところを指摘いただくことが目的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1188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68580" cy="2148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252728"/>
            <a:ext cx="3282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設計者の前提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1554480"/>
            <a:ext cx="3236976" cy="1645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データベース設計は今回が初めて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。用語の使い方自体が間違っている可能性がある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実装は動いており、テストとCIも回っている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知らないために選ばなかった選択肢があるはず、という前提で見ていただきたい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143000"/>
            <a:ext cx="3685032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143000"/>
            <a:ext cx="68580" cy="21488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252728"/>
            <a:ext cx="33558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この資料の作り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1554480"/>
            <a:ext cx="3310128" cy="1645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用語は出てくるたびに日常の言葉で言い換える(第1章に用語辞典)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図を中心にし、正確な定義はコードとdoc/db/overview.mdに委ねる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赤い枠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は自覚している弱点を示す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資料の構成(全30ページ)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68580" cy="16916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まず用語から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表・主キー・外部キー・
トランザクション・RLS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P4–5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931920"/>
            <a:ext cx="68580" cy="16916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11296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第2章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1296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現状の構成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1296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44テーブルの全体像と、
テナント分離・データ保護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11296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P6–18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63056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3931920"/>
            <a:ext cx="68580" cy="1691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第3章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設計上の問題点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customers 39列の肥大化ほか
6件を自己申告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P19–25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15984" y="3931920"/>
            <a:ext cx="68580" cy="16916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17152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第4章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相談事項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152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先行して用意したスキーマと、
判断いただきたい論点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P26–30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742432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742432"/>
            <a:ext cx="68580" cy="62611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833872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詳細の参照先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089904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用語の使い方が違うという指摘も歓迎です。設計の詳細は doc/db/overview.md、ER図と全列一覧は doc/db/reference.md(自動生成)にあります。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1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まず用語から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この資料に出てくるデータベース用語を、日常の言葉で言い換えておきます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用語① テーブル・行・列・キー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データベースは関係づけられた表の集まり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実物は packages/db/src/schema/customers.ts, dailyReports.ts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4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テーブル(表)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Excelの1シートに相当。このシステムには44枚ある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行(レコード)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1件のデータ。顧客1人・日報1本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列(カラム)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項目。氏名・電話番号など。列ごとに</a:t>
            </a: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型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(文字列・数値・日時など)を決める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主キー(PK)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その行を一意に指す背番号。このシステムは全テーブル </a:t>
            </a:r>
            <a:r>
              <a:rPr sz="11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uuid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のランダムな値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外部キー(FK)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別の表の行を指す紐付け。日報がどの顧客の記録かを持つのに使う。存在しない顧客IDを書くとデータベースが拒否する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表を分ける理由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顧客の住所を1か所に置けば、住所が変わったとき直すのは1行だけで済む。日報ごとに住所を書き写していたら、直し漏れが出る(これを</a:t>
            </a: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正規化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と呼ぶ)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155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顧客テーブル(customers)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371600"/>
          <a:ext cx="5349239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039"/>
                <a:gridCol w="1304692"/>
                <a:gridCol w="2087508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id 〈主キー〉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name(氏名)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a1f3-…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聖徳 太子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b2c4-…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金太郎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228600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1行 = 顧客1人 / 1列 = 1つの項目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6118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日報テーブル(daily_reports)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3867912"/>
          <a:ext cx="5349239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031"/>
                <a:gridCol w="2061686"/>
                <a:gridCol w="189452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id 〈主キー〉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customer_id 〈外部キー〉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occurred_at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e9d1-…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a1f3-…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2026/09/03 9:00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f0a2-…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a1f3-…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2026/09/05 9:00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cxnSp>
        <p:nvCxnSpPr>
          <p:cNvPr id="13" name="Connector 12"/>
          <p:cNvCxnSpPr/>
          <p:nvPr/>
        </p:nvCxnSpPr>
        <p:spPr>
          <a:xfrm flipV="1">
            <a:off x="7863840" y="3182112"/>
            <a:ext cx="0" cy="667512"/>
          </a:xfrm>
          <a:prstGeom prst="line">
            <a:avLst/>
          </a:prstGeom>
          <a:ln w="20320">
            <a:solidFill>
              <a:srgbClr val="0478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39128" y="3182112"/>
            <a:ext cx="1124712" cy="0"/>
          </a:xfrm>
          <a:prstGeom prst="line">
            <a:avLst/>
          </a:prstGeom>
          <a:ln w="20320">
            <a:solidFill>
              <a:srgbClr val="0478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739128" y="2267712"/>
            <a:ext cx="0" cy="914400"/>
          </a:xfrm>
          <a:prstGeom prst="line">
            <a:avLst/>
          </a:prstGeom>
          <a:ln w="2032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79" y="303580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外部キーが主キーを指す。
この日報は聖徳太子さんの記録、という関係を表す。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956048"/>
            <a:ext cx="5349240" cy="105156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956048"/>
            <a:ext cx="68580" cy="1051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5047488"/>
            <a:ext cx="4983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この2枚の読み方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303520"/>
            <a:ext cx="5001768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以降の図の矢印は、ほぼすべて外部キーによる紐付けです。矢印の向きは参照する側 → 参照される側。tenant_id 列は次章で説明します。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用語② 制約・索引・トランザクション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この先の図を読むのに必要な8語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RLS・封筒暗号化は第2章で図解します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70432"/>
          <a:ext cx="7086598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285"/>
                <a:gridCol w="2784021"/>
                <a:gridCol w="261529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用語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ふだんの言葉で言うと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このシステムでの使い所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UNIQUE(一意制約)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この列の組み合わせを重複禁止にするルール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同じメールで2人登録できないようにする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CHECK(検査制約)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列に入ってよい値をデータベース側で縛るルール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区分値・1〜5の評価・0以上の金額をDBが拒否する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INDEX(索引)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本の巻末索引。全ページ読まずに目的の行へ飛べる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姓が佐藤の顧客を全件走査せず引く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トランザクション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複数の書き込みをまとめて確定/取消する単位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日報の保存と通知予約を同時に確定する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RLS(行レベルセキュリティ)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データベース側で見える行を絞り込む機能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他社のデータは見えなくする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マイグレーション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表の設計変更の手順書。SQLのファイルを積み上げていく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統合したベースライン 0000 に、0001 以降を積み増していく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ORM(Drizzle)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表の定義をTypeScriptで書き、SQLを生成する道具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列の型がプログラム側の型と食い違うのを防ぐ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JSONB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1つの列の中にJSON(入れ子の構造)をまとめて入れる型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勤怠の1日分をまるごと1列に入れている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14300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図1 索引(INDEX)があると速い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426464"/>
            <a:ext cx="1600200" cy="91440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索引
姓「佐藤」→ 3行目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66960" y="1426464"/>
            <a:ext cx="1783080" cy="9144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顧客テーブル
(何万行でも)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64040" y="1883664"/>
            <a:ext cx="457200" cy="0"/>
          </a:xfrm>
          <a:prstGeom prst="line">
            <a:avLst/>
          </a:prstGeom>
          <a:ln w="2286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18120" y="23957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索引が無いと毎回全行を読む。ただし索引は書き込みを少し遅くする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8803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図2 トランザクション(まとめて確定)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154680"/>
            <a:ext cx="3931920" cy="12344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20320">
            <a:solidFill>
              <a:srgbClr val="0478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321868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1つのトランザクション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456432"/>
            <a:ext cx="17830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日報を1行書く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3895344"/>
            <a:ext cx="17830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通知の予約を1行書く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21240" y="3456432"/>
            <a:ext cx="1691640" cy="822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両方成功なら確定
片方失敗なら両方無し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84080" y="3858768"/>
            <a:ext cx="91440" cy="0"/>
          </a:xfrm>
          <a:prstGeom prst="line">
            <a:avLst/>
          </a:prstGeom>
          <a:ln w="1905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818120" y="4526280"/>
            <a:ext cx="3931920" cy="10515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18120" y="4526280"/>
            <a:ext cx="68580" cy="10515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4617720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重要な理由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873752"/>
            <a:ext cx="3584448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日報は保存できたのに通知だけ飛ばない、という状態を防ぐため。片方だけ成立すると、どの記録が取り残されたのか追えなくなる。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2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現状の構成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44テーブルの全体像と、テナント分離・データ保護・トランザクションの考え方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何を記録しているのか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業務の流れと、それを受けるテーブル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現行はGoogle Apps Script版が稼働中。PostgreSQLを唯一の正データにする移行の途中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606040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2606040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① 顧客を取り込む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外部予約システム
RESERVA のCSV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179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customers
family_members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90672" y="2377440"/>
            <a:ext cx="265176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8328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1234440"/>
            <a:ext cx="2606040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1234440"/>
            <a:ext cx="2606040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② 訪問する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スタッフが顧客宅へ
(スマホで操作)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4787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staff
sessions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377440"/>
            <a:ext cx="265176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30936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234440"/>
            <a:ext cx="26060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1234440"/>
            <a:ext cx="26060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③ 記録を残す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日報・事故報告・
領収書・勤怠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7395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daily_reports / accident_reports
receipts / attendance_days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942832" y="2377440"/>
            <a:ext cx="265176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23544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35440" y="1234440"/>
            <a:ext cx="2606040" cy="3840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35440" y="1234440"/>
            <a:ext cx="2606040" cy="3840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④ 外へ渡す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スプレッドシート・
Google Chat 通知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0976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40003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C2410C"/>
                </a:solidFill>
                <a:latin typeface="Consolas"/>
                <a:cs typeface="Consolas"/>
                <a:ea typeface="Consolas"/>
              </a:rPr>
              <a:t>outbox_jobs
app_settings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379476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794760"/>
            <a:ext cx="68580" cy="1234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390448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後から書き換えない記録が多い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4206240"/>
            <a:ext cx="511149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日報・事故報告・領収書・勤怠は、その日の事実を積み上げる性質。削除は行わず、顧客の退会も deactivated_at を立てるだけ(ソフトデリート)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3794760"/>
            <a:ext cx="5605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0" y="3794760"/>
            <a:ext cx="68580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36792" y="3904488"/>
            <a:ext cx="52760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①〜④の外側に、先に形だけ固めた5領域がある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6792" y="4206240"/>
            <a:ext cx="5230368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 / 請求・決済 / 顧客カルテ / 訪問割当の最適化 / 移動手段別の手当。表と制約を先に用意してあり、この資料の第4章で扱う(日報AIのプロンプト調整は3軸まで実装済みで、この5領域には含めない)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230368"/>
            <a:ext cx="11277295" cy="10058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230368"/>
            <a:ext cx="68580" cy="10058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2180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設計の出発点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577840"/>
            <a:ext cx="1092982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現行のGoogle Apps Script版は、データがすべてスプレッドシートとDriveにあり、1法人・1Googleアカウントに強く依存しています。これを複数法人(テナント)が同居できる形に作り替えるのが今回の目的です。したがって他社のデータが混ざらないことが設計上の最優先事項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全体像 — 44テーブル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業務ドメインごとに11のまとまり。tenants以外の43枚はすべて同じ形を守る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packages/db/src/schema/*.ts / ドメイン別のER図は doc/db/reference.md 第1章(自動生成)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2016950" cy="256032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全テーブルが tenant_id を持つ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6446" y="1005840"/>
            <a:ext cx="88284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紫 = 稼働中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1583" y="1005840"/>
            <a:ext cx="1244790" cy="256032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C2410C"/>
                </a:solidFill>
                <a:latin typeface="Meiryo"/>
                <a:cs typeface="Meiryo"/>
                <a:ea typeface="Meiryo"/>
              </a:rPr>
              <a:t>橙 = スキーマのみ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8669" y="1005840"/>
            <a:ext cx="2692590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関係の矢印は doc/db/reference.md のER図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稼働中 — アプリが読み書きしている26枚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テナント基盤 (4)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tenants
tenant_keys
app_settings
outbox_jobs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61133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61133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認証・スタッフ (3)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3429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staff
sessions
password_reset_codes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5066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5066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顧客 (2)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7362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customers
family_members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訪問の記録 (4)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1295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daily_reports
accident_reports
receipts
attendance_days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2932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72932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割引クーポン (3)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228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coupons
customer_coupons
coupon_redemptions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76866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76866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日報AI(3軸+文面) (10)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9162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prompt_templates
report_age_bands
report_keywords
report_age_band_keywords
report_education_levels
report_stress_levels
report_phrases
customer_report_profiles
report_ai_generations
report_ai_generation_keywords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803904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スキーマだけ先に用意 — 表と制約はあるが、実装・API・画面はこれから(18枚)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顧客カルテ (2)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customer_notes
customer_note_photos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191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191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予約 (4)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2421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service_menus
reservations
reservation_assignments
staff_availabilities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663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663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請求・決済 (5)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893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customer_payment_profiles
invoices
invoice_lines
payments
stripe_webhook_events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135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135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訪問割当の最適化 (5)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9365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trait_definitions
customer_traits
staff_traits
staff_customer_compatibilities
staff_customer_travel_estimates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9607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59607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移動手段と手当 (2)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837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transport_allowance_rules
travel_legs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541264"/>
            <a:ext cx="11277295" cy="79629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541264"/>
            <a:ext cx="68580" cy="79629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632703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3つの例外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888736"/>
            <a:ext cx="10929823" cy="375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① tenants だけRLSの対象外(ログイン前に法人を特定するため)  ② receipts.customer_id だけ空を許す(顧客に紐付かない経費)  ③ sessions.token_hash だけ法人を越えて一意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テーブル一覧① — 稼働中の17枚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アプリが実際に読み書きしている表と、鍵になる制約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RLS = 行レベルセキュリティ(そのテナントの行しか見えなくするDB側の仕組み)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3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10"/>
                <a:gridCol w="3590322"/>
                <a:gridCol w="4971215"/>
                <a:gridCol w="690446"/>
              </a:tblGrid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役割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鍵になる制約・特徴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RLS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法人(テナント)マスタ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slug で一意。ログイン前に法人を特定する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対象外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tenant_keys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テナントごとの暗号鍵(ラップ済み)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PK=(tenant_id, dek_version) 世代が並存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app_settings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テナント単位の管理者設定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1テナント1行。資格情報3列だけ暗号化 + 領収書の締め日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prompt_templates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AI生成のプロンプト文面。版を積む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key, version)。無い版は既定文面へ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outbox_jobs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スプレッドシート書き戻しの待ち行列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idempotency_key)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スタッフ。認証情報も兼ねる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email) / (tenant_id, id)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sessions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ログインセッション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生トークンは保存せずSHA-256のみ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password_reset_codes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パスワード再設定の6桁コード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HMACの検証子のみ保存。30分・5回で無効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顧客(利用世帯の代表者)。39列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external_source, external_id)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family_members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世帯構成員。アレルギーは専用の2列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customers への複合FK。未確認/なし/ありを区別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daily_reports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保育日報。本文は項目ごとの5列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 と customers 双方への複合FK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accident_reports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事故報告 / ヒヤリハット。本文11列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同上。report_type は CHECK で2値に限定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receipts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領収書。取消は行を消さず cancelled_at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金額は整数の円。cancellable_until を登録時に固定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attendance_days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勤怠(出勤簿)1日分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staff_id, business_date)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coupons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割引クーポンの種別マスタ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code)。廃止は active=false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customer_coupons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顧客へのクーポン配布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customer_id, coupon_id)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coupon_redemptions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日報1件への割引クーポン適用記録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daily_report_id, coupon_id)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468112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468112"/>
            <a:ext cx="68580" cy="9144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595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複合FKとは(次章で図解します)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15584"/>
            <a:ext cx="513892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外部キーを (tenant_id, customer_id) の2列セットにしたもの。そのIDが同じ法人の行かをデータベース側で検査するための工夫です。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5194808"/>
            <a:ext cx="5486400" cy="1187704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5194808"/>
            <a:ext cx="68580" cy="11877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528624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土台になる17枚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5542280"/>
            <a:ext cx="5138928" cy="76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提案書の差別化要因のうち、予約・請求・カルテ・訪問割当の最適化・移動手当(18枚)は次ページでスキーマだけ先に用意してあります。日報AIの3軸の9枚はその次のページで、この一覧の prompt_templates と合わせて既に実装まで進んでいます。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テーブル一覧② — 先行整備の18枚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カルテ・予約・決済・最適化・手当の18枚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 第1〜5章。実装・API・画面はこれから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7965"/>
                <a:gridCol w="1012655"/>
                <a:gridCol w="7226674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領域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役割と、鍵になる制約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customer_notes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カルテ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カルテ・申し送り・鍵の位置・ガレージ・引継ぎ・注意点を区分で持つ1枚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customer_note_photos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カルテ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上の子。写真は実体を持たず保存キーのみ。1枚10MBまでをCHECKで制限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service_menus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提供メニュー。RESERVA由来は external_source + external_id で突合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reservations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予約(約束)。日報(実施記録)とは別。end_at &gt; start_at をCHECK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reservation_assignments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予約へのスタッフ割当。主担当は1予約1人までを部分一意索引で保証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staff_availabilities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スタッフの稼働可能枠。曜日指定か特定日かの排他をCHECK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customer_payment_profiles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Stripeの顧客ID・支払方法ID・ブランド・下4桁。カード番号は持たない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invoices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請求書。total = subtotal − discount + tax をCHECKで強制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invoice_lines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明細。同じ領収書・同じクーポンが2行に載らないよう部分一意索引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payments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入金。状態の語はStripeのPaymentIntent statusに合わせ、対応表を持たない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stripe_webhook_events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Webhookの冪等化。UNIQUE(tenant_id, stripe_event_id)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trait_definitions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特性の項目マスタ。顧客用/スタッフ用を subject_kind で区別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customer_traits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顧客の特性値。型ごとに列を分け「ちょうど1つだけ非NULL」をCHECK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staff_traits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スタッフの特性値。同上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staff_customer_compatibilities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相性。スコア(1〜5)と「絶対に組ませない」を別の列にしている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staff_customer_travel_estimates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自宅・訪問先間の所要時間と距離。移動手段ごとに1行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transport_allowance_rules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C2410C"/>
                          </a:solidFill>
                          <a:latin typeface="Meiryo"/>
                          <a:cs typeface="Meiryo"/>
                          <a:ea typeface="Meiryo"/>
                        </a:rPr>
                        <a:t>手当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移動手段別の手当。距離比例/1移動定額/1日定額/実費の4通り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travel_legs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C2410C"/>
                          </a:solidFill>
                          <a:latin typeface="Meiryo"/>
                          <a:cs typeface="Meiryo"/>
                          <a:ea typeface="Meiryo"/>
                        </a:rPr>
                        <a:t>手当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移動1区間の実績。手段・距離・時間・運賃・手当額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61888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この18枚も既存17枚と同じ規約(tenant_id + RLS + 複合外部キー + CHECK + updated_at トリガー)に載せてあります。この5領域はスキーマまで。次ページの日報AIの3軸は実装まで進んでいます。先に作った理由と迷った判断は第4章(P27・P28)で扱います。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テーブル一覧③ — 稼働中: 日報AIの3軸(9枚)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年齢帯・教育関心度★・ストレス度PSIの表と、生成記録。生成まで接続済み。文面は一覧①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 第6章 / 区分値と値域は packages/shared/src/contracts/reportAi.ts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2999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7965"/>
                <a:gridCol w="1012655"/>
                <a:gridCol w="7226674"/>
              </a:tblGrid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区分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役割と、鍵になる制約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report_age_bands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子の年齢帯。月齢は半開区間 [from, to) でCHECK。帯どうしの重なり禁止は入口で担保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report_keywords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教育キーワードと使ってよい条件(月齢・★の範囲・ストレス度の下限)。廃止は active=false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report_age_band_keywords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年齢帯と相性の良い語の対応(多対多)。PK=(tenant_id, age_band_id, keyword_id)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report_phrases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温かみ表現(encourage)と全日報で避ける表現(avoid)。適用するストレス度の範囲を持つ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report_education_levels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基準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教育関心度★(1〜5)ごとの教育語の使い方。上限語数(0〜3)と専門語の可否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report_stress_levels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基準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ストレス度(1〜5)ごとの制限。★の引き下げ幅・教育語の可否・連絡要否の3列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customer_report_profiles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設定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家庭ごとの★。PK=(tenant_id, customer_id)。customers の列にはしない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report_ai_generations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記録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AI生成1回。モデル・使った版・★/ストレス度・入力・生の出力。updated_atを持たない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report_ai_generation_keywords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記録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その生成で提示した候補(candidate)とAIが実際に使った語(used)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22452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保護者向けの文面を組み替える3つの軸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98848"/>
            <a:ext cx="3661562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581144"/>
            <a:ext cx="336895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① 子の年齢帯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4846320"/>
            <a:ext cx="336895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生年月日と訪問日から月齢を都度計算し、report_age_bands の帯に当てる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066" y="4498848"/>
            <a:ext cx="3661562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1370" y="4581144"/>
            <a:ext cx="336895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② 家庭の教育関心度★(1〜5)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370" y="4846320"/>
            <a:ext cx="336895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高いほど教育語を使う。家庭ごとに管理者・担当者が付ける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4498848"/>
            <a:ext cx="3661562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9236" y="4581144"/>
            <a:ext cx="336895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③ 保護者のストレス度(1〜5)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9236" y="4846320"/>
            <a:ext cx="336895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低いほど負担が大きい。訪問ごとにスタッフが評価(daily_reports.stress_level)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41264"/>
            <a:ext cx="11277295" cy="79629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541264"/>
            <a:ext cx="68580" cy="79629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32703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ストレス度は★より優先する(制限を文面ではなく列で持つ)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88736"/>
            <a:ext cx="10929823" cy="375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負担の大きい家庭では教育語を止めてねぎらいに切り替えます。「★を何段下げるか」「教育語を使ってよいか」「管理者連絡を要するか」は report_stress_levels の3列に持たせ、コードが機械的に適用します(文面の一節として書くと、文面の編集で制限が外れるため)。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複数の法人をどう同居させるか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3つの方式の比較と、採用した方式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doc/proposal/tech-stack.md 第4章 / 実装は packages/db/src/schema/_rls.ts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3611880" cy="2697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611880" cy="4572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方式A 共有スキーマ + tenant_id 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19072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◆ この方式を採用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48256"/>
            <a:ext cx="32461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14223A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1つのデータベース・1組の表に全社のデータを入れ、各行に tenant_id 列でどの法人かを持たせる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表が1組なので、機能追加・設計変更が1回で全社に効く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法人が増えても運用の手間が増えない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取り違えれば混ざる。仕組みで防ぐ必要がある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188720"/>
            <a:ext cx="3611880" cy="2697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188720"/>
            <a:ext cx="361188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方式B 法人ごとにスキーマを分ける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1416" y="2048256"/>
            <a:ext cx="32461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14223A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同じデータベースの中に、法人ごとの区画(スキーマ)を作る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混ざりにくい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法人ごとに設計が分岐しやすく、変更を全区画に適用する手間が増える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法人数に比例して運用が重くなる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188720"/>
            <a:ext cx="3611880" cy="2697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188720"/>
            <a:ext cx="361188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方式C 法人ごとにデータベースを分ける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048256"/>
            <a:ext cx="32461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14223A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法人1社ごとに別のデータベースを立てる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分離は最も強い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費用と運用(バックアップ・移行・監視)が法人数だけ増える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数社規模では過剰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69080"/>
            <a:ext cx="5486400" cy="19202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69663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採用方式のイメージ(1組の表に全社が同居)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" y="4480560"/>
          <a:ext cx="5120640" cy="969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950720"/>
                <a:gridCol w="1706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name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phone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聖徳 太子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090-…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U社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織田 信長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080-…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金太郎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070-…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6245352" y="4069080"/>
            <a:ext cx="5486400" cy="19202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4069080"/>
            <a:ext cx="68580" cy="1920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416052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方式Aの弱点への対策(次の2ページ)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4416552"/>
            <a:ext cx="5138928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行が混ざりうるという方式Aの弱点に対して、二重の仕組みを入れています。① この法人の行しか返さない条件をデータベース側に設定する(RLS)  ② 紐付けを2列セットにして、同じ法人の行かをデータベース側で検査する(複合外部キー)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守り① データベース側で行を絞り込む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RLS(Row Level Security / 行レベルセキュリティ)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packages/db/src/schema/_rls.ts, tenantScope.ts / doc/db/overview.md 1.1節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アプリが「WHERE tenant_id = …」を書き忘れても、他社の行が返らないようにする仕組み。条件はデータベース側に登録しておく。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36192"/>
            <a:ext cx="182880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ブラウザ
(T社のスタッフ)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36192"/>
            <a:ext cx="2240280" cy="86868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API サーバー
withTenant(T社ID)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536192"/>
            <a:ext cx="265176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SET LOCAL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app.tenant_id = 'T社'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この接続の現在の法人を宣言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536192"/>
            <a:ext cx="3456432" cy="86868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PostgreSQL のポリシー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tenant_id = current_setting('app.tenant_id')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1965960"/>
            <a:ext cx="274320" cy="0"/>
          </a:xfrm>
          <a:prstGeom prst="line">
            <a:avLst/>
          </a:prstGeom>
          <a:ln w="2032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37760" y="1965960"/>
            <a:ext cx="274320" cy="0"/>
          </a:xfrm>
          <a:prstGeom prst="line">
            <a:avLst/>
          </a:prstGeom>
          <a:ln w="2032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955279" y="1965960"/>
            <a:ext cx="274321" cy="0"/>
          </a:xfrm>
          <a:prstGeom prst="line">
            <a:avLst/>
          </a:prstGeom>
          <a:ln w="2032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26974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 SELECT を投げても、返る行が変わる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53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SELECT * FROM customers;   ← 絞り込みを書いていない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264408"/>
          <a:ext cx="5486398" cy="1069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686"/>
                <a:gridCol w="1759788"/>
                <a:gridCol w="2587924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name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この接続から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聖徳 太子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見える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U社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織田 信長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見えない(存在しない扱い)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金太郎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見える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44165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設定を忘れた接続からは、どの行も見えない。書き込みも同じ条件で弾かれる。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2697480"/>
            <a:ext cx="548640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2697480"/>
            <a:ext cx="68580" cy="13258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80720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効いていることをCIで毎回検査している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108960"/>
            <a:ext cx="5111496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静的検査:全44テーブル分のSQLに ENABLE と FORCE、ポリシーの条件が揃っているかを機械的に検査。新しい表を足して書き忘れると落ちる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実DB検証:権限を落としたロールを作り、実際に他社の行が見えないことを確認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114800"/>
            <a:ext cx="5486400" cy="987552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4114800"/>
            <a:ext cx="68580" cy="9875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420624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FORCE を手で足している理由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4462272"/>
            <a:ext cx="51389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表の所有者はPostgreSQLの仕様上RLSを素通りします。FORCE ROW LEVEL SECURITY を付けると所有者にも適用されます。この1行はORMが生成しないため手で追記しています。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166360"/>
            <a:ext cx="11277295" cy="109728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66360"/>
            <a:ext cx="68580" cy="10972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ご確認いただきたいこと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13832"/>
            <a:ext cx="10929823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この方式で塞いだつもりなのは ① アプリのWHERE書き忘れ ② 表所有者による素通り(FORCE) ③ コネクションプールで設定が次のリクエストに残ること(トランザクション単位の SET LOCAL にしている)の3点です。PostgreSQLの仕様上、他に見落としている抜け道はないでしょうか。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守り② 紐付けを2列セットにする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外部キーの制約チェックはRLSを常に素通りする(PostgreSQLの仕様)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packages/db/src/schema/dailyReports.ts ほか / doc/db/overview.md 1.2節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RLSは SELECT / UPDATE / DELETE を絞り込むだけで、外部キーの参照チェックには効きません。単一列の外部キーだと、他社の行を指す値を書けてしまいます。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36192"/>
            <a:ext cx="5486400" cy="265176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9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対策前:単一列の外部キー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customer_id = 'x9…'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customers(U社)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id = 'x9…'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7520" y="2340864"/>
            <a:ext cx="411480" cy="0"/>
          </a:xfrm>
          <a:prstGeom prst="line">
            <a:avLst/>
          </a:prstGeom>
          <a:ln w="22860">
            <a:solidFill>
              <a:srgbClr val="B91C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2834640"/>
            <a:ext cx="457200" cy="384048"/>
          </a:xfrm>
          <a:prstGeom prst="roundRect">
            <a:avLst>
              <a:gd name="adj" fmla="val 14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5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1012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T社の作業中にU社の顧客IDを書き込んでも、参照先が実在するためデータベースは通してしまう。T社の日報がU社の顧客を指す行ができ、RLSで見えないため気づけない。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536192"/>
            <a:ext cx="5486400" cy="26517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609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対策後:(tenant_id, id) の2列セットで参照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73952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(tenant_id='T社',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 customer_id='x9…')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62872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customers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UNIQUE(tenant_id, id)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40864"/>
            <a:ext cx="411480" cy="0"/>
          </a:xfrm>
          <a:prstGeom prst="line">
            <a:avLst/>
          </a:prstGeom>
          <a:ln w="2286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577072" y="2834640"/>
            <a:ext cx="457200" cy="384048"/>
          </a:xfrm>
          <a:prstGeom prst="roundRect">
            <a:avLst>
              <a:gd name="adj" fmla="val 14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5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31012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T社かつそのIDという組み合わせが参照先に無ければ、データベースが書き込みを拒否する。アプリにバグがあっても、法人を跨いだ参照は作れない。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159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この形を適用した参照(全63本)</a:t>
            </a: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下は稼働中の17枚にあるもの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085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 → staff / customers / reservations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46085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accident_reports → staff / customers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0144" y="46085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receipts → staff / customers(顧客は空可)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657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attendance_days → staff(給与に直結するため特に重要)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33672" y="50657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family_members → customers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0144" y="50657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sessions / password_reset_codes → staff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07533"/>
            <a:ext cx="11277295" cy="974979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407533"/>
            <a:ext cx="68580" cy="974979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98973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補足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755005"/>
            <a:ext cx="10929823" cy="554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クーポンの2枚(customer_coupons / coupon_redemptions)も同じ形で customers・coupons・daily_reports を指しています。先行整備の18枚・稼働中の日報AI3軸の10枚も同じ規約に載せてあり、複合外部キーは全部で63本です。参照先には UNIQUE(tenant_id, id) を張ってあります。ON DELETE は全て no action(親を消せない)にしており、廃棄はテナント単位の物理削除で行う方針です。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データ保護の線引き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アプリ側で暗号化するのは資格情報だけ。業務データは平文列で持つ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1.3節 / packages/db/src/schema/appSettings.ts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161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アプリで暗号化する(3列だけ)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36192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app_settings.gemini_api_key</a:t>
            </a: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Gemini APIキー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gchat_report_webhook_url</a:t>
            </a: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通知先URL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gchat_receipt_webhook_url</a:t>
            </a: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通知先URL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理由:個人情報ではなく検索の対象外。一方でデータベースの中身が流出すると被害が外部サービスまで広がるため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14300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2161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平文で持つ(業務データすべて)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536192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顧客・世帯構成員・日報・事故報告・勤怠・領収書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理由① 検索・集計・全文検索をSQLでできるようにする(暗号文のままでは1語探すのに全件復号が必要)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理由② 日報を機械的に読む用途(傾向分析・要約)で、復号の配線を分析側まで広げたくない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理由③ 秘密保持契約が求めるのは「アクセス制限・通信と保存時の暗号化・パスワード管理」で、列単位の暗号化は要求されていない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業務データを守る4層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913632"/>
            <a:ext cx="68580" cy="1188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① 認証・権限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ログインとセッション、
管理者限定API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実装済み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0128" y="3913632"/>
            <a:ext cx="68580" cy="1188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② RLS + ロール分離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他社の行は見えない。
所有者ロールにもFORCE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実装済み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3056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3056" y="3913632"/>
            <a:ext cx="68580" cy="1188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③ 通信の暗号化(TLS)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ブラウザ〜API〜DBの
通信を暗号化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27648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本番配備時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15984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3913632"/>
            <a:ext cx="68580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④ 保存時の暗号化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Cloud SQLの既定機能。
バックアップも含む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0576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本番未配備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57800"/>
            <a:ext cx="11277295" cy="10058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257800"/>
            <a:ext cx="68580" cy="10058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平文化の前提(第3章 論点②)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05272"/>
            <a:ext cx="1092982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業務データを平文にした判断は、④の保存時暗号化が本番で実際に効くことを前提にしています。本番(Cloud Run + Cloud SQL)は未配備で、いま動いているのはローカル開発(Docker、保存時暗号化なし)と公開デモ(ブラウザ内DB、鍵は公開の固定値)だけです。この前提の置き方が妥当かをご判断いただきたいです。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資格情報の暗号化のしくみ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封筒暗号化(鍵を鍵で包む)/ 対象は app_settings の3列だけ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packages/core/src/ports/kms.ts, packages/integrations/src/local-crypto / doc/db/overview.md 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鍵を1本だけ使うと、その鍵が漏れたときに全社分が読めてしまう。そこで法人ごとに別の鍵を作り、その鍵をさらに上位の鍵で包んで保管する。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36192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KEK(鍵を包む鍵)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現状:環境変数に1本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本番想定:Cloud KMS(未実装)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536192"/>
            <a:ext cx="3291840" cy="91440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DEK(データを暗号化する鍵)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法人ごとにランダム生成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包まれた状態でのみDBに保存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36192"/>
            <a:ext cx="3593592" cy="91440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暗号文(app_settings 3列)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xxx_ciphertext と xxx_key_version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2列ペア。どの世代の鍵で暗号化したかを必ず記録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1993391"/>
            <a:ext cx="640080" cy="0"/>
          </a:xfrm>
          <a:prstGeom prst="line">
            <a:avLst/>
          </a:prstGeom>
          <a:ln w="22860">
            <a:solidFill>
              <a:srgbClr val="6D28D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37560" y="164591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包む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452360" y="1993391"/>
            <a:ext cx="640080" cy="0"/>
          </a:xfrm>
          <a:prstGeom prst="line">
            <a:avLst/>
          </a:prstGeom>
          <a:ln w="2286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60920" y="164591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暗号化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鍵の世代を並存させている(tenant_keys)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2990088"/>
          <a:ext cx="54864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97280"/>
                <a:gridCol w="14630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dek_version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wrapped_dek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使い方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(包まれた鍵)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古い暗号文の復号に使う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(包まれた鍵)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新しい暗号化は常に最新世代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388620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1法人1行だと、鍵を交換した時点で既存の暗号文が読めなくなる(交換が実質不可能)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解約時はこの行を無効化すれば、バックアップに残った暗号文も復号できなくなる(暗号学的削除)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697480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2697480"/>
            <a:ext cx="68580" cy="14630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0720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法人ごとに独立生成する理由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108960"/>
            <a:ext cx="5111496" cy="960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マスター鍵と法人IDから鍵を計算する方式にすると、マスター鍵が漏れれば全法人の鍵を再現できる。鍵を1本共有しているのと変わらない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そのため法人ごとにランダム生成した鍵を、包んだ状態で保存している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4297680"/>
            <a:ext cx="5486400" cy="79629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5352" y="4297680"/>
            <a:ext cx="68580" cy="79629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438912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本番のKEKは未実装(論点⑥)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4645152"/>
            <a:ext cx="5138928" cy="375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Cloud KMSへの差し替え口は用意してあるが、中身は環境変数のまま。鍵の物理分離とKMS側の監査という主要な利点は未実現。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257800"/>
            <a:ext cx="11277295" cy="10058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257800"/>
            <a:ext cx="68580" cy="10058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492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ご相談したいこと(論点⑥)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605272"/>
            <a:ext cx="1092982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代を並存させたので鍵の交換自体はできますが、既存データを新しい世代へ移す再暗号化バッチを作っていません。読めなくはならない代わりに、古い世代の鍵を捨てられない状態です。オンラインで少しずつ再暗号化するのと、停止時間を取って一括で流すのと、どちらが定石でしょう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トランザクションと Outbox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日報1本を保存するとき、何と何を同時に確定させているか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packages/core/src/usecases/reports.ts, ports/unitOfWork.ts / doc/db/overview.md 1.4節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737360" cy="6858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
(日報を保存)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115568"/>
            <a:ext cx="4846320" cy="13716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22860">
            <a:solidFill>
              <a:srgbClr val="0478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17043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1つのトランザクション(まとめて確定)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1426464"/>
            <a:ext cx="21488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 に1行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1938528"/>
            <a:ext cx="21488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outbox_jobs に1行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426464"/>
            <a:ext cx="2148840" cy="9692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COMMIT
両方 or どちらも無し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46320" y="1883664"/>
            <a:ext cx="137160" cy="0"/>
          </a:xfrm>
          <a:prstGeom prst="line">
            <a:avLst/>
          </a:prstGeom>
          <a:ln w="1905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240280" y="1508760"/>
            <a:ext cx="36576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35240" y="1115568"/>
            <a:ext cx="1920240" cy="59436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C2410C"/>
                </a:solidFill>
                <a:latin typeface="Meiryo"/>
                <a:cs typeface="Meiryo"/>
                <a:ea typeface="Meiryo"/>
              </a:rPr>
              <a:t>ミラーワーカー
(別プロセス)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29800" y="1115568"/>
            <a:ext cx="1901952" cy="5943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GAS ブリッジ →
スプレッドシート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60920" y="1417320"/>
            <a:ext cx="228600" cy="0"/>
          </a:xfrm>
          <a:prstGeom prst="line">
            <a:avLst/>
          </a:prstGeom>
          <a:ln w="19050">
            <a:solidFill>
              <a:srgbClr val="C2410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01200" y="1417320"/>
            <a:ext cx="182880" cy="0"/>
          </a:xfrm>
          <a:prstGeom prst="line">
            <a:avLst/>
          </a:prstGeom>
          <a:ln w="19050">
            <a:solidFill>
              <a:srgbClr val="C2410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35240" y="178308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outbox_jobs から未処理の行を取り出して送る。失敗しても捨てず、5秒から倍々(上限1時間)で再試行し、8回で失敗扱いにして運用が気づけるようにする。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69748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outbox_jobs(送信待ち行列)の状態遷移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pending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送信待ち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51760" y="3282696"/>
            <a:ext cx="41148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10896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processing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送信中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03520" y="3282696"/>
            <a:ext cx="41148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76072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done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送信完了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55279" y="3282696"/>
            <a:ext cx="411481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1248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B91C1C"/>
                </a:solidFill>
                <a:latin typeface="Consolas"/>
                <a:cs typeface="Consolas"/>
                <a:ea typeface="Consolas"/>
              </a:rPr>
              <a:t>failed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8回失敗(要手動対応)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1554480" y="3611880"/>
            <a:ext cx="2103120" cy="0"/>
          </a:xfrm>
          <a:prstGeom prst="bentConnector3">
            <a:avLst/>
          </a:prstGeom>
          <a:ln w="19050">
            <a:solidFill>
              <a:srgbClr val="B4530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645920" y="3657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失敗 → 待ち時間を延ばして pending に戻す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6576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処理中のまま5分放置された行は、
再び取り出し対象になる(ワーカー異常終了の回収)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224528"/>
            <a:ext cx="54864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224528"/>
            <a:ext cx="68580" cy="10972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" y="4334256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同一トランザクションにしている2種類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" y="4636008"/>
            <a:ext cx="5111496" cy="5943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 / 事故報告 / 勤怠 / 領収書の保存 + 送信待ち行列への積み込み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パスワード再設定コードの使用済み化 + 新しいパスワードの書き込み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5352" y="4224528"/>
            <a:ext cx="5486400" cy="109728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5352" y="4224528"/>
            <a:ext cx="68580" cy="10972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431596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テストで固定していること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572000"/>
            <a:ext cx="513892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送信待ち行列への書き込みだけを失敗させたとき、日報の行が残らないことを検証しています(片方だけ成立する状態を作らない、という設計意図が壊れたら落ちる)。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94960"/>
            <a:ext cx="11277295" cy="91440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94960"/>
            <a:ext cx="68580" cy="9144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48640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Outbox にする理由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42432"/>
            <a:ext cx="1092982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送信をその場で行うと、送信が失敗したときに日報の保存まで巻き戻すか、送信を諦めるかの二択になります。いったん送信予定としてデータベースに書いておけば、保存は完了させたうえで、送信は後から再試行でき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44テーブルで守っている共通ルール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表ごとに判断がぶれないよう、形を決めてある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/ packages/db/src/schema/*.ts のコメントに理由を記載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5214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16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主キーは必ず uuid のランダム値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連番にしない。件数が外から推測できず、採番の集中点も作らない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2938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2938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99339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日時は必ず timestamptz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24027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タイムゾーン付き。業務上の「日」だけ date(勤怠の business_date)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0662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0662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706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派生値は保存しない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01752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残業時間・移動距離などは入力値から毎回計算する。二重管理を作らない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83863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483863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4787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削除しない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79475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顧客の退会は deactivated_at を立てるだけ。物理削除の経路を持たない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6110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6110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32511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updated_at はDBのトリガーが更新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57200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アプリのコードでは書かない。書き忘れを構造的に起こせなくする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5352" y="115214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45352" y="1152144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1216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参照はすべて2列セットの外部キー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1463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(tenant_id, xxx_id) → (tenant_id, id)。法人跨ぎを構造的に防ぐ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192938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1929384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199339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索引・一意制約は tenant_id を先頭に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224027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staff(tenant_id, email) / customers(tenant_id, family_name)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5352" y="270662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5352" y="2706624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27706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外部システム由来の値は隔離する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01752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external_source + external_id にまとめ、その組で一意にする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5352" y="3483863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45352" y="3483863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354787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区分値はDBのCHECK制約で縛る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79475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許可値の配列は contracts/ の1か所に置き、そこからDDLを組み立てる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120640"/>
            <a:ext cx="5486400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120640"/>
            <a:ext cx="68580" cy="1188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21207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規約による効果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468112"/>
            <a:ext cx="513892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新しい表を足すときに考えることが少ない(同じ形をコピーすればよい)。RLSとupdated_atトリガーの張り忘れはCIが機械的に検出する。第4章の18枚・日報AIの10枚も、この形にそのまま載せてあります。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5352" y="5120640"/>
            <a:ext cx="5486400" cy="11887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45352" y="5120640"/>
            <a:ext cx="68580" cy="1188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521207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規約の副作用(第3章)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28232" y="5468112"/>
            <a:ext cx="513892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「派生値を保存しない」は二重管理を防ぐ一方、月次集計を毎回全件計算することになります。「削除しない」は事故を防ぐ一方、廃棄の手順を別に整備しないと契約上の返還・削除義務を果たせません。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3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設計上の問題点(自己申告)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気づいている弱点を6件挙げます。それぞれについてご意見をいただきたいです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問題① customers が39列に肥大化している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外部CSVの全項目を1枚の表で受けた結果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packages/db/src/schema/customers.ts / doc/db/overview.md 4.1節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外部予約システム(RESERVA)の顧客CSVを1項目も落とさず取り込む方針にしたため、CSVの列がほぼそのまま列になっている。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現状:1枚に9カテゴリが同居している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4864" cy="34747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739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識別子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2032" y="17739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4列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18013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id / tenant_id / 取込元 / 取込元ID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0312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03120"/>
            <a:ext cx="54864" cy="34747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13969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氏名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" y="2139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5列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216712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表示名 / 姓 / 名 / かな2種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46887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468879"/>
            <a:ext cx="54864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50545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連絡先・住所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2032" y="25054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7列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253288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メール / 電話 / 市区 / 住所 / 駐車場2種 / 第2住所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3463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834639"/>
            <a:ext cx="54864" cy="347472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287121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第三者情報・自由記述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2032" y="28712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4列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289864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緊急連絡先 / 続柄 / 避難場所 / メモ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20039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200399"/>
            <a:ext cx="54864" cy="347472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323697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位置情報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42032" y="323697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326440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緯度 / 経度 / 取込元の生表記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56615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566159"/>
            <a:ext cx="54864" cy="347472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" y="360273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他システムの会員証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2032" y="360273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80" y="363016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Benefit会員ID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393192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3931920"/>
            <a:ext cx="5486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" y="396849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運用区分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42032" y="39684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6列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39959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会員種別 / 状態 / 支払方法 / 支払状況 / 性別 / 年代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29768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4297680"/>
            <a:ext cx="5486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" y="433425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生年月日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42032" y="43342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2列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43616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日付型 / 元表記(誕生月クーポン用・手入力)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66344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4663440"/>
            <a:ext cx="54864" cy="34747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4" y="470001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日時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42032" y="47000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7列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54680" y="472744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登録日 / 外部更新日 / 第2住所の期間2列 / 退会日 / 作成・更新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029200"/>
            <a:ext cx="5394960" cy="329184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合計 39列(1テーブル)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45352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分けるとしたらこうなる(案)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45352" y="171907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175564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customers(コア)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19842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識別子・氏名・状態など、必ず要る12列前後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45352" y="235915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239572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customer_contacts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26243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連絡先・住所・駐車場。第2住所は期間付きの別行にできる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45352" y="299923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Consolas"/>
                <a:cs typeface="Consolas"/>
                <a:ea typeface="Consolas"/>
              </a:rPr>
              <a:t>customer_emergency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3264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緊急連絡先・続柄・避難場所(第三者の個人情報)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45352" y="363931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367588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customer_external_refs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390448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取込元ID・Benefit会員ID など他システムの識別子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45352" y="4334256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45352" y="4334256"/>
            <a:ext cx="68580" cy="1234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4443984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分けた場合の負担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4745736"/>
            <a:ext cx="511149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顧客1件を表示するだけでJOIN(表の結合)が増え、コードもクエリも長くなる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CSVの1行=1テーブルの1行という素直な対応が崩れ、取込処理が複雑になる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分ける単位を間違えると、後から直すコストは今より高くなる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5569204"/>
            <a:ext cx="11277295" cy="813307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7200" y="5569204"/>
            <a:ext cx="68580" cy="813307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" y="5660644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ご相談したいこと(相談①)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5916676"/>
            <a:ext cx="1092982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39列は多すぎるので分けるべきか、顧客マスタなら39列は普通で分けるほうが害か。判断の基準(何列を超えたら、どういう単位で分けるか)をご教示ください。運用前なので、分けるなら今が最も安く直せ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問題② 業務データを平文にした代償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検索性とAI活用を取り、保存時の保護を本番基盤に委ねた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1.3節・3.4節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548640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8580" cy="16916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5272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得たもの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54480"/>
            <a:ext cx="5111496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SQLで直接検索・集計・匿名化できる(報告書作成や統計化が実装しやすい)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日報テキストをAIで扱える。復号の配線を分析側まで広げなくてよい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領収書の重複検出が単純な文字列一致で済むようになった(HMACの別鍵を廃止)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143000"/>
            <a:ext cx="548640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143000"/>
            <a:ext cx="68580" cy="1691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25272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引き受けたもの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554480"/>
            <a:ext cx="5111496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データベースに直接届く経路があれば、業務データはそのまま読める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「誰がどのデータを見たか」の記録が資格情報の復号時にしか残らない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保存時の暗号化は本番の基盤(Cloud SQL)に依存。その本番がまだ無い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データに到達する3つの経路と、それぞれの守り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10128"/>
            <a:ext cx="36393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310128"/>
            <a:ext cx="3639312" cy="3657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0128"/>
            <a:ext cx="3639312" cy="3657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経路A アプリ経由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749039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 → 権限チェック → RLS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005072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守り:守れている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261104"/>
            <a:ext cx="3310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記録も残る(認証・権限イベントは「誰が・誰を」まで)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3310128"/>
            <a:ext cx="36393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3310128"/>
            <a:ext cx="3639312" cy="365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0248" y="3310128"/>
            <a:ext cx="3639312" cy="365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経路B データベースに直接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749039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psql や管理ツールからの接続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005072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守り:IAM・ロール分離のみ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261104"/>
            <a:ext cx="3310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平文なので中身は読める。DB側の監査(pgaudit等)は未導入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83296" y="3310128"/>
            <a:ext cx="36393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3296" y="3310128"/>
            <a:ext cx="3639312" cy="36576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310128"/>
            <a:ext cx="3639312" cy="36576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経路C バックアップ・ダンプ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3749039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流出した場合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005072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守り:保存時暗号化のみ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261104"/>
            <a:ext cx="3310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その保存時暗号化が本番未配備。資格情報だけは暗号文のまま守られる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98348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現在動いている3つの環境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57200" y="5257800"/>
          <a:ext cx="11277293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778"/>
                <a:gridCol w="3363403"/>
                <a:gridCol w="4946182"/>
                <a:gridCol w="138493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環境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保存時の暗号化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状態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ローカル開発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Docker の PostgreSQL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なし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稼働中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公開デモ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ブラウザ内(PGlite)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なし。鍵は公開の固定値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稼働中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Cloud Run + Cloud SQL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Cloud SQL の既定機能で満たす想定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未配備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問題③ 予約の二重取りをDBで止められていない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同じスタッフに時間の重なる予約を2件入れられる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packages/db/src/schema/reservations.ts / doc/db/new-domains.md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同じスタッフで時間帯が重なる予約は1件まで、という制約は、本来 PostgreSQL の除外制約(EXCLUDE)で守れる。それが使えていない。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本来書きたかった制約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19072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5166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EXCLUDE USING gist (
  tenant_id WITH =, staff_id WITH =,
  tstzrange(start_at, end_at) WITH &amp;&amp;)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0662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同じ法人・同じスタッフで時間の範囲が重なる行の禁止を、1行で表せる。アプリが同時に呼ばれても破れない。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使えない理由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93008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EXCLUDE には btree_gist 拡張が要る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。公開デモとテストで使っているブラウザ内PostgreSQL(PGlite)には、この拡張が存在しない(実機で確認済み)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本番だけで有効にすると、テストが通っているのに本番だけ制約があるという、環境で形が違う状態になる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5352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考えられる4案(どれを採るべきかご相談したい)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737360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01368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A 本番だけ EXCLUDE を張る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48255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制約としては確実。ただしテスト環境と本番でスキーマが分岐する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596896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60903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B アプリ側で直列化して確認する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07791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予約作成時にスタッフ行をロックして重なりを検査。実装の書き忘れがバグになる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456432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520439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C 時間枠を固定スロットにする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67328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開始時刻を30分刻みに丸め、(staff_id, slot) を一意にする。自由な時間帯が表せなくなる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4315968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379976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D 重なりを許し、運用で気づかせる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26864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検知クエリを定期実行して警告する。事故は起きうる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5157216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現状は制約を張らず、予約の作成処理が重なりを検査する前提にしてあります(その処理もまだ実装していません)。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36592"/>
            <a:ext cx="5486400" cy="8229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736592"/>
            <a:ext cx="6858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同種の制約が他にもある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5138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同じ顧客に同時刻の予約を2件入れない、なども範囲の重なりで表す種類の制約です。1つ方針を決めれば、まとめて同じやり方に揃えられます。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87568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687568"/>
            <a:ext cx="68580" cy="6261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77900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ご相談したいこと(相談③)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35040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A〜Dのどれを採るべきでしょうか。テスト環境と本番でスキーマが違うことを許容してでも、DB側で守るべき種類の制約でしょうか。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問題④ 勤怠だけJSONを1列に入れている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キーと型は直したが、明細テーブルへの分解はまだ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packages/db/src/schema/attendanceDays.ts / doc/db/guidelines.md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日報・事故報告は項目ごとの列に分けたが、勤怠は1日分をJSONのまま1列(row_data)に入れている。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いまの形 attendance_days.row_data(jsonb)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19072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51663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{ "visits": [
    { "place": "○○邸", "startTime": "9:00",
      "endTime": "12:00", "distanceKm": 12.4 }, … ],
  "officeWork": [ … ]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82112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キーは意味のある名前にしてある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。以前はスプレッドシートの列記号(C / D / AG …)だった。何を指す値かがデータベースから読めるようになり、訪問件数の上限も外れた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時刻・距離も型のある値にしてある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。形は contracts/attendance.ts のスキーマが正で、保存前にアプリ境界で検証する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jsonb 1列のままなのは、1日分をまるごと読み書きする用途しかないため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それでも残っている弱点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73736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型のチェックがデータベース側で効かない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2082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JSONの中身は jsonb_typeof='object' しか見ていない。数値のはずの場所に文字列が入ってもDBは受け入れる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251460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560320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集計がしにくい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9806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「残業が多い月」「訪問距離の合計」を出すには、全行のJSONを読んで計算する必要がある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29184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337560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社労士・監査への説明がしづらい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7530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列の一覧がスキーマに現れないため、何を保存しているかをデータベースの定義だけでは示せない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4078224"/>
            <a:ext cx="5486400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5352" y="4078224"/>
            <a:ext cx="68580" cy="89611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4187952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分解する場合の行き先(設計済み・未実施)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489704"/>
            <a:ext cx="5111496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attendance_segments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(訪問・事務作業の1区間 = 1行)に分け、日次の値だけ attendance_days に数値列として残す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10912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010912"/>
            <a:ext cx="68580" cy="62611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102352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いま分解していない理由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給与計算はGAS版と1円もずれてはいけないため、実際の出勤簿での照合が済むまで保存形式を動かしません。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87568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687568"/>
            <a:ext cx="68580" cy="6261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77900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ご相談したいこと(相談④)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035040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照合の前に分解すべきでしょうか。1日分をまるごと扱う使い方でも明細テーブルに分けるべきでしょうか。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問題⑤ 小さな設計負債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気づいているが、まだ手を付けていないもの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3.4節 / doc/db/new-domains.md 第7章 / README「実装状況」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70432"/>
          <a:ext cx="11277293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548"/>
                <a:gridCol w="3222084"/>
                <a:gridCol w="4971215"/>
                <a:gridCol w="690446"/>
              </a:tblGrid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現状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何が困るか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重さ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ON DELETE がすべて no action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親(顧客・スタッフ)を消せない。廃棄はテナント単位の物理削除で行う方針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契約上の返還・廃棄義務(秘密保持契約 第7条)に対する具体的な手順とバックアップ保持期間が未整備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索引の効き方を実機で確認していない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主要な検索経路に複合索引を張っているが、EXPLAIN で Seq Scan → Index Scan を確認できていない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本番相当のPostgreSQLもDockerも用意できておらず、索引が実際に使われているかは机上の判断のまま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実PostgreSQLに対する検証が薄い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リポジトリ層のテストはブラウザ内DB(PGlite)で行っている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本番ドライバ(postgres-js)固有の挙動差、コネクションプールと SET LOCAL の組み合わせを実環境で確認していない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使うクエリが決まる前に索引を張った表がある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予約・請求・最適化の索引は、想定した検索経路から起こしている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画面もAPIもまだ無いため、過剰な索引・足りない索引のどちらもありうる。書き込みの負担だけが先に増える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派生値を持たない方針の裏返し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残業時間・月次集計などを毎回全件計算している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件数が増えたときの性能を実運用の量で確認していない。負荷試験・障害注入は未実施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tenants だけRLSの対象外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ログイン前に法人を特定する必要があるため、この表だけ絞り込みを外している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アプリのロールが全法人の一覧を読める。法人名は個人情報ではないが、顧客リストの規模感は推測できてしまう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低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486400"/>
            <a:ext cx="11277295" cy="830326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68580" cy="83032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ご相談したいこと(相談⑤)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33872"/>
            <a:ext cx="10929823" cy="409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この6件の優先順位付けが妥当かをご確認いただきたいです。ON DELETE と廃棄手順を最優先に置いていますが、運用開始前に整備すべきものと、動かしながら直せるものの線引きをご教示ください。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問題⑥ 鍵管理と監査が本番相当でない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形はできているが、中身が開発用のまま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3.4節 / packages/core/src/ports/kms.ts, audit.ts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鍵の置き場所:現状と本番想定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06040" cy="105156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現状
環境変数に KEK 1本
(.env ファイル)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17320"/>
            <a:ext cx="2606040" cy="105156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本番想定
Cloud KMS
(差し替え口のみ用意)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1938528"/>
            <a:ext cx="182880" cy="0"/>
          </a:xfrm>
          <a:prstGeom prst="line">
            <a:avLst/>
          </a:prstGeom>
          <a:ln w="20320">
            <a:solidFill>
              <a:srgbClr val="64748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2578608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鍵の物理分離とKMS側の監査という、封筒暗号化の主要な利点が未実現</a:t>
            </a:r>
          </a:p>
          <a:p>
            <a:pPr marL="182880" indent="-182880">
              <a:lnSpc>
                <a:spcPct val="132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再暗号化バッチが無いため、古い世代の鍵を捨てられない(対象は資格情報3列のみ)</a:t>
            </a:r>
          </a:p>
          <a:p>
            <a:pPr marL="182880" indent="-182880">
              <a:lnSpc>
                <a:spcPct val="132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差し替えは実装1か所の置き換えで済む設計にはしてある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1155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監査ログ:何が残り、何が残らないか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45352" y="141732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操作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記録される内容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ログイン成否・パスワード変更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誰が・誰を まで記録(構造化ログ)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管理者によるスタッフ操作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誰が・誰を まで記録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資格情報の復号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どの法人のものを、いつ(「誰が」は無い)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業務データの参照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残らない(平文なので復号を通らない)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45352" y="329184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業務データを平文にした結果、「誰がどの顧客を見たか」を追う手段が無くなった</a:t>
            </a:r>
          </a:p>
          <a:p>
            <a:pPr marL="182880" indent="-182880">
              <a:lnSpc>
                <a:spcPct val="132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有力な手段はデータベース側の監査機能(pgaudit 等)。未導入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11277295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68580" cy="914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将来の展開を見据えた懸念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62272"/>
            <a:ext cx="1092982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提案書では訪問看護事業者への展開を想定しています(doc/proposal/tech-stack.md 第7章)。医療系の記録を扱うなら、「誰がどの記録を参照したか」の記録と保存年限の管理が要件になる可能性が高いです。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77295" cy="109728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6858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ご相談したいこと(相談⑥)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513832"/>
            <a:ext cx="10929823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① データベース側の監査(pgaudit 等)を入れるべき時期と粒度。全参照を記録すると量が膨大になるため、どこで線を引くのが実務的でしょうか。 ② Cloud KMS を入れる前に本番データを溜め始めてよいか(後から移せるが、その間の鍵は環境変数のまま)。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4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先行して用意したスキーマと、相談事項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実装より先にDBの形だけ固めた5領域。そこで迷った判断と、相談事項のまとめ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実装より先に、DBの形だけ固めた5領域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18テーブル。リポジトリ実装・API・画面はまだ無い(日報AIの3軸は実装済みでここには含めない)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あとから足すと既存データの移行が伴うため、運用前のいまのうちに表と制約だけ作ってあります。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2138415" cy="384048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顧客カルテ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1920240"/>
            <a:ext cx="193724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BE185D"/>
                </a:solidFill>
                <a:latin typeface="Consolas"/>
                <a:cs typeface="Consolas"/>
                <a:ea typeface="Consolas"/>
              </a:rPr>
              <a:t>customer_notes
customer_note_photos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269490"/>
            <a:ext cx="1937247" cy="2805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BE185D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カルテ・申し送り・鍵の位置・ガレージ場所・引継ぎ事項・注意点を区分で1枚に持つ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E185D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写真は子テーブル。実体は持たず保存キーのみ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E185D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customers の列にしないのは、上書きだといつ誰が入れた情報かが残らないため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191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1919" y="1481328"/>
            <a:ext cx="2138415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予約(RESERVA移植)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2503" y="1920240"/>
            <a:ext cx="1937247" cy="552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service_menus
reservations
reservation_assignments
staff_availabilities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503" y="2527300"/>
            <a:ext cx="1937247" cy="25476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予約(約束)と日報(実施記録)は別の表。片方だけ存在する状態が正常にあり得るため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369A1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主担当は1予約1人までを部分一意索引で保証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369A1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二重取りの防止だけはDBで守れていない(第3章③)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663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6639" y="1481328"/>
            <a:ext cx="2138415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請求・決済(Stripe)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7223" y="1920240"/>
            <a:ext cx="1937247" cy="6811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customer_payment_profiles
invoices
invoice_lines
payments
stripe_webhook_events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7223" y="2656205"/>
            <a:ext cx="1937247" cy="241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47857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カード番号は受け取らず保存しない。Stripeの識別子とブランド・下4桁だけ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total = subtotal − discount + tax をCHECKで強制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Webhookは (tenant_id, event_id) の一意制約で冪等化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135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1359" y="1481328"/>
            <a:ext cx="2138415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訪問割当の最適化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1943" y="1920240"/>
            <a:ext cx="1937247" cy="6811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trait_definitions
customer_traits
staff_traits
staff_customer_compatibilities
staff_customer_travel_estimates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1943" y="2656205"/>
            <a:ext cx="1937247" cy="241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6D28D9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何を見て最適化するかが未確定のため、特性の項目そのものをデータにしてある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6D28D9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値はjsonbの塊にせず型ごとに列を分け、「ちょうど1つだけ非NULL」をCHECKで縛る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6D28D9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相性は「スコア」と「絶対に組ませない」を別の列に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9607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96079" y="1481328"/>
            <a:ext cx="2138415" cy="3840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移動手段と手当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6663" y="1920240"/>
            <a:ext cx="193724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C2410C"/>
                </a:solidFill>
                <a:latin typeface="Consolas"/>
                <a:cs typeface="Consolas"/>
                <a:ea typeface="Consolas"/>
              </a:rPr>
              <a:t>transport_allowance_rules
travel_legs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6663" y="2269490"/>
            <a:ext cx="1937247" cy="2805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C2410C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自動車・公共交通機関・自転車・徒歩を選べる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C2410C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手段ごとに計算方法(距離比例/1移動定額/1日定額/実費精算)と単価を持つ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C2410C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金額への換算ロジックはGAS版にも無く、新規追加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85232"/>
            <a:ext cx="5486400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285232"/>
            <a:ext cx="68580" cy="10241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3949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既存17枚と同じ規約に載せてある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696712"/>
            <a:ext cx="5111496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tenant_id + RLS(FORCE)・(tenant_id, 参照先ID) の複合外部キー・金額は円の整数・updated_at はトリガー。張り忘れはCIが機械的に検出する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5285232"/>
            <a:ext cx="5486400" cy="102412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5285232"/>
            <a:ext cx="68580" cy="10241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537667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ご相談したいこと(相談⑦)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5632704"/>
            <a:ext cx="51389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実装より先にスキーマを置いたこの進め方は妥当でしょうか。要件が固まる前に作った表は、結局作り直しになるものでしょうか。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追加した5領域で迷った判断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いずれも決め手がないまま選んで実装しています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 各章「レビューで確認いただきたい点」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3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8254"/>
                <a:gridCol w="1006084"/>
                <a:gridCol w="4207263"/>
                <a:gridCol w="3045692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選んだ判断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領域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そうした理由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ご意見をいただきたい点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特性を項目マスタ+値テーブル(EAV)にした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訪問最適化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何を見て最適化するかが今後のヒアリングで決まるため、項目自体をデータにした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項目が固まった後もこの形を維持すべきか、列に移すべきか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請求書を void して作り直せるようにした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請求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明細に superseded_at を足し、部分一意索引の条件に含めた(1つの領収書は「有効な」明細1つにしか載らない)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無効化を別テーブルに分ける・請求書ごと複製する等の定石があるか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状態の語をStripeにそのまま合わせた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PaymentIntent の7状態・Invoice の5状態をそのまま持ち、自前の対応表を作らない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外部サービスの語彙を自分のDBに持ち込むことの是非(乗り換え時の影響)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写真の並び順に一意制約を張らなかった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カルテ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一意制約は行ごとに即時判定され、2枚の順番を入れ替えるUPDATEが必ず衝突するため。並びは ORDER BY sort_order, id で決めている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遅延評価(DEFERRABLE)を使うべきか、この割り切りでよいか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1日あたり定額の手当を、移動1区間の表で扱う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C2410C"/>
                          </a:solidFill>
                          <a:latin typeface="Meiryo"/>
                          <a:cs typeface="Meiryo"/>
                          <a:ea typeface="Meiryo"/>
                        </a:rPr>
                        <a:t>手当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手当の計算方法に「1日あたり定額」があるが、実績は移動1区間ごとに記録している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日次の粒度を別に持つべきか、集計時に日でまとめれば足りるか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取込元キーの対をCHECKで縛った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部分一意索引はNULL同士を別物として扱い、取込元が空の行は重複を防げないため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同じ形の customers の索引にも同じCHECKを足すべきか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04688"/>
            <a:ext cx="11277295" cy="73152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04688"/>
            <a:ext cx="68580" cy="7315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9612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ご相談したいこと(相談⑧)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59"/>
            <a:ext cx="1092982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この6件について、より一般的な作り方があればご教示ください。とくにEAVは項目が決まっていないことを理由に選んでおり、後戻りしにくい選択です。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ご相談したいこと(まとめ)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優先度順。特に伺いたいのは ①②③⑨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第5章「レビュー観点」/ doc/db/new-domains.md 第7章 に対応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52144"/>
          <a:ext cx="11277292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583"/>
                <a:gridCol w="3575727"/>
                <a:gridCol w="687639"/>
                <a:gridCol w="6601343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論点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頁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何を判断いただきたいか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customers 39列を分けるべきか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顧客マスタとして何列までが常識的か、分ける単位の基準。運用前の今が最も安く直せる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業務データ平文化の前提が妥当か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15・21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「保存時暗号化は本番基盤に任せる」という前提の置き方。本番未配備のまま進めてよいか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範囲の重なりをどこで止めるか(予約・単価・年齢帯)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22・11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EXCLUDE制約が使えない(テスト環境に拡張が無い)ため3箇所とも入口(usecase)で担保している。本番だけ張る / アプリで直列化 / 固定スロット / 運用で検知、のどれを採るべきか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勤怠のJSONをいつ分解するか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23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給与直結。実データ照合の前に分解すべきか、照合の基準を動かさないため後にすべきか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⑤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廃棄・返還の手順と、その他の負債の優先順位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ON DELETE と物理削除手順、バックアップ保持期間。運用前に必須のものはどれか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⑥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監査と鍵管理を本番相当にする時期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25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pgaudit等を入れる時期と粒度。Cloud KMS 前に本番データを溜め始めてよいか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実装より先にスキーマを置く進め方の是非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要件が固まる前に作った18テーブルは、結局作り直しになるか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⑧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追加5領域で迷った6つの判断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28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EAV・請求書のvoid・Stripeの語彙・並び順・手当の粒度・取込元キー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見落としているPostgreSQLの落とし穴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13・14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複合外部キー + RLS の二重防御で塞いだつもりだが、他に仕様上の抜け道はないか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32120"/>
            <a:ext cx="11277295" cy="830326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68580" cy="830326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23559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指摘をいただきたい点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79592"/>
            <a:ext cx="10929823" cy="409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⑨のように自分では気づきようがない落とし穴が、他にもあるかどうかを知りたいです。①〜⑧は選択肢が見えている判断ですが、⑨は見えていないものをご指摘いただく必要があります。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付録 — 一次情報の在り処と、用語の対応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この資料は要約なので、判断に必要な詳細はこちらを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548640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68580" cy="23774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コード(こちらが正)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5111496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packages/db/src/schema/*.ts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44テーブルの定義。列ごとに設計の理由をコメントで書いてある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packages/db/drizzle/0000_baseline_schema.sql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適用されるDDL。RLSの FORCE と updated_at トリガーはここに手で追記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packages/shared/src/contracts/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区分値(CHECK制約の許可値)の定義。DDLはここから組み立てる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packages/core/src/ports/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業務ロジックが外部に求める窓口の定義(33本)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170432"/>
            <a:ext cx="548640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170432"/>
            <a:ext cx="68580" cy="2377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ドキュメント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581912"/>
            <a:ext cx="5111496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doc/db/overview.md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本資料の詳細版。設計方針・暗号化の構成・レビュー観点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doc/db/reference.md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ER図と全44テーブルの全列一覧。スキーマから自動生成(pnpm db:docs)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doc/db/new-domains.md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先行整備5領域(18テーブル)・日報AI3軸(10テーブル)の設計理由と、未決の論点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doc/db/guidelines.md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DBを触るときの決めごとと、実際に踏んだ落とし穴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doc/slides/architecture.pptx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本資料の対になるアプリ構成の説明資料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0332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この資料で使った言い換えの対応表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977639"/>
          <a:ext cx="11277293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930"/>
                <a:gridCol w="3300671"/>
                <a:gridCol w="504269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この資料での言い方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正式な用語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実装上の名前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法人 / 会社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テナント(tenant)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tenants テーブル / tenant_id 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紐付けを2列セットにする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複合外部キー(composite foreign key)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foreignKey({ columns: [tenantId, xxxId] })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データベース側で行を絞り込む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行レベルセキュリティ(RLS)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pgPolicy('tenant_isolation') / FORCE ROW LEVEL SECURITY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まとめて確定させる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トランザクション / UnitOfWork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UnitOfWorkPort / withTenant()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送信待ち行列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Outbox パターン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outbox_jobs テーブル / MirrorPort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鍵を鍵で包む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封筒暗号化(envelope encryption)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tenant_keys.wrapped_dek / KeyManagementPort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入ってよい値を縛る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 制約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check('xxx_check', sql`...`) / contracts の zod enum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本資料の図はすべてPowerPointの図形で作ってあるため、コメントの書き込み・修正がそのままできます。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