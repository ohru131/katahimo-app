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34テーブル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図を中心にし、正確な定義はコードとdoc/db/overview.mdに委ねる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資料の構成(全29ページ)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34テーブルの全体像と、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P6–17</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39列の肥大化ほか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P18–24</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P25–29</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「この用語の使い方が違う」という指摘も歓迎です。設計の詳細は doc/db/overview.md、ER図と全列一覧は doc/db/reference.md(自動生成)にあります。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Excelの1シートに相当。このシステムには34枚ある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統合したベースライン 0000 に、0001 以降を積み増していく</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34テーブルの全体像と、テナント分離・データ保護・トランザクションの考え方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この①〜④の外側に、まだ実装の無い5領域がある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予約 / 請求・決済 / 顧客カルテ / 訪問割当の最適化 / 移動手段別の手当。表と制約だけ先に用意してあり、この資料の第4章で扱う</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34テーブル</a:t>
            </a:r>
            <a:r>
              <a:rPr sz="1250" b="0" i="0">
                <a:solidFill>
                  <a:srgbClr val="64748B"/>
                </a:solidFill>
                <a:latin typeface="Meiryo"/>
                <a:cs typeface="Meiryo"/>
                <a:ea typeface="Meiryo"/>
              </a:rPr>
              <a:t>   業務ドメインごとに10のまとまり。tenants以外の33枚はすべて同じ形を守る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ドメイン別のER図は doc/db/reference.md 第1章(自動生成)</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24128"/>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24128"/>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24128"/>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24128"/>
            <a:ext cx="2692590"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doc/db/reference.md のER図</a:t>
            </a:r>
          </a:p>
        </p:txBody>
      </p:sp>
      <p:sp>
        <p:nvSpPr>
          <p:cNvPr id="11" name="TextBox 10"/>
          <p:cNvSpPr txBox="1"/>
          <p:nvPr/>
        </p:nvSpPr>
        <p:spPr>
          <a:xfrm>
            <a:off x="457200" y="1371600"/>
            <a:ext cx="54864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アプリが読み書きしている16枚</a:t>
            </a:r>
          </a:p>
        </p:txBody>
      </p:sp>
      <p:sp>
        <p:nvSpPr>
          <p:cNvPr id="12" name="Rounded Rectangle 11"/>
          <p:cNvSpPr/>
          <p:nvPr/>
        </p:nvSpPr>
        <p:spPr>
          <a:xfrm>
            <a:off x="457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テナント基盤 (4)</a:t>
            </a:r>
          </a:p>
        </p:txBody>
      </p:sp>
      <p:sp>
        <p:nvSpPr>
          <p:cNvPr id="14" name="TextBox 13"/>
          <p:cNvSpPr txBox="1"/>
          <p:nvPr/>
        </p:nvSpPr>
        <p:spPr>
          <a:xfrm>
            <a:off x="566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tenants
tenant_keys
app_settings
outbox_jobs</a:t>
            </a:r>
          </a:p>
        </p:txBody>
      </p:sp>
      <p:sp>
        <p:nvSpPr>
          <p:cNvPr id="15" name="Rounded Rectangle 14"/>
          <p:cNvSpPr/>
          <p:nvPr/>
        </p:nvSpPr>
        <p:spPr>
          <a:xfrm>
            <a:off x="2743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743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認証・スタッフ (3)</a:t>
            </a:r>
          </a:p>
        </p:txBody>
      </p:sp>
      <p:sp>
        <p:nvSpPr>
          <p:cNvPr id="17" name="TextBox 16"/>
          <p:cNvSpPr txBox="1"/>
          <p:nvPr/>
        </p:nvSpPr>
        <p:spPr>
          <a:xfrm>
            <a:off x="2852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staff
sessions
password_reset_codes</a:t>
            </a:r>
          </a:p>
        </p:txBody>
      </p:sp>
      <p:sp>
        <p:nvSpPr>
          <p:cNvPr id="18" name="Rounded Rectangle 17"/>
          <p:cNvSpPr/>
          <p:nvPr/>
        </p:nvSpPr>
        <p:spPr>
          <a:xfrm>
            <a:off x="5029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029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 (2)</a:t>
            </a:r>
          </a:p>
        </p:txBody>
      </p:sp>
      <p:sp>
        <p:nvSpPr>
          <p:cNvPr id="20" name="TextBox 19"/>
          <p:cNvSpPr txBox="1"/>
          <p:nvPr/>
        </p:nvSpPr>
        <p:spPr>
          <a:xfrm>
            <a:off x="5138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customers
family_members</a:t>
            </a:r>
          </a:p>
        </p:txBody>
      </p:sp>
      <p:sp>
        <p:nvSpPr>
          <p:cNvPr id="21" name="Rounded Rectangle 20"/>
          <p:cNvSpPr/>
          <p:nvPr/>
        </p:nvSpPr>
        <p:spPr>
          <a:xfrm>
            <a:off x="7315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315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訪問の記録 (4)</a:t>
            </a:r>
          </a:p>
        </p:txBody>
      </p:sp>
      <p:sp>
        <p:nvSpPr>
          <p:cNvPr id="23" name="TextBox 22"/>
          <p:cNvSpPr txBox="1"/>
          <p:nvPr/>
        </p:nvSpPr>
        <p:spPr>
          <a:xfrm>
            <a:off x="7424927"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9601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割引クーポン (3)</a:t>
            </a:r>
          </a:p>
        </p:txBody>
      </p:sp>
      <p:sp>
        <p:nvSpPr>
          <p:cNvPr id="26" name="TextBox 25"/>
          <p:cNvSpPr txBox="1"/>
          <p:nvPr/>
        </p:nvSpPr>
        <p:spPr>
          <a:xfrm>
            <a:off x="9710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coupons
customer_coupons
coupon_redemptions</a:t>
            </a:r>
          </a:p>
        </p:txBody>
      </p:sp>
      <p:sp>
        <p:nvSpPr>
          <p:cNvPr id="27" name="TextBox 26"/>
          <p:cNvSpPr txBox="1"/>
          <p:nvPr/>
        </p:nvSpPr>
        <p:spPr>
          <a:xfrm>
            <a:off x="457200" y="3456432"/>
            <a:ext cx="77724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28" name="Rounded Rectangle 27"/>
          <p:cNvSpPr/>
          <p:nvPr/>
        </p:nvSpPr>
        <p:spPr>
          <a:xfrm>
            <a:off x="457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 (2)</a:t>
            </a:r>
          </a:p>
        </p:txBody>
      </p:sp>
      <p:sp>
        <p:nvSpPr>
          <p:cNvPr id="30" name="TextBox 29"/>
          <p:cNvSpPr txBox="1"/>
          <p:nvPr/>
        </p:nvSpPr>
        <p:spPr>
          <a:xfrm>
            <a:off x="566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customer_notes
customer_note_photos</a:t>
            </a:r>
          </a:p>
        </p:txBody>
      </p:sp>
      <p:sp>
        <p:nvSpPr>
          <p:cNvPr id="31" name="Rounded Rectangle 30"/>
          <p:cNvSpPr/>
          <p:nvPr/>
        </p:nvSpPr>
        <p:spPr>
          <a:xfrm>
            <a:off x="2743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743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 (4)</a:t>
            </a:r>
          </a:p>
        </p:txBody>
      </p:sp>
      <p:sp>
        <p:nvSpPr>
          <p:cNvPr id="33" name="TextBox 32"/>
          <p:cNvSpPr txBox="1"/>
          <p:nvPr/>
        </p:nvSpPr>
        <p:spPr>
          <a:xfrm>
            <a:off x="2852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service_menus
reservations
reservation_assignments
staff_availabilities</a:t>
            </a:r>
          </a:p>
        </p:txBody>
      </p:sp>
      <p:sp>
        <p:nvSpPr>
          <p:cNvPr id="34" name="Rounded Rectangle 33"/>
          <p:cNvSpPr/>
          <p:nvPr/>
        </p:nvSpPr>
        <p:spPr>
          <a:xfrm>
            <a:off x="5029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029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 (5)</a:t>
            </a:r>
          </a:p>
        </p:txBody>
      </p:sp>
      <p:sp>
        <p:nvSpPr>
          <p:cNvPr id="36" name="TextBox 35"/>
          <p:cNvSpPr txBox="1"/>
          <p:nvPr/>
        </p:nvSpPr>
        <p:spPr>
          <a:xfrm>
            <a:off x="5138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customer_payment_profiles
invoices
invoice_lines
payments
stripe_webhook_events</a:t>
            </a:r>
          </a:p>
        </p:txBody>
      </p:sp>
      <p:sp>
        <p:nvSpPr>
          <p:cNvPr id="37" name="Rounded Rectangle 36"/>
          <p:cNvSpPr/>
          <p:nvPr/>
        </p:nvSpPr>
        <p:spPr>
          <a:xfrm>
            <a:off x="7315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7315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 (5)</a:t>
            </a:r>
          </a:p>
        </p:txBody>
      </p:sp>
      <p:sp>
        <p:nvSpPr>
          <p:cNvPr id="39" name="TextBox 38"/>
          <p:cNvSpPr txBox="1"/>
          <p:nvPr/>
        </p:nvSpPr>
        <p:spPr>
          <a:xfrm>
            <a:off x="7424927"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trait_definitions
customer_traits
staff_traits
staff_customer_compatibilities
staff_customer_travel_estimates</a:t>
            </a:r>
          </a:p>
        </p:txBody>
      </p:sp>
      <p:sp>
        <p:nvSpPr>
          <p:cNvPr id="40" name="Rounded Rectangle 39"/>
          <p:cNvSpPr/>
          <p:nvPr/>
        </p:nvSpPr>
        <p:spPr>
          <a:xfrm>
            <a:off x="9601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9601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 (2)</a:t>
            </a:r>
          </a:p>
        </p:txBody>
      </p:sp>
      <p:sp>
        <p:nvSpPr>
          <p:cNvPr id="42" name="TextBox 41"/>
          <p:cNvSpPr txBox="1"/>
          <p:nvPr/>
        </p:nvSpPr>
        <p:spPr>
          <a:xfrm>
            <a:off x="9710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transport_allowance_rules
travel_legs</a:t>
            </a:r>
          </a:p>
        </p:txBody>
      </p:sp>
      <p:sp>
        <p:nvSpPr>
          <p:cNvPr id="43" name="Rounded Rectangle 42"/>
          <p:cNvSpPr/>
          <p:nvPr/>
        </p:nvSpPr>
        <p:spPr>
          <a:xfrm>
            <a:off x="457200" y="5504688"/>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504688"/>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6" name="TextBox 45"/>
          <p:cNvSpPr txBox="1"/>
          <p:nvPr/>
        </p:nvSpPr>
        <p:spPr>
          <a:xfrm>
            <a:off x="640080" y="5852159"/>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稼働中の16枚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251960"/>
        </p:xfrm>
        <a:graphic>
          <a:graphicData uri="http://schemas.openxmlformats.org/drawingml/2006/table">
            <a:tbl>
              <a:tblPr firstRow="1" bandRow="1">
                <a:tableStyleId>{5C22544A-7EE6-4342-B048-85BDC9FD1C3A}</a:tableStyleId>
              </a:tblPr>
              <a:tblGrid>
                <a:gridCol w="2025310"/>
                <a:gridCol w="3590322"/>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46888">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 + 領収書の締め日</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顧客(利用世帯の代表者)。39列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世帯構成員(子ども等)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への複合FK。生年月日は date + 元表記</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領収書。取消は行を消さず cancelled_at</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金額は整数の円。cancellable_until を登録時に固定</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customer_coupons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顧客へのクーポン配布</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customer_id,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468112"/>
            <a:ext cx="5486400" cy="9144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468112"/>
            <a:ext cx="68580" cy="9144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この16枚が「土台」です</a:t>
            </a:r>
          </a:p>
        </p:txBody>
      </p:sp>
      <p:sp>
        <p:nvSpPr>
          <p:cNvPr id="15" name="TextBox 14"/>
          <p:cNvSpPr txBox="1"/>
          <p:nvPr/>
        </p:nvSpPr>
        <p:spPr>
          <a:xfrm>
            <a:off x="6428232"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提案書の差別化要因(予約・請求・カルテ)は、次ページの18枚としてスキーマだけ先に用意してあります。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スキーマだけ先に用意した18枚</a:t>
            </a:r>
            <a:r>
              <a:rPr sz="1250" b="0" i="0">
                <a:solidFill>
                  <a:srgbClr val="64748B"/>
                </a:solidFill>
                <a:latin typeface="Meiryo"/>
                <a:cs typeface="Meiryo"/>
                <a:ea typeface="Meiryo"/>
              </a:rPr>
              <a:t>   実装・API・画面はこれから</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上の子。写真は実体を持たず保存キーのみ。1枚10MBまでをCHECKで制限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この18枚も既存16枚と同じ規約(tenant_id + RLS + 複合外部キー + CHECK + updated_at トリガー)に載せてあります。先に作った理由と、そこで迷った判断は第4章(P26・P27)で扱います。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doc/db/overview.md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静的検査:全34テーブル分のSQLに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doc/db/overview.md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この形を適用した参照(全50本)</a:t>
            </a:r>
            <a:r>
              <a:rPr sz="1050" b="0" i="0">
                <a:solidFill>
                  <a:srgbClr val="64748B"/>
                </a:solidFill>
                <a:latin typeface="Meiryo"/>
                <a:cs typeface="Meiryo"/>
                <a:ea typeface="Meiryo"/>
              </a:rPr>
              <a:t>   下は稼働中の16枚にあるもの</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 / reservations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407533"/>
            <a:ext cx="11277295" cy="9749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407533"/>
            <a:ext cx="68580" cy="9749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498973"/>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755005"/>
            <a:ext cx="10929823" cy="554355"/>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クーポンの3枚(customer_coupons / coupon_redemptions)も同じ形で customers・coupons・daily_reports を指しています。先行整備の18枚も同じ規約に載せてあり、複合外部キーは全部で50本です。参照先には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doc/db/overview.md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doc/db/overview.md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34テーブルで守っている共通ルール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が39列に肥大化している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doc/db/overview.md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現状:1枚に9カテゴリが同居している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031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0312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3969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396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16712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46887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468879"/>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05456"/>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054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53288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8346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8346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8712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8712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289864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20039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20039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23697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23697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26440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56615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56615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60273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60273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63016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39319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393192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396849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39684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399592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29768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29768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33425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生年月日</a:t>
            </a:r>
          </a:p>
        </p:txBody>
      </p:sp>
      <p:sp>
        <p:nvSpPr>
          <p:cNvPr id="47" name="TextBox 46"/>
          <p:cNvSpPr txBox="1"/>
          <p:nvPr/>
        </p:nvSpPr>
        <p:spPr>
          <a:xfrm>
            <a:off x="2542032" y="43342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2列</a:t>
            </a:r>
          </a:p>
        </p:txBody>
      </p:sp>
      <p:sp>
        <p:nvSpPr>
          <p:cNvPr id="48" name="TextBox 47"/>
          <p:cNvSpPr txBox="1"/>
          <p:nvPr/>
        </p:nvSpPr>
        <p:spPr>
          <a:xfrm>
            <a:off x="3154680" y="436168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日付型 / 元表記(誕生月クーポン用・手入力)</a:t>
            </a:r>
          </a:p>
        </p:txBody>
      </p:sp>
      <p:sp>
        <p:nvSpPr>
          <p:cNvPr id="49" name="Rounded Rectangle 48"/>
          <p:cNvSpPr/>
          <p:nvPr/>
        </p:nvSpPr>
        <p:spPr>
          <a:xfrm>
            <a:off x="457200" y="466344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57200" y="4663440"/>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03504" y="4700016"/>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52" name="TextBox 51"/>
          <p:cNvSpPr txBox="1"/>
          <p:nvPr/>
        </p:nvSpPr>
        <p:spPr>
          <a:xfrm>
            <a:off x="2542032" y="470001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53" name="TextBox 52"/>
          <p:cNvSpPr txBox="1"/>
          <p:nvPr/>
        </p:nvSpPr>
        <p:spPr>
          <a:xfrm>
            <a:off x="3154680" y="47274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54" name="Rounded Rectangle 53"/>
          <p:cNvSpPr/>
          <p:nvPr/>
        </p:nvSpPr>
        <p:spPr>
          <a:xfrm>
            <a:off x="457200" y="5029200"/>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39列(1テーブル)</a:t>
            </a:r>
          </a:p>
        </p:txBody>
      </p:sp>
      <p:sp>
        <p:nvSpPr>
          <p:cNvPr id="55" name="TextBox 54"/>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6" name="Rounded Rectangle 55"/>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8" name="TextBox 57"/>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9" name="Rounded Rectangle 58"/>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61" name="TextBox 60"/>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62" name="Rounded Rectangle 61"/>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64" name="TextBox 63"/>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5" name="Rounded Rectangle 64"/>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7" name="TextBox 66"/>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8" name="Rounded Rectangle 67"/>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71" name="TextBox 70"/>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72" name="Rounded Rectangle 71"/>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5" name="TextBox 74"/>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39列は多すぎるので分けるべき」か、「顧客マスタなら39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doc/db/new-domains.md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doc/db/guidelines.md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doc/db/new-domains.md §6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提案書では訪問看護事業者への展開を想定しています(doc/proposal/tech-stack.md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9696"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9696" cy="402336"/>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a:t>
            </a:r>
          </a:p>
        </p:txBody>
      </p:sp>
      <p:sp>
        <p:nvSpPr>
          <p:cNvPr id="10" name="TextBox 9"/>
          <p:cNvSpPr txBox="1"/>
          <p:nvPr/>
        </p:nvSpPr>
        <p:spPr>
          <a:xfrm>
            <a:off x="576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BE185D"/>
                </a:solidFill>
                <a:latin typeface="Consolas"/>
                <a:cs typeface="Consolas"/>
                <a:ea typeface="Consolas"/>
              </a:rPr>
              <a:t>customer_notes
customer_note_photos</a:t>
            </a:r>
          </a:p>
        </p:txBody>
      </p:sp>
      <p:sp>
        <p:nvSpPr>
          <p:cNvPr id="11" name="TextBox 10"/>
          <p:cNvSpPr txBox="1"/>
          <p:nvPr/>
        </p:nvSpPr>
        <p:spPr>
          <a:xfrm>
            <a:off x="576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90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写真は子テーブル。実体は持たず保存キーのみ</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3200" y="1481328"/>
            <a:ext cx="2139696"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3200" y="1481328"/>
            <a:ext cx="2139696"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予約(RESERVA移植版)</a:t>
            </a:r>
          </a:p>
        </p:txBody>
      </p:sp>
      <p:sp>
        <p:nvSpPr>
          <p:cNvPr id="14" name="TextBox 13"/>
          <p:cNvSpPr txBox="1"/>
          <p:nvPr/>
        </p:nvSpPr>
        <p:spPr>
          <a:xfrm>
            <a:off x="2862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62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90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主担当は1予約1人までを部分一意索引で保証</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9200" y="1481328"/>
            <a:ext cx="2139696"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9200" y="1481328"/>
            <a:ext cx="2139696"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請求・決済(Stripe)</a:t>
            </a:r>
          </a:p>
        </p:txBody>
      </p:sp>
      <p:sp>
        <p:nvSpPr>
          <p:cNvPr id="18" name="TextBox 17"/>
          <p:cNvSpPr txBox="1"/>
          <p:nvPr/>
        </p:nvSpPr>
        <p:spPr>
          <a:xfrm>
            <a:off x="5148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48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90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total = subtotal − discount + tax をCHECKで強制</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5200" y="1481328"/>
            <a:ext cx="2139696"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5200" y="1481328"/>
            <a:ext cx="2139696"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a:t>
            </a:r>
          </a:p>
        </p:txBody>
      </p:sp>
      <p:sp>
        <p:nvSpPr>
          <p:cNvPr id="22" name="TextBox 21"/>
          <p:cNvSpPr txBox="1"/>
          <p:nvPr/>
        </p:nvSpPr>
        <p:spPr>
          <a:xfrm>
            <a:off x="7434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34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90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601200" y="1481328"/>
            <a:ext cx="2139696"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481328"/>
            <a:ext cx="2139696" cy="402336"/>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a:t>
            </a:r>
          </a:p>
        </p:txBody>
      </p:sp>
      <p:sp>
        <p:nvSpPr>
          <p:cNvPr id="26" name="TextBox 25"/>
          <p:cNvSpPr txBox="1"/>
          <p:nvPr/>
        </p:nvSpPr>
        <p:spPr>
          <a:xfrm>
            <a:off x="9720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C2410C"/>
                </a:solidFill>
                <a:latin typeface="Consolas"/>
                <a:cs typeface="Consolas"/>
                <a:ea typeface="Consolas"/>
              </a:rPr>
              <a:t>transport_allowance_rules
travel_legs</a:t>
            </a:r>
          </a:p>
        </p:txBody>
      </p:sp>
      <p:sp>
        <p:nvSpPr>
          <p:cNvPr id="27" name="TextBox 26"/>
          <p:cNvSpPr txBox="1"/>
          <p:nvPr/>
        </p:nvSpPr>
        <p:spPr>
          <a:xfrm>
            <a:off x="9720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900" b="0">
                <a:solidFill>
                  <a:srgbClr val="14223A"/>
                </a:solidFill>
                <a:latin typeface="Meiryo"/>
                <a:cs typeface="Meiryo"/>
                <a:ea typeface="Meiryo"/>
              </a:rPr>
              <a:t>自動車・公共交通機関・自転車・徒歩を選べる</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既存16枚と同じ規約に載せてある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graphicFrame>
        <p:nvGraphicFramePr>
          <p:cNvPr id="7" name="Table 6"/>
          <p:cNvGraphicFramePr>
            <a:graphicFrameLocks noGrp="1"/>
          </p:cNvGraphicFramePr>
          <p:nvPr/>
        </p:nvGraphicFramePr>
        <p:xfrm>
          <a:off x="457200" y="1143000"/>
          <a:ext cx="11277293" cy="4142232"/>
        </p:xfrm>
        <a:graphic>
          <a:graphicData uri="http://schemas.openxmlformats.org/drawingml/2006/table">
            <a:tbl>
              <a:tblPr firstRow="1" bandRow="1">
                <a:tableStyleId>{5C22544A-7EE6-4342-B048-85BDC9FD1C3A}</a:tableStyleId>
              </a:tblPr>
              <a:tblGrid>
                <a:gridCol w="3018254"/>
                <a:gridCol w="1006084"/>
                <a:gridCol w="4207263"/>
                <a:gridCol w="3045692"/>
              </a:tblGrid>
              <a:tr h="301752">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640080">
                <a:tc>
                  <a:txBody>
                    <a:bodyPr wrap="square"/>
                    <a:lstStyle/>
                    <a:p>
                      <a:pPr algn="l">
                        <a:lnSpc>
                          <a:spcPct val="115000"/>
                        </a:lnSpc>
                        <a:buNone/>
                      </a:pPr>
                      <a:r>
                        <a:rPr sz="95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5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5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5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5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5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5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41264"/>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41264"/>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8873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第5章「レビュー観点」/ doc/db/new-domains.md §6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70432"/>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5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customers 39列を分けるべきか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19</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14・20</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予約の二重取りをどこで止めるか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21</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EXCLUDE制約が使えない(テスト環境に拡張が無い)。本番だけ張る / アプリで直列化 / 固定スロット / 運用で検知</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22</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26</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27</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12・13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34テーブルの定義。列ごとに「なぜこの形か」をコメントで書いてある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業務ロジックが外部に求める窓口の定義(29本)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00" b="1">
                <a:solidFill>
                  <a:srgbClr val="14223A"/>
                </a:solidFill>
                <a:latin typeface="Meiryo"/>
                <a:cs typeface="Meiryo"/>
                <a:ea typeface="Meiryo"/>
              </a:rPr>
              <a:t>doc/db/overview.md</a:t>
            </a:r>
            <a:r>
              <a:rPr sz="1000" b="0">
                <a:solidFill>
                  <a:srgbClr val="14223A"/>
                </a:solidFill>
                <a:latin typeface="Meiryo"/>
                <a:cs typeface="Meiryo"/>
                <a:ea typeface="Meiryo"/>
              </a:rPr>
              <a:t>  本資料の詳細版。設計方針・暗号化の構成・レビュー観点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doc/db/reference.md</a:t>
            </a:r>
            <a:r>
              <a:rPr sz="1000" b="0">
                <a:solidFill>
                  <a:srgbClr val="14223A"/>
                </a:solidFill>
                <a:latin typeface="Meiryo"/>
                <a:cs typeface="Meiryo"/>
                <a:ea typeface="Meiryo"/>
              </a:rPr>
              <a:t>  ER図と全34テーブルの全列一覧。スキーマから自動生成(pnpm db:docs)</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doc/db/new-domains.md</a:t>
            </a:r>
            <a:r>
              <a:rPr sz="1000" b="0">
                <a:solidFill>
                  <a:srgbClr val="14223A"/>
                </a:solidFill>
                <a:latin typeface="Meiryo"/>
                <a:cs typeface="Meiryo"/>
                <a:ea typeface="Meiryo"/>
              </a:rPr>
              <a:t>  第4章の18テーブルの設計理由と、未決の論点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doc/db/guidelines.md</a:t>
            </a:r>
            <a:r>
              <a:rPr sz="100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doc/slides/architecture.pptx</a:t>
            </a:r>
            <a:r>
              <a:rPr sz="100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