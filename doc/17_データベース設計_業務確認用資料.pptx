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 b="1" i="0">
                <a:solidFill>
                  <a:srgbClr val="7DD3FC"/>
                </a:solidFill>
                <a:latin typeface="Meiryo"/>
                <a:cs typeface="Meiryo"/>
                <a:ea typeface="Meiryo"/>
              </a:rPr>
              <a:t>業務内容の確認のお願い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380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新しい業務システムで
「何を記録するか」の確認資料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Meiryo"/>
                <a:cs typeface="Meiryo"/>
                <a:ea typeface="Meiryo"/>
              </a:rPr>
              <a:t>訪問保育(ベビーシッター)業務システム katahimo-app — データベース設計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4681728"/>
            <a:ext cx="3749040" cy="0"/>
          </a:xfrm>
          <a:prstGeom prst="line">
            <a:avLst/>
          </a:prstGeom>
          <a:ln w="15240">
            <a:solidFill>
              <a:srgbClr val="4755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4864608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buNone/>
            </a:pPr>
            <a:r>
              <a:rPr sz="1250" b="0" i="0">
                <a:solidFill>
                  <a:srgbClr val="94A3B8"/>
                </a:solidFill>
                <a:latin typeface="Meiryo"/>
                <a:cs typeface="Meiryo"/>
                <a:ea typeface="Meiryo"/>
              </a:rPr>
              <a:t>データベースの知識は不要です。Excelのシートと見出し行に置き換えてご説明します。
お願いしたいのは「この項目で業務が回るか」「足りないものは無いか」のご確認です。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この資料でお願いしたいこと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はじめに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3712463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68580" cy="22860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25295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お願いしたいこと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337560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いま作っている業務システムが、</a:t>
            </a: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業務に必要な情報をひととおり記録できているか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をご確認ください。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「この項目が無いと困る」「この区分が足りない」を挙げていただくのが目的です。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細かい言い回しや画面の見た目は、この資料の対象ではありません。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115568"/>
            <a:ext cx="3712463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115568"/>
            <a:ext cx="68580" cy="2286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225295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いまどの段階か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1527048"/>
            <a:ext cx="3337560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まだ本稼働していません。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大きく作り直すこともできる段階です。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いま見つかる抜けは、直すのに費用も時間もほとんどかかりません。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運用開始後に見つかると、</a:t>
            </a: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入力済みのデータを全件直す作業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が発生します。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115568"/>
            <a:ext cx="3712463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115568"/>
            <a:ext cx="68580" cy="2286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225295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どなたに見ていただきたいか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527048"/>
            <a:ext cx="3337560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実際に日々の入力・確認をされている実務担当の方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締め・請求・給与など、月次の処理をされている方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例外対応(キャンセル、事故、訂正)の判断をされている責任者の方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277295" cy="90855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68580" cy="90855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49039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データベースの知識は要りません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23360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資料では、データベースを「Excelのブック」、テーブルを「シート」、列を「見出し行」に置き換えて説明します。次のページから、その対応をご説明します。専門用語は括弧で添えるだけにして、本文では使いませ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81728"/>
            <a:ext cx="5632704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81728"/>
            <a:ext cx="68580" cy="1554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791456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ご確認いただきたい3つの視点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093208"/>
            <a:ext cx="5257800" cy="1051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① 項目の抜け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記録したい情報で、一覧に無いもの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② 選択肢の抜け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「状態」「区分」に足りない選択肢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③ ルールの食い違い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実際の運用と、システムの決めごとのズレ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4681728"/>
            <a:ext cx="5632704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4681728"/>
            <a:ext cx="68580" cy="15544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4791456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ご確認いただかなくてよいこと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5093208"/>
            <a:ext cx="5257800" cy="1051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英語の名前(customers など)。実務では画面に出ません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技術的な正しさ。別途、データベースの専門家に見ていただきます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画面のデザイン・操作の手順。この資料の対象外です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この資料の読み方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はじめに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各章は「記録している項目」→「確認していただきたいこと」の2ページ構成です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7295" cy="804672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80467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234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記録している項目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225295"/>
            <a:ext cx="79854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そのシートに何を記録するか。Excelの見出し行にあたるものの一覧です。ここに無いものは、いまのままでは記録できません。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66543"/>
            <a:ext cx="11277295" cy="804672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66543"/>
            <a:ext cx="68580" cy="80467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18541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76272"/>
            <a:ext cx="79854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システムが勝手に守ってくれる決めごと。入力ミスがあっても、この内容に反する登録はそもそもできないようになっています。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11277295" cy="80467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68580" cy="8046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363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27248"/>
            <a:ext cx="79854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設計側で決めきれていない点、または作りかけの点。ご意見をいただきたい箇所です。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68496"/>
            <a:ext cx="11277295" cy="80467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68580" cy="80467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0873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78224"/>
            <a:ext cx="79854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質問の形で並べています。お答えいただくか、「これで問題ない」と一言いただければ十分です。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65192"/>
            <a:ext cx="11277295" cy="90855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65192"/>
            <a:ext cx="68580" cy="90855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056631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ご回答の方法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30952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この資料のPowerPointファイルに直接コメントを入れていただくか、巻末の「確認シート」の形式でメール・チャットにご返信ください。「◯ページの△△について」と分かれば、形式は問いません。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9144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90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31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まず、Excelに置き換えて理解する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4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データベースの用語を、ふだん使っている言葉に言い換えます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データベースは「Excelブック」だと思ってください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第1章 Excelに置き換える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11277293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594"/>
                <a:gridCol w="2182702"/>
                <a:gridCol w="1637026"/>
                <a:gridCol w="5092971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Excelでいうと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この資料での呼び方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(専門用語)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補足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1つのブック(ファイル)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システムのデータ全体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データベース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業務で使うデータが1か所にまとまっている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1枚のシート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シート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テーブル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今回は34枚。「顧客」「予約」「日報」など内容ごとに分かれる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1行目の見出し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項目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列(カラム)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「氏名」「電話」など。あとから足せるが、足す作業が要る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2行目以降の1行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1件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行(レコード)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顧客1世帯、予約1件、日報1回 ＝ それぞれ1行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A列の管理番号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ID(見えない管理番号)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主キー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システムが自動で振る。重複しない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VLOOKUPの参照先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つながり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外部キー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「この予約はどの顧客か」を管理番号で指し示す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入力規則(リスト)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選べる値の一覧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CHECK制約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決めた選択肢以外は登録できない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重複の削除・チェック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重複禁止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一意制約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同じものが2件登録されることを、そもそも防ぐ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並べ替え・フィルタ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検索の速さの工夫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インデックス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件数が増えても一覧表示が遅くならないための仕掛け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空欄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未入力を許すかどうか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NULL可否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項目ごとに「必ず入れる/空でもよい」を決めてある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596128"/>
            <a:ext cx="11277295" cy="66167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596128"/>
            <a:ext cx="68580" cy="66167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以降のページでは、左の2列(Excelでいうと / この資料での呼び方)の言葉だけを使います。専門用語は、ご興味があるときのために括弧で添えるだけにします。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Excelとは違うところ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第1章 Excelに置き換える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「Excelで十分では?」というご質問への回答でもあります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63270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23317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Excelでは難しいこと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257800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8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同時に触れる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Excelは誰かが開いていると編集できない。システムは全員が同時に入力できる</a:t>
            </a:r>
          </a:p>
          <a:p>
            <a:pPr marL="182880" indent="-182880">
              <a:lnSpc>
                <a:spcPct val="138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行が増えても重くならない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数十万件でも一覧の表示が遅くならない仕掛けが入っている</a:t>
            </a:r>
          </a:p>
          <a:p>
            <a:pPr marL="182880" indent="-182880">
              <a:lnSpc>
                <a:spcPct val="138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入力規則が必ず効く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Excelの入力規則はコピー&amp;ペーストで簡単に破れる。システムでは破れない</a:t>
            </a:r>
          </a:p>
          <a:p>
            <a:pPr marL="182880" indent="-182880">
              <a:lnSpc>
                <a:spcPct val="138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計算式が壊れない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行の挿入や並べ替えで式がずれることが無い。計算はその都度行う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115568"/>
            <a:ext cx="563270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115568"/>
            <a:ext cx="68580" cy="2331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22529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記録として強くなること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527048"/>
            <a:ext cx="5257800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8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記録が消えない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取り消しても行は残す(グレー表示)。「あったはずのものが痕跡なく消える」を作らない</a:t>
            </a:r>
          </a:p>
          <a:p>
            <a:pPr marL="182880" indent="-182880">
              <a:lnSpc>
                <a:spcPct val="138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誰が・いつ が残る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登録日時・更新日時・入力者が自動で記録される</a:t>
            </a:r>
          </a:p>
          <a:p>
            <a:pPr marL="182880" indent="-182880">
              <a:lnSpc>
                <a:spcPct val="138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見える範囲を分けられる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スタッフは自分の分だけ、管理者は全員分、という制御ができる</a:t>
            </a:r>
          </a:p>
          <a:p>
            <a:pPr marL="182880" indent="-182880">
              <a:lnSpc>
                <a:spcPct val="138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他法人のデータは見えない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 — システムの作り方として、他社のデータが混ざらないようになっている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77295" cy="90855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68580" cy="90855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49039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そのかわり不便になること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項目(見出し)を足すのは、Excelのように「列を1本挿入」では済みません。作業と確認が必要で、運用開始後は入力済みのデータをどう埋めるかも決める必要があります。だからこそ、始める前のいまのうちに「足りない項目」を挙げていただきたい、というのがこの資料の趣旨で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1127729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68580" cy="14630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864608"/>
            <a:ext cx="109481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「1シートにまとめた方が見やすいのでは?」について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166360"/>
            <a:ext cx="10902391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シートを分けるのは、</a:t>
            </a: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同じことを二度書かないため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です。顧客の住所を予約シートにも書いていると、引っ越したときに全部直す必要があり、直し漏れた行が残ります。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住所は「顧客」シートにだけ書き、予約からは管理番号で指し示します。これで住所を直す場所は常に1か所になります(VLOOKUPと同じ考え方です)。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「つながり」の考え方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第1章 Excelに置き換える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このあと出てくる図の読み方です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27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30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顧客シート</a:t>
            </a:r>
          </a:p>
          <a:p>
            <a:pPr algn="ctr">
              <a:lnSpc>
                <a:spcPct val="116000"/>
              </a:lnSpc>
              <a:buNone/>
            </a:pPr>
            <a:r>
              <a:rPr sz="1050" b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1世帯 = 1行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30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予約シート</a:t>
            </a:r>
          </a:p>
          <a:p>
            <a:pPr algn="ctr">
              <a:lnSpc>
                <a:spcPct val="116000"/>
              </a:lnSpc>
              <a:buNone/>
            </a:pPr>
            <a:r>
              <a:rPr sz="1050" b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予約1件 = 1行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28016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30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日報シート</a:t>
            </a:r>
          </a:p>
          <a:p>
            <a:pPr algn="ctr">
              <a:lnSpc>
                <a:spcPct val="116000"/>
              </a:lnSpc>
              <a:buNone/>
            </a:pPr>
            <a:r>
              <a:rPr sz="1050" b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訪問1回 = 1行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1719072"/>
            <a:ext cx="1097280" cy="0"/>
          </a:xfrm>
          <a:prstGeom prst="line">
            <a:avLst/>
          </a:prstGeom>
          <a:ln w="20320">
            <a:solidFill>
              <a:srgbClr val="64748B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1719072"/>
            <a:ext cx="1097280" cy="0"/>
          </a:xfrm>
          <a:prstGeom prst="line">
            <a:avLst/>
          </a:prstGeom>
          <a:ln w="20320">
            <a:solidFill>
              <a:srgbClr val="64748B"/>
            </a:solidFill>
            <a:headEnd type="oval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54680" y="1810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1世帯に
予約は何件でも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予約1件に
日報は1件まで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563270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68580" cy="17373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80720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図の読み方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108960"/>
            <a:ext cx="525780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四角がシート(Excelの1枚のシート)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矢印は「指し示している」向き。予約シートの1行が、顧客シートの1行を指しています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矢印の根元の丸は「何件でもつながる」、線だけは「1件まで」を表します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697480"/>
            <a:ext cx="5632704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2697480"/>
            <a:ext cx="68580" cy="17373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80720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なぜ「1件まで」を決めるのか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108960"/>
            <a:ext cx="525780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1つの予約に日報が2件つくと、サービス提供分の請求が二重になります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そうならないよう、</a:t>
            </a: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システム側で2件目を受け付けません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。人の注意力に頼りません。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77295" cy="11159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68580" cy="11159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66344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「つながり」が守ってくれること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37760"/>
            <a:ext cx="10874959" cy="658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予約シートに、存在しない顧客の管理番号を書くことはできません。また、予約が残っている顧客を誤って削除することもできません。Excelでいえば「VLOOKUPが #N/A になる状態」を、そもそも作れないようにしてある、ということです。
この仕組みのおかげで、「顧客名簿には無いのに日報だけ残っている」といった、あとから原因を追えない不整合が起きません。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入力のルールは、システム側にも書いてあります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第1章 Excelに置き換える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11277293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648"/>
                <a:gridCol w="6366214"/>
                <a:gridCol w="2637431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ルールの種類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例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破ろうとすると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選べる値を限る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予約の状態は「申込・確定・実施済・キャンセル・無連絡不来訪」のどれか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登録できない(エラーになる)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値の範囲を限る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金額はマイナスにできない。ログイン失敗回数は0以上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登録できない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必ず対で入れる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「キャンセル」にしたのにキャンセル日時が空、は不可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登録できない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重複を禁じる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同じ予約に同じスタッフを2回、同じ日報に同じクーポンを2回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2件目が登録できない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計算が合うことを保証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請求書の「合計 = 小計 − 割引 + 税」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合わない請求書は登録できない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必ずどちらか一方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受付枠は「毎週◯曜日」か「◯月◯日」のどちらか。両方は不可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登録できない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06240"/>
            <a:ext cx="11277295" cy="111594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68580" cy="111594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97679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なぜ画面のチェックだけでは足りないのか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10874959" cy="658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画面に入力チェックを入れても、データの取り込み(CSV)、別のシステムからの連携、不具合の修正作業などは画面を通りません。「絶対に守りたいこと」はデータの置き場所そのものに書いておく、というのが今回の方針です。Excelの入力規則がコピー&amp;ペーストで破れてしまうのに対し、こちらは経路を問わず必ず効き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9240"/>
            <a:ext cx="11277295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349240"/>
            <a:ext cx="68580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458968"/>
            <a:ext cx="109481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ご確認いただきたいのは、まさにこの「選べる値」です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760720"/>
            <a:ext cx="10902391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各章の「確認していただきたいこと」には、選択肢が足りているかの質問を入れています。あとから選択肢を足すこと自体はできますが、運用開始後だと「どれにも当てはまらない」データが先に溜まってしまい、後追いの仕分けが必要にな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9144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90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31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全体像 — 34枚のシートの地図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4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業務の流れのどこで、どのシートに記録が生まれるか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業務の流れと、記録が生まれる場所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第2章 全体像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666189" cy="148132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524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666189" cy="38404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666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お客様登録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4467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0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
世帯構成員
カルテ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666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第3・5章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50821" y="1975104"/>
            <a:ext cx="201168" cy="0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79421" y="1234440"/>
            <a:ext cx="1666189" cy="1481328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2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9421" y="1234440"/>
            <a:ext cx="1666189" cy="38404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9421" y="1298448"/>
            <a:ext cx="1666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予約受付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9149" y="1709928"/>
            <a:ext cx="14467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0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
サービスメニュー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9421" y="2468880"/>
            <a:ext cx="1666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第6章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73042" y="1975104"/>
            <a:ext cx="201168" cy="0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01642" y="1234440"/>
            <a:ext cx="1666189" cy="1481328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524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1642" y="1234440"/>
            <a:ext cx="1666189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1642" y="1298448"/>
            <a:ext cx="1666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スタッフ割当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370" y="1709928"/>
            <a:ext cx="14467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0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割当
受付枠
相性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468880"/>
            <a:ext cx="1666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第6・12章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5263" y="1975104"/>
            <a:ext cx="201168" cy="0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23863" y="1234440"/>
            <a:ext cx="1666189" cy="148132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3863" y="1234440"/>
            <a:ext cx="1666189" cy="3840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3863" y="1298448"/>
            <a:ext cx="1666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訪問・実施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591" y="1709928"/>
            <a:ext cx="14467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0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
事故報告
領収書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863" y="2468880"/>
            <a:ext cx="1666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第7・8章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17484" y="1975104"/>
            <a:ext cx="201168" cy="0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46084" y="1234440"/>
            <a:ext cx="1666189" cy="148132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6084" y="1234440"/>
            <a:ext cx="1666189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6084" y="1298448"/>
            <a:ext cx="1666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締め・集計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5812" y="1709928"/>
            <a:ext cx="14467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0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勤怠
移動区間
クーポン適用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6084" y="2468880"/>
            <a:ext cx="1666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第9・10・13章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39706" y="1975104"/>
            <a:ext cx="201168" cy="0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68306" y="1234440"/>
            <a:ext cx="1666189" cy="1481328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1524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68306" y="1234440"/>
            <a:ext cx="1666189" cy="38404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68306" y="1298448"/>
            <a:ext cx="1666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eiryo"/>
                <a:cs typeface="Meiryo"/>
                <a:ea typeface="Meiryo"/>
              </a:rPr>
              <a:t>請求・入金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8034" y="1709928"/>
            <a:ext cx="14467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0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請求書
明細
入金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68306" y="2468880"/>
            <a:ext cx="1666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950" b="0" i="0">
                <a:solidFill>
                  <a:srgbClr val="BE185D"/>
                </a:solidFill>
                <a:latin typeface="Meiryo"/>
                <a:cs typeface="Meiryo"/>
                <a:ea typeface="Meiryo"/>
              </a:rPr>
              <a:t>第11章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2852928"/>
            <a:ext cx="11277295" cy="66167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2852928"/>
            <a:ext cx="68580" cy="66167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2971800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上の6つが業務の流れです。それぞれの段階で、その下に書いたシートに記録が生まれます。第3章以降は、この順番に沿って1つずつご確認いただきます。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730752"/>
            <a:ext cx="3712463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3730752"/>
            <a:ext cx="68580" cy="248716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3840480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流れの外にあるもの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" y="4142232"/>
            <a:ext cx="3337560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(第4章) — 全体で使う名簿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特性・相性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(第12章) — 割当を機械に手伝わせるための材料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システムの裏方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(第14章) — ログイン、通知先、締め日などの設定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2544" y="3730752"/>
            <a:ext cx="3712463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52544" y="3730752"/>
            <a:ext cx="68580" cy="24871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62855" y="3840480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現行(GAS版)との関係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62855" y="4142232"/>
            <a:ext cx="3337560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いま動いているのはスプレッドシートで作られた仕組みで、今回はその移行先です。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給与計算は</a:t>
            </a: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現行と1円も違ってはいけない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という条件で作っています。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移行の期間中は、スプレッドシートにも同じ内容を自動で書き写します。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47888" y="3730752"/>
            <a:ext cx="3712463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888" y="3730752"/>
            <a:ext cx="68580" cy="248716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3840480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できている範囲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142232"/>
            <a:ext cx="3337560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画面まで動く: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顧客・日報・事故報告・領収書・勤怠・クーポン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入れ物だけ: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カルテ・予約・請求・入金・相性・移動手当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「入れ物だけ」は、記録する場所は決めたが画面がまだ無い状態です。だからこそ、いまなら項目を変えやすい段階でもあります。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34枚のシートの地図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第2章 全体像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枠の中の数字は、この資料の章番号です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3712463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3712463" cy="310896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161288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第3-4章  お客様とスタッフ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9961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13432" y="149961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世帯構成員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7393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115568"/>
            <a:ext cx="3712463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115568"/>
            <a:ext cx="3712463" cy="310896"/>
          </a:xfrm>
          <a:prstGeom prst="rect">
            <a:avLst/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161288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BE185D"/>
                </a:solidFill>
                <a:latin typeface="Meiryo"/>
                <a:cs typeface="Meiryo"/>
                <a:ea typeface="Meiryo"/>
              </a:rPr>
              <a:t>第5章  顧客カルテ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149961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カルテ記載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5" y="149961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カルテ写真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115568"/>
            <a:ext cx="3712463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1115568"/>
            <a:ext cx="3712463" cy="310896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161288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第6章  予約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5" y="149961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サービスメニュー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19" y="149961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7615" y="177393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スタッフ割当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19" y="1773936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受付枠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2048256"/>
            <a:ext cx="3712463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2544" y="2048256"/>
            <a:ext cx="3712463" cy="310896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2093976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第7-8章  訪問の記録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243230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保育日報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5" y="243230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事故報告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270662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領収書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322576"/>
            <a:ext cx="3712463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322576"/>
            <a:ext cx="3712463" cy="310896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2368296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第9章  勤怠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270662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出勤簿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2322576"/>
            <a:ext cx="3712463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47888" y="2322576"/>
            <a:ext cx="3712463" cy="310896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2368296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C2410C"/>
                </a:solidFill>
                <a:latin typeface="Meiryo"/>
                <a:cs typeface="Meiryo"/>
                <a:ea typeface="Meiryo"/>
              </a:rPr>
              <a:t>第10章  割引クーポン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57615" y="270662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クーポン種別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04119" y="270662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顧客への配布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7615" y="2980944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使用記録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255264"/>
            <a:ext cx="3712463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255264"/>
            <a:ext cx="3712463" cy="310896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3300984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B91C1C"/>
                </a:solidFill>
                <a:latin typeface="Meiryo"/>
                <a:cs typeface="Meiryo"/>
                <a:ea typeface="Meiryo"/>
              </a:rPr>
              <a:t>第11章  請求と入金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63931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決済プロフィール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13432" y="363931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391363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請求明細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13432" y="391363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18795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決済通知の受信記録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2544" y="3255264"/>
            <a:ext cx="3712463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52544" y="3255264"/>
            <a:ext cx="3712463" cy="310896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59" y="3300984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第12章  相性と特性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62272" y="363931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特性項目マスタ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08775" y="363931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顧客の特性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62272" y="391363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スタッフの特性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08775" y="391363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相性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62272" y="418795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移動時間の見積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47888" y="3529584"/>
            <a:ext cx="3712463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47888" y="3529584"/>
            <a:ext cx="3712463" cy="310896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75904" y="3575304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第13章  移動と手当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57615" y="391363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手当の単価マスタ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04119" y="3913632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移動区間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47888" y="4462272"/>
            <a:ext cx="3712463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7888" y="4462272"/>
            <a:ext cx="3712463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4507992"/>
            <a:ext cx="34564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0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第14章  システムの裏方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57615" y="4846320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法人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19" y="4846320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暗号鍵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57615" y="5120640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ログインセッション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04119" y="5120640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パスワード再設定コード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57615" y="5394960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外部送信の待ち行列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04119" y="5394960"/>
            <a:ext cx="1691639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法人ごとの設定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9144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第3章-第14章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90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31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業務ごとに、記録する項目を確認する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4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各章は「記録している項目」→「確認していただきたいこと」の順で並びます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第3章 顧客と世帯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お客様の情報 — 予約・日報・請求のすべてがここに紐づく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493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利用世帯の代表者を1行で持ち、お子様など世帯の方は別シートに1人1行で持ちます。予約も日報も請求も、この顧客の行を指し示す形でつながります。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8690"/>
            <a:ext cx="11277295" cy="1140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18690"/>
            <a:ext cx="68580" cy="1140713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9184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顧客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1826" y="1791843"/>
            <a:ext cx="1396365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369A1"/>
                </a:solidFill>
                <a:latin typeface="Meiryo"/>
                <a:cs typeface="Meiryo"/>
                <a:ea typeface="Meiryo"/>
              </a:rPr>
              <a:t>1世帯(契約者)=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66162"/>
            <a:ext cx="10874959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取込元・取込元ID / 氏名・姓・名・姓かな・名かな / メール / 電話 / 住所(市区町村・以降の住所) / 駐車場所(エリア・詳細) / 緊急連絡先・続柄 / 避難場所 / メモ / 福利厚生の会員ID / 第2の住所と、その利用開始日・終了日 / 緯度・経度・元の表記 / 会員区分 / 会員状態 / 支払方法 / 支払状態 / 性別 / 年代 / 生年月日(日付・元の表記) / 登録日時 / 取込元の最終更新日時 / 退会日時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87420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87420"/>
            <a:ext cx="68580" cy="72161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60572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世帯構成員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family_members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7533" y="3060572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お子様など1人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34892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どの顧客の世帯か / 氏名 / 生年月日(日付・元の表記) / 付帯情報(自由記述)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第3章 顧客と世帯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21769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2176907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673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予約システム(RESERVA)のCSVを何度取り込んでも、同じ顧客が二重に増えない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生年月日は「日付」と「元の書き方」を別々に持つ。集計は日付側、原本確認は元の表記側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緯度・経度は数値で持ち、地球上にありえない値は登録できない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退会しても行は消さず、退会日時を入れる(過去の日報・請求から顧客が消えない)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21769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2176907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673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生年月日はCSVに列が無いため、カルテ画面からの手入力で入る想定(再取込では上書きしない)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会員区分・会員状態・支払方法・支払状態に入る値の一覧が未確定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5355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0453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7769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979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顧客に必要な項目で、この一覧に無いものはありませんか(住居形態、エレベーターの有無、ペット、鍵の受け渡し方法 など)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80453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87769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895979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保護者が2名いる世帯(共働き・別居・再婚など)をどう持つべきですか。現状は「顧客1行=代表者1名」です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2894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60209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2038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世帯構成員はお子様だけですか。祖父母・きょうだい・同居人を登録する運用はありますか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52894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460209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62038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転居の履歴を残す必要はありますか。現状は住所を上書きし、期間つきの第2住所を1つだけ持てます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3355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3265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4795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緊急連絡先は1件で足りますか(第2連絡先、勤務先、かかりつけ医 など)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5253355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8727" y="53265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5344795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会員区分・会員状態・支払方法・支払状態それぞれに、実際に使う選択肢を挙げてください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71007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584415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62447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退会したお客様の情報は、いつまで残す約束になっていますか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第4章 スタッフ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シッターと事務。ログインする人の情報でもある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493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スタッフは「業務上の人」であると同時に「システムにログインする人」です。1人1行で、認証まわりの情報も同じ行に持ちます。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8690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18690"/>
            <a:ext cx="68580" cy="9311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9184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スタッフ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0783" y="1791843"/>
            <a:ext cx="847407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F766E"/>
                </a:solidFill>
                <a:latin typeface="Meiryo"/>
                <a:cs typeface="Meiryo"/>
                <a:ea typeface="Meiryo"/>
              </a:rPr>
              <a:t>1人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66162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氏名 / メール(ログインID) / 電話 / 管理者かどうか / 退職日 / パスワード(復元できない形に変換して保存) / 旧システムのパスワード / 次回ログイン時にパスワード変更が必要か / ログイン失敗回数 / ロック解除の時刻 / 自宅住所 / 自宅の緯度・経度 / 希望する移動手段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第4章 スタッフ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7077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707769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204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パスワードは元に戻せない形に変換して保存する。管理者でも本人のパスワードは見られない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ログインを続けて失敗するとロックがかかる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退職しても行は消さず退職日を入れる(過去の日報・勤怠からスタッフが消えない)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7077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70776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204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自宅住所・緯度経度は訪問割当の最適化に使うために持っている項目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06217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5401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40855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684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雇用形態(正社員・パート・登録シッター など)の区別は必要ですか。現状は「管理者かどうか」だけです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335401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40855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2684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資格(保育士・看護師・研修修了 など)はどこで管理しますか。現状は第12章の「特性」で持つ想定です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5980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1329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51248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時給・給与区分・交通費の支給条件など、給与に関わる情報は誰がどこで持っていますか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05980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41329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151248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担当エリア、対応可能な曜日・時間帯はどこで管理しますか(受付枠は第6章にあります)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84217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85736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75657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入社日・研修履歴・保険加入状況などを残す必要はありますか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4784217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8727" y="485736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4875657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スタッフ本人の緊急連絡先は必要ですか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0186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537502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93309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退職者のログインはいつ止めますか。退職日が入ると自動で止まるべきですか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第5章 顧客カルテ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訪問前に必ず目を通す、そのお宅ごとの申し送り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鍵の場所・駐車の仕方・アレルギー・前回からの引き継ぎなど、「そのお宅に行く人が事前に知っておくべきこと」を1件1行で積み上げます。写真も添付できます。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9311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E185D"/>
                </a:solidFill>
                <a:latin typeface="Meiryo"/>
                <a:cs typeface="Meiryo"/>
                <a:ea typeface="Meiryo"/>
              </a:rPr>
              <a:t>カルテ記載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customer_notes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99483" y="201091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E185D"/>
                </a:solidFill>
                <a:latin typeface="Meiryo"/>
                <a:cs typeface="Meiryo"/>
                <a:ea typeface="Meiryo"/>
              </a:rPr>
              <a:t>記載1件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どの顧客か / 書いた人 / 区分(カルテ・申し送り・鍵の位置・ガレージ場所・引き継ぎ事項・注意点・その他) / 表題 / 本文 / 一覧の上部に固定するか / 対応済みにした日時 / 対応済みにした人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9694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96946"/>
            <a:ext cx="68580" cy="72161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009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カルテ写真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customer_note_photos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99483" y="307009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写真1枚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4441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どの記載への添付か / アップロードした人 / 画像の保存先キー / 画像の種類 / ファイルサイズ / キャプション / 表示順 / 撮影日時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第5章 顧客カルテ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7077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707769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204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「対応済みの日時」と「対応済みにした人」は必ず両方そろって入る(片方だけの行は作れない)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上部に固定した記載は一覧の先頭に出る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写真の実体は画像保管サービスに置き、データベースには置き場所だけを持つ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7077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70776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204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写真を画面で表示する仕組み(閲覧できる人の制限、表示用URLの有効期限)は未実装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経過記録(カルテ)は訪問のたびに増えるため、件数が他の区分より桁違いに多くなる見込み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06217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5401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40855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684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区分はこの7つで足りますか(カルテ・申し送り・鍵の位置・ガレージ場所・引き継ぎ事項・注意点・その他)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335401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40855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2684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アレルギー・持病・服薬は「注意点」に文章で書く形でよいですか。項目として独立させ、必ず埋める運用にすべきですか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5980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1329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51248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「対応済み」にできるのは誰ですか。管理者だけですか、書いた本人もできますか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05980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41329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151248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訪問前に必ず確認したことを記録に残す必要はありますか(確認漏れの証跡)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8421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85736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7565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カルテの内容をお客様にお見せすることはありますか。見せてよい記載と社内限定の記載を分けるべきですか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478421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8727" y="485736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487565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写真はどれくらいの期間残しますか。鍵の位置の写真を残すことに問題はありませんか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第6章 予約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「これから行く約束」— 実際に行った記録(日報)とは別に持つ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493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予約は約束、日報は実績です。片方しか無い状態(予約なしの緊急訪問、キャンセルで日報が無い予約)が普通に起きるため、あえて分けています。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8690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18690"/>
            <a:ext cx="68580" cy="721614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9184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サービスメニュー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service_menus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58183" y="1791843"/>
            <a:ext cx="1330007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メニュー1つ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66162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コード / 名称 / 説明 / 標準の所要時間(分) / 基本料金(円) / 有効かどうか / 表示順 / 取込元・取込元ID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8321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8321"/>
            <a:ext cx="68580" cy="9311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4147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予約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reservations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99483" y="2641473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47857"/>
                </a:solidFill>
                <a:latin typeface="Meiryo"/>
                <a:cs typeface="Meiryo"/>
                <a:ea typeface="Meiryo"/>
              </a:rPr>
              <a:t>予約1件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15793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どの顧客か / メニュー / 状態(申込・確定・実施済・キャンセル・無連絡不来訪) / 受付経路(RESERVA・Web・電話・管理者) / 開始日時 / 終了日時 / 人数 / 訪問先住所の上書き / ご要望 / 社内メモ / 確定日時 / 実施日時 / キャンセル日時・理由 / 取込元・取込元ID / 登録したスタッフ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7500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27500"/>
            <a:ext cx="68580" cy="72161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0065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スタッフ割当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reservation_assignments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37533" y="3700653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F766E"/>
                </a:solidFill>
                <a:latin typeface="Meiryo"/>
                <a:cs typeface="Meiryo"/>
                <a:ea typeface="Meiryo"/>
              </a:rPr>
              <a:t>予約×スタッフ = 1行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74972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どの予約か / どのスタッフか / 役割(主担当・同行) / 割当日時 / 解除日時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77131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77131"/>
            <a:ext cx="68580" cy="72161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5028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受付枠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staff_availabilities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0133" y="4550283"/>
            <a:ext cx="96805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枠1つ = 1行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24603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どのスタッフか / 種別(受付可・受付不可) / 曜日 または 特定の日付 / 開始時刻 / 終了時刻 / 備考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第6章 予約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26460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2646045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2143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1つの予約に主担当は1人まで。同行は人数制限なし(列を増やさずに何人でも足せる形)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キャンセル・無連絡不来訪にしたのにキャンセル日時が空、という行は作れない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RESERVAから何度取り込んでも、同じ予約が二重に入らない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受付枠は「毎週火曜9-17時は可」に「今週の火曜だけ不可」を重ねられる。重なったら「不可」が勝つ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1つの予約に日報が2件つくことはない(サービス提供分の二重請求を防ぐため)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26460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264604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2143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同じスタッフに時間が重なる予約を割り当てる操作を、システム側で止められていない(現状は画面で警告する想定。止め方を検討中)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予約の画面・APIは未実装。現在は入れ物(データの形)だけがある状態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44493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7367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34682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6511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状態はこの5つで足りますか(申込・確定・実施済・キャンセル・無連絡不来訪)。仮予約、日程変更待ち、当日延長などは必要ですか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427367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434682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36511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キャンセル料の規定はありますか。現状、キャンセル料を記録する場所がありません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98085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07123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89525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当日の時間延長はどう記録しますか。予約を書き換えますか、日報の実績だけで持ちますか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998085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507123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5089525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1回の訪問で複数メニュー(保育＋家事など)を頼まれる運用はありますか。現状は予約1件にメニュー1つです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第6章 予約 — ご確認のお願い(続き)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17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定期予約(毎週同じ曜日・時間)はどう登録する想定ですか。1件ずつ作りますか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4475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17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153619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同じスタッフの時間重複は、システムで絶対に止めるべきですか。警告だけ出して現場判断に任せてよいですか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69160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2423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60600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予約を受けてから確定するまでのフロー(誰が確定するか、締切は何日前か)を教えてください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第7章 訪問の記録(日報・事故報告)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実際に行ったことの記録。請求のもとにもなる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日報は1回の訪問につき1件。請求の「サービス提供分」はこの日報から起こします。事故・ヒヤリハットは別シートで、報告書の項目ごとに欄を分けて持ちます。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931164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保育日報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daily_reports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99483" y="201091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369A1"/>
                </a:solidFill>
                <a:latin typeface="Meiryo"/>
                <a:cs typeface="Meiryo"/>
                <a:ea typeface="Meiryo"/>
              </a:rPr>
              <a:t>訪問1回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担当スタッフ / 顧客 / 対応する予約(任意) / 実施日時 / 開始日時 / 終了日時 / リスク評価 / ES評価 / 入力内容 / 社内向けの記述 / お客様向けの記述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9694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96946"/>
            <a:ext cx="68580" cy="9311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009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91C1C"/>
                </a:solidFill>
                <a:latin typeface="Meiryo"/>
                <a:cs typeface="Meiryo"/>
                <a:ea typeface="Meiryo"/>
              </a:rPr>
              <a:t>事故報告・ヒヤリハット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accident_reports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99483" y="307009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91C1C"/>
                </a:solidFill>
                <a:latin typeface="Meiryo"/>
                <a:cs typeface="Meiryo"/>
                <a:ea typeface="Meiryo"/>
              </a:rPr>
              <a:t>報告1件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4441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担当スタッフ / 顧客 / 発生日 / 種別(事故・ヒヤリハット) / 対象児の氏名 / 対象児の生年月日(日付・元の表記) / 発生時刻 / 発生場所 / 事故の内容 / 発生時の状況 / 直後の対応 / 保護者への対応 / 診断・治療 / 再発防止策 / 入力内容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第7章 訪問の記録(日報・事故報告)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7077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707769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204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日報は項目ごとに欄が分かれているため、「この欄だけ集計する」ができる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開始・終了は日付と時刻を持つ型で記録する。文字列ではないので勤務時間の計算が確実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1つの予約に日報は1件まで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7077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70776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204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事故報告の承認(誰が確認したか)を記録する場所が現状ありません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06217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5401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40855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684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日報の項目はこれで足りますか。食事・睡眠・排泄・体温・機嫌などを定型の欄として持つ必要はありますか(現状は自由記述に含まれます)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335401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40855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2684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「リスク評価」「ES評価」はそれぞれ何を何段階で評価するものですか。値の範囲を確定させたいです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5980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1329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51248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事故報告の提出先・承認の流れを教えてください。「誰がいつ確認したか」を残す必要はありますか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059809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41329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151248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保護者への説明・サインの記録は必要ですか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4577461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8727" y="465061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4668900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日報のうち、お客様にお見せするのはどの欄ですか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8421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85736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7565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予約の無い緊急訪問はどれくらいありますか。日報だけが存在する形で問題ありませんか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509511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78727" y="51682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4487" y="518655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日報を後から訂正する運用はありますか。訂正前の内容を残す必要はありますか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第8章 領収書(実費の報告)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スタッフが立て替えた実費。お客様への請求か会社経費かを分ける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493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スタッフが現場で立て替えた実費を、レシート画像つきで登録します。「お客様に請求する分」と「会社の経費」を必ず区別します。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8690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18690"/>
            <a:ext cx="68580" cy="9311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9184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領収書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58183" y="1791843"/>
            <a:ext cx="1330007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レシート1枚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66162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登録したスタッフ / 顧客(会社経費のみの場合は空) / 領収書の日時 / 重複判定キー / 金額(数値・元の表記) / 店名 / 引き渡しメモ / レシート画像の保存先キー・種類 / 請求区分(お客様請求・会社経費) / 取消日時・取消理由・取り消した人 / 取り消し可能な期限 / スプレッドシート送信の状態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第8章 領収書(実費の報告)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244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244348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94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請求区分の初期値は「会社経費」。選び忘れても、うっかりお客様に請求してしまう方には転ばない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顧客に紐づかない領収書(駐車場代など)は、お客様請求にできない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同じレシートを二重に登録しようとすると重複として検出する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訂正は「書き換え」ではなく「取り消して登録し直す」。取り消した行も消えずに残る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取り消せる期限は、締め日と猶予日数(法人ごとの設定)から自動で決まる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244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2443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94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締め日・取り消し可能日数の実際の運用値が未確定(現在は設定できる形だけがある)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192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71112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1442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2552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締め日は毎月何日ですか。締め後、何日まで取り消しを認めますか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407111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41442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16255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請求区分は2つで足りますか。経費の科目(交通費・物品・飲食 など)を分ける必要はありますか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88764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66191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0204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立替の上限金額や事前承認のルールはありますか。現状、承認の記録を持つ場所がありません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795520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48686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4886960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レシート画像はどれくらいの期間保存する必要がありますか(会計・税務の要件)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1317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3863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0461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同じ店・同じ金額の買い物が同日に2回あった場合、重複と誤判定されない運用になっていますか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5519928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8727" y="55930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5611368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取り消しは誰ができますか。本人だけですか、管理者だけですか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第9章 勤怠(出勤簿)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給与計算のもと。現行システムと1円も違ってはいけない部分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1人1日を1行で持ちます。1日の中の訪問・事務作業・移動距離を、その1行の中にまとめて記録します。残業時間などの計算結果は保存せず、必要なときに計算します。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72161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出勤簿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attendance_days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0526" y="2010918"/>
            <a:ext cx="1637665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F766E"/>
                </a:solidFill>
                <a:latin typeface="Meiryo"/>
                <a:cs typeface="Meiryo"/>
                <a:ea typeface="Meiryo"/>
              </a:rPr>
              <a:t>スタッフ1人の1日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 / 営業日 / 1日分の入力内容(下記)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739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7396"/>
            <a:ext cx="68580" cy="9311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6054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  └ 1日分の入力内容の中身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row_data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61663" y="2860548"/>
            <a:ext cx="142652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出勤簿1行の中に入る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3486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訪問(最大3件): 場所・開始・終了・移動後の天候・予定移動時間・移動距離 / 事務作業(最大2件): 名称・開始・終了 / 出勤距離(自宅→1件目) / 退勤距離(最終訪問→自宅) / 買物代行の件数 / 備考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第9章 勤怠(出勤簿)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7717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771777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2688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同じスタッフ・同じ営業日の出勤簿が2件できることはない(1人1日1行)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残業時間などの計算結果は保存しない。計算式を直せば過去分も正しくなる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分・距離・件数は数値として持つ。マイナスの値は入らない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想定していない項目を送ろうとすると、黙って捨てずにエラーにする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7717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771777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2688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訪問3件・事務作業2件の上限は、現行システムの計算ロジックに合わせた現状の制限。4件以上に対応するには作りの変更が必要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移動距離は、第13章の「移動区間」とも重なる。移行の段取りが未確定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70225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99409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4725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90849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1日に4件以上訪問する日はありますか。あるなら上限を外す作業が必要です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399409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47256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90849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休憩時間の記録が項目にありません。給与計算に必要ですか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917061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8727" y="399021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008501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有給・欠勤・直行直帰・待機はどう記録していますか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23817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19696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15257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深夜・早朝・休日の割増はありますか。あるなら判定に必要な情報は揃っていますか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4434713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8727" y="450786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4526153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「移動後の天候」は何に使う項目ですか。手当の判定に関係しますか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48225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92137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39665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出勤簿は誰が承認しますか。承認の記録を残す必要はありますか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第10章 割引クーポン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誰に・いつ・何回使えるかを3つの設定で表す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クーポンは「種別のマスタ」「誰に配ったか」「いつ使ったか」の3枚に分けて持ちます。過去に使った分の割引額は、後からマスタを変えても動きません。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9311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E185D"/>
                </a:solidFill>
                <a:latin typeface="Meiryo"/>
                <a:cs typeface="Meiryo"/>
                <a:ea typeface="Meiryo"/>
              </a:rPr>
              <a:t>クーポン種別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coupons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37533" y="2010918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E185D"/>
                </a:solidFill>
                <a:latin typeface="Meiryo"/>
                <a:cs typeface="Meiryo"/>
                <a:ea typeface="Meiryo"/>
              </a:rPr>
              <a:t>クーポン1種類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コード / 名称 / 割引方法(金額引き・率引き) / 割引額 または 割引率 / 有効期間(開始・終了) / 対象(全員・配布した人のみ) / 条件(手動・誕生月) / 誕生月の対象(顧客・世帯構成員・どちらでも) / 使用上限(無制限・1人1回・1人年1回) / 有効かどうか / 備考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9694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96946"/>
            <a:ext cx="68580" cy="72161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009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顧客への配布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customer_coupons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7533" y="3070098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顧客×クーポン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4441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どの顧客に / どのクーポンを / その顧客だけの有効期間 / 備考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657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6576"/>
            <a:ext cx="68580" cy="9311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91972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使用記録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coupon_redemptions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6883" y="3919728"/>
            <a:ext cx="1571307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47857"/>
                </a:solidFill>
                <a:latin typeface="Meiryo"/>
                <a:cs typeface="Meiryo"/>
                <a:ea typeface="Meiryo"/>
              </a:rPr>
              <a:t>日報1件への適用 = 1行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19404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どの日報に / どの顧客が / どのクーポンを / 適用日時 / 適用時点の割引方法・割引額・割引率(控えとして保存) / 上限判定のキー / 誕生月の対象者の氏名・生年月日 / 備考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第10章 割引クーポン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7295" cy="15692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56921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109481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10902391" cy="1066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同じ日報に同じクーポンを2回は適用できない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「1人1回」「1人年1回」の上限は、システム側で必ず守られる(画面のチェック漏れでも通らない)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クーポンの内容を後から変えても、過去に使った分の割引額は変わらない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廃止するときは行を消さず「無効」にする(過去の使用記録が宙に浮かない)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76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96844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699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88284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割引の種類はこれで足りますか(初回限定、ご紹介、回数券、延長無料 など)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3196844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32699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87" y="3288284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1回の訪問で複数のクーポンを併用できますか。現状は「同じクーポンの二重適用のみ禁止」です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2125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9944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1269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使用上限は「無制限・1人1回・1人年1回」で足りますか(1人月1回、全体で先着◯名 など)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392125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8727" y="39944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012691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誕生月クーポンの対象はどなたの誕生日ですか(契約者・お子様・どちらでも)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45660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7188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37100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自治体の助成・企業の福利厚生による割引は、クーポンとして扱いますか。別の仕組み(請求先が違う)として扱うべきですか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4645660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8727" y="47188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4487" y="4737100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クーポンを配る・取り消すのは誰ができますか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第11章 請求と入金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日報・領収書・クーポンから請求書を起こし、入金を消し込む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493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請求書は「1顧客・1請求期間につき1枚」。明細の1行1行が、どの日報・どの領収書・どのクーポンから起きたのかを指し示します。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8690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18690"/>
            <a:ext cx="68580" cy="72161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9184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決済プロフィール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customer_payment_profiles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20133" y="1791843"/>
            <a:ext cx="96805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1顧客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66162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どの顧客か / 決済代行(Stripe)側の顧客ID / 既定の支払方法ID / カードブランド / カード番号の下4桁  ※カード番号そのものは保存しない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8321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8321"/>
            <a:ext cx="68580" cy="931164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4147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請求書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invoices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833" y="2641473"/>
            <a:ext cx="1209357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369A1"/>
                </a:solidFill>
                <a:latin typeface="Meiryo"/>
                <a:cs typeface="Meiryo"/>
                <a:ea typeface="Meiryo"/>
              </a:rPr>
              <a:t>請求書1枚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15793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 / 請求書番号 / 状態(下書き・送付済・入金済・取消・回収不能) / 請求期間(開始・終了) / 小計 / 割引額 / 消費税額 / 合計 / 支払期限 / 発行日時 / 入金日時 / 取消日時 / 決済代行側の請求書ID / 備考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7500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27500"/>
            <a:ext cx="68580" cy="9311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0065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請求明細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invoice_lines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99483" y="3700653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47857"/>
                </a:solidFill>
                <a:latin typeface="Meiryo"/>
                <a:cs typeface="Meiryo"/>
                <a:ea typeface="Meiryo"/>
              </a:rPr>
              <a:t>明細1行 = 1行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74972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どの請求書の / 何行目か / 種別(サービス提供・立替実費・移動手当・クーポン割引・調整) / 内容 / 数量 / 単価 / 金額 / 根拠(日報・領収書・クーポン使用記録) / 差し替え日時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86681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86681"/>
            <a:ext cx="68580" cy="9311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759833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入金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payments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9483" y="4759833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F766E"/>
                </a:solidFill>
                <a:latin typeface="Meiryo"/>
                <a:cs typeface="Meiryo"/>
                <a:ea typeface="Meiryo"/>
              </a:rPr>
              <a:t>入金1件 = 1行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034153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 / 請求書 / 状態 / 手段(カード・コンビニ・銀行振込・現地現金) / 通貨(日本円のみ) / 金額 / 返金済み額 / 決済代行側のID / 失敗コード・失敗理由 / 入金日時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第11章 請求と入金(続き)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記録している項目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72161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88720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決済通知の受信記録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stripe_webhook_events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99483" y="1188720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45309"/>
                </a:solidFill>
                <a:latin typeface="Meiryo"/>
                <a:cs typeface="Meiryo"/>
                <a:ea typeface="Meiryo"/>
              </a:rPr>
              <a:t>通知1件 = 1行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63040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決済代行側のイベントID / 種類 / 受信日時 / 処理日時 / 処理エラー / 通知の中身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第11章 請求と入金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244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244348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94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「合計 = 小計 − 割引 + 税」が合わない請求書は登録できない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同じ領収書・同じクーポン使用が、有効な明細に2回載ることはない(二重請求の防止)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誤請求は金額を0にせず「取消」の状態にして、作り直す。何を取り消したかが残る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返金額が元の決済額を超えることはできない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カード番号・有効期限はこのシステムには保存しない(決済代行側だけが持つ)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244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2443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94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請求・決済の画面とAPIは未実装。現在は入れ物だけがある状態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自治体助成・企業の福利厚生など「請求先がお客様本人ではない」ケースを表現できていない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お客様にお渡しする正式な領収書の発行記録を持つ場所がない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192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7111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1442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255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請求のサイクルを教えてください(月末締め翌月◯日払い、都度請求、前払い など)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4071112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41442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162552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請求書番号の付け方に決まりはありますか(年度・連番・枝番)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4588764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8727" y="466191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680204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消費税はどう扱いますか。税率、内税か外税か、非課税のサービスはありますか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95520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8686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86960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支払期限の既定値は何日後ですか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13172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3863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04612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未入金の督促(いつ・誰に・何回連絡したか)を記録する必要はありますか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531317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8727" y="53863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487" y="540461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自治体の助成や企業の福利厚生で、請求先がお客様以外になるケースはありますか。その場合、誰に何を請求しますか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第11章 請求と入金 — ご確認のお願い(続き)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17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分割払い・前払い(回数券・チケット制)はありますか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4475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17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153619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お客様にお渡しする領収書は誰がいつ発行しますか。控えを残す必要はありますか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第12章 相性と特性(訪問割当の最適化)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「誰をどのお宅に行かせるか」を機械に手伝わせるための材料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見る項目そのもの(資格・喫煙・ペット・お子様の年齢…)を後から足せるように、「項目のマスタ」と「その値」を分けて持っています。何を見るかはこれから決める段階です。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9311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特性項目マスタ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trait_definitions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58183" y="2010918"/>
            <a:ext cx="1330007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D28D9"/>
                </a:solidFill>
                <a:latin typeface="Meiryo"/>
                <a:cs typeface="Meiryo"/>
                <a:ea typeface="Meiryo"/>
              </a:rPr>
              <a:t>見る項目1つ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対象(顧客・スタッフ) / コード / 名称 / 説明 / 値の種類(はい/いいえ・段階・数値・選択肢・自由記述) / 段階の下限・上限 / 選択肢 / 一致したときの重み / 有効かどうか / 表示順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9694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96946"/>
            <a:ext cx="68580" cy="721614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009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顧客の特性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customer_traits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833" y="3070098"/>
            <a:ext cx="1209357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369A1"/>
                </a:solidFill>
                <a:latin typeface="Meiryo"/>
                <a:cs typeface="Meiryo"/>
                <a:ea typeface="Meiryo"/>
              </a:rPr>
              <a:t>顧客×項目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4441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 / どの項目か / 値(はい/いいえ・数値・文字のいずれか1つ) / 備考 / 記録者 / 記録日時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657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6576"/>
            <a:ext cx="68580" cy="72161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91972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スタッフの特性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staff_traits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37533" y="3919728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F766E"/>
                </a:solidFill>
                <a:latin typeface="Meiryo"/>
                <a:cs typeface="Meiryo"/>
                <a:ea typeface="Meiryo"/>
              </a:rPr>
              <a:t>スタッフ×項目 = 1行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19404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 / どの項目か / 値(はい/いいえ・数値・文字のいずれか1つ) / 備考 / 記録者 / 記録日時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9620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96206"/>
            <a:ext cx="68580" cy="72161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76935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E185D"/>
                </a:solidFill>
                <a:latin typeface="Meiryo"/>
                <a:cs typeface="Meiryo"/>
                <a:ea typeface="Meiryo"/>
              </a:rPr>
              <a:t>相性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staff_customer_compatibilities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37533" y="4769358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E185D"/>
                </a:solidFill>
                <a:latin typeface="Meiryo"/>
                <a:cs typeface="Meiryo"/>
                <a:ea typeface="Meiryo"/>
              </a:rPr>
              <a:t>スタッフ×顧客 = 1行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04367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 / 顧客 / 相性スコア / 絶対に組ませないか / 理由 / 根拠(人が入力・自動算出) / 評価者 / 評価日時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第12章 相性と特性(訪問割当の最適化)(続き)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記録している項目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72161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88720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移動時間の見積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staff_customer_travel_estimates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8576" y="1188720"/>
            <a:ext cx="1999615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スタッフ×顧客×移動手段 = 1行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63040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 / 顧客 / 移動手段 / 距離(m) / 所要時間(分) / 算出元(地図サービス・直線距離・手入力) / 算出日時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第12章 相性と特性(訪問割当の最適化)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505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50520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002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「絶対に組ませない」を立てた行は、理由を空欄にできない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顧客用の項目をスタッフ側に間違って使う、といった取り違えができない形にしてある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実測値として手入力した移動時間は、自動計算で上書きしない方針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505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5052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002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何を見て割り当てるか(項目の一覧)がまだ決まっていない。この章はそのヒアリング用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「いつ・どの重みで・誰を割り当てたか」という割当結果そのものを残すかどうかは未決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0365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32836"/>
            <a:ext cx="5547207" cy="821435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059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24276"/>
            <a:ext cx="4980279" cy="6751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実際に割当を決めるとき、何を見て決めていますか。思いつくままに挙げてください(資格、性別、年齢、車の有無、喫煙、ペットへの対応、お子様の年齢、言語、過去の担当実績 など)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132836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2059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224276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「このスタッフはこのお宅には行かせない」という判断は実際にありますか。登録・解除は誰ができるべきですか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857244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8727" y="39303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3948684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相性の点数は誰がつけますか。お客様からの評価を反映しますか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64000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1371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55440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「同じ人に来てほしい」という継続の希望はどこで表しますか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4374896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8727" y="44480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4466336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移動時間の見積は、自宅発着で足りますか。前の訪問先からの移動も必要ですか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81652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6548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73092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割り当てた理由の記録は必要ですか(後から「なぜこの人だったのか」を説明する場面はありますか)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第13章 移動と手当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自動車・公共交通・自転車・徒歩。手段ごとに計算方法が違う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手当の単価を「マスタ」に持ち、実際の移動を「区間」で1本ずつ記録します。自動車だけを前提にしていた現行システムを、他の手段にも広げる形です。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9311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手当の単価マスタ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transport_allowance_rules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833" y="2010918"/>
            <a:ext cx="1209357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B45309"/>
                </a:solidFill>
                <a:latin typeface="Meiryo"/>
                <a:cs typeface="Meiryo"/>
                <a:ea typeface="Meiryo"/>
              </a:rPr>
              <a:t>手段×期間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移動手段(自動車・公共交通・自転車・徒歩) / 計算方法(km単価・1回定額・1日定額・実費) / 単価 / 下限額 / 上限額 / 適用開始日 / 適用終了日 / 有効かどうか / 備考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96946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96946"/>
            <a:ext cx="68580" cy="9311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009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F766E"/>
                </a:solidFill>
                <a:latin typeface="Meiryo"/>
                <a:cs typeface="Meiryo"/>
                <a:ea typeface="Meiryo"/>
              </a:rPr>
              <a:t>移動区間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travel_legs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99483" y="307009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F766E"/>
                </a:solidFill>
                <a:latin typeface="Meiryo"/>
                <a:cs typeface="Meiryo"/>
                <a:ea typeface="Meiryo"/>
              </a:rPr>
              <a:t>移動1本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44418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 / 営業日 / その日の何本目か / 区間の種別(出勤・訪問へ・訪問間・退勤) / 移動手段 / 出発地 / 到着地 / 到着先の顧客 / 対応する日報 / 距離(m) / 所要時間(分) / 実費(交通費) / 手当額 / 適用した単価規則 / 備考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第13章 移動と手当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505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50520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002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手当額と「どの規則で計算したか」は必ず対で入る(あとから根拠をたどれる)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計算方法と単価の組み合わせが矛盾する規則は登録できない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単価を改定しても、過去に計算済みの手当額は動かない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505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5052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002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「1日あたり定額」の手当を、区間ごとの行のどこに載せるかが未決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単価マスタの有効期間が重なる登録を、システム側で止められていない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勤怠(第9章)にも距離があり、当面は二重に存在する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0365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32836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059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24276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実際の移動手当の規程を教えてください(手段ごとの単価・上限・支給条件)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132836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2059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224276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自家用車の駐車場代・高速代はどう扱いますか。手当に含みますか、実費精算ですか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57244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9303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48684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公共交通の定期券区間はどう扱いますか。定期券の有無をシステムで持つ必要はありますか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3857244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39303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3948684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距離は実走距離ですか、地図上の距離ですか。誰が入力しますか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4374896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8727" y="44480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4466336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「1日あたり定額」の手当はありますか。ある場合、どういう日に付きますか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81652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6548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73092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自転車・徒歩にも手当は出ますか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第14章 システムの裏方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業務担当の方が直接触ることはない、動かすための土台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0820095" cy="712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直接の業務データではありませんが、「抜けが無いか」の確認対象として一覧に入れます。特に一番下の「法人ごとの設定」は、実務の運用値が入る場所です。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776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37766"/>
            <a:ext cx="68580" cy="72161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091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法人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tenants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99483" y="201091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法人1社 = 1行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523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法人名 / URLに使う識別子 / 登録日時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739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7396"/>
            <a:ext cx="68580" cy="72161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6054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暗号鍵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tenant_keys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7533" y="2860548"/>
            <a:ext cx="1450657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法人×鍵の世代 = 1行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3486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法人 / 鍵の世代 / 包んだ鍵 / 上位鍵の世代 / 失効日時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3702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37026"/>
            <a:ext cx="68580" cy="72161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1017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ログインセッション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58183" y="3710178"/>
            <a:ext cx="1330007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ログイン1回 = 1行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8449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法人 / スタッフ / 合言葉の照合用の値 / 有効期限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665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6656"/>
            <a:ext cx="68580" cy="72161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5980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パスワード再設定コード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password_reset_codes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9483" y="455980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4748B"/>
                </a:solidFill>
                <a:latin typeface="Meiryo"/>
                <a:cs typeface="Meiryo"/>
                <a:ea typeface="Meiryo"/>
              </a:rPr>
              <a:t>発行1回 = 1行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3412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スタッフ / 照合用の値 / 有効期限(30分) / 使用済み日時 / 誤入力回数(5回で無効)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36286"/>
            <a:ext cx="11277295" cy="72161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36286"/>
            <a:ext cx="68580" cy="72161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409438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外部送信の待ち行列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outbox_jobs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99483" y="5409438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64748B"/>
                </a:solidFill>
                <a:latin typeface="Meiryo"/>
                <a:cs typeface="Meiryo"/>
                <a:ea typeface="Meiryo"/>
              </a:rPr>
              <a:t>送信1件 = 1行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83758"/>
            <a:ext cx="10874959" cy="30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種類 / 対象 / 重複防止キー / 状態 / 試行回数 / 直近のエラー / 次回試行時刻 / 完了日時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第14章 システムの裏方(続き)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記録している項目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この一覧に無いものは、いまのままでは記録できません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77295" cy="9311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931164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88720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法人ごとの設定</a:t>
            </a:r>
            <a:r>
              <a:rPr sz="950" b="0" i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app_settings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99483" y="1188720"/>
            <a:ext cx="1088707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950" b="1">
                <a:solidFill>
                  <a:srgbClr val="0369A1"/>
                </a:solidFill>
                <a:latin typeface="Meiryo"/>
                <a:cs typeface="Meiryo"/>
                <a:ea typeface="Meiryo"/>
              </a:rPr>
              <a:t>法人1社 = 1行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63040"/>
            <a:ext cx="10874959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AI(Gemini)のAPIキー ※暗号化 / 使用するAIモデル(日報用・読み取り用) / チャット通知先(日報用・領収書用) ※暗号化 / 領収書の締め日 / 領収書の取り消し可能日数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第14章 システムの裏方 — ご確認のお願い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ご回答は「これで問題ない」の一言でも構いません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547207" cy="1505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150520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自動で守られること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172303" cy="10022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パスワード・再設定コードは、元に戻せない形に変換して保存する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APIキーと通知先URLだけは、データベースの中でも別途暗号化する</a:t>
            </a:r>
          </a:p>
          <a:p>
            <a:pPr marL="182880" indent="-182880">
              <a:lnSpc>
                <a:spcPct val="145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スプレッドシートへの写しは失敗しても自動で再試行し、8回失敗した分だけ別に溜める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115568"/>
            <a:ext cx="5547207" cy="1505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115568"/>
            <a:ext cx="68580" cy="15052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1225295"/>
            <a:ext cx="52180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まだ決まっていないこと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1527048"/>
            <a:ext cx="5172303" cy="10022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5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本番環境はまだ用意していない(保存時の暗号化・バックアップは本番構築時に設定)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0365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確認していただきたいこと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32836"/>
            <a:ext cx="5547207" cy="6146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059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24276"/>
            <a:ext cx="4980279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スプレッドシートへの写しは、いつまで続けますか。並行運用の終了時期の目安はありますか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132836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32059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224276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AIによる日報の下書き・領収書の読み取りは、どこまで使う想定ですか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650488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8727" y="372363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3741928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チャット通知の宛先(日報用・領収書用)はそれぞれどのグループですか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57244"/>
            <a:ext cx="5547207" cy="40792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9303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05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48684"/>
            <a:ext cx="4980279" cy="2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管理者ができることの範囲を決める必要があります(誰が何を見られるか)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9144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第15章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90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31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全体で守っている決めごと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4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どの章にも共通してかかっているルールです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34枚すべてに共通する7つの決めごと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第15章 全体の決めごと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68580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金額は「円の整数」で持つ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216152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1円未満を持ちません。消費税の端数処理は決めた場所で1回だけ行い、Excelの表示桁で誤差が出るようなことは起きません。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73936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73936"/>
            <a:ext cx="68580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日付・時刻は「日付として」持つ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874519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「2026/4/1」という文字ではなく日付そのものとして記録します。月またぎの集計や、勤務時間の計算が確実になります。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3230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32304"/>
            <a:ext cx="68580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消さずに「取り消し」を記録する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532888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領収書・請求書・予約は、訂正しても行を消しません。取り消しの印と理由を残します。「あったはずのものが痕跡なく消える」状態を作りません。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90672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90672"/>
            <a:ext cx="68580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2369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過去の金額は後から動かない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191256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クーポンの割引率や移動手当の単価を改定しても、すでに適用済みの金額は変わりません。適用した時点の条件を控えとして残しているためです。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68580" cy="5669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953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登録日時・更新日時が自動で入る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849624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入力する人が意識しなくても、いつ作られ、いつ直されたかが必ず残ります。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07407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07407"/>
            <a:ext cx="68580" cy="5669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537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法人ごとに完全に分かれている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507992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1つのシステムで複数の法人が使えますが、他法人のデータは見えません。画面の作りではなく、データの置き場所そのもので分けています。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65775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65775"/>
            <a:ext cx="6858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21207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パスワードは元に戻せない形で保存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166359"/>
            <a:ext cx="75282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管理者でも本人のパスワードを見ることはできません。万一データが流出しても、そのままログインには使えません。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「消さない」「後から動かない」が効く場面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第15章 全体の決めごと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実務でいちばん影響が出る2つの決めごとです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5632704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68580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例1 — 領収書を間違えて登録した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5257800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Excelなら: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その行を消して入れ直す。誰が何を消したかは残らない。</a:t>
            </a:r>
          </a:p>
          <a:p>
            <a:pPr marL="182880" indent="-182880">
              <a:lnSpc>
                <a:spcPct val="14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このシステム: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取り消しの印・理由・取り消した人を記録したうえで、新しい行を登録する。集計からは外れるが、履歴としては残る。</a:t>
            </a:r>
          </a:p>
          <a:p>
            <a:pPr marL="182880" indent="-182880">
              <a:lnSpc>
                <a:spcPct val="14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効いてくる場面: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月次の締め後に金額が合わないとき、何がどう直されたかを追える。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115568"/>
            <a:ext cx="5632704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115568"/>
            <a:ext cx="68580" cy="2286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22529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例2 — クーポンの割引率を変えた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527048"/>
            <a:ext cx="5257800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4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Excelなら: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割引率のセルを直すと、それを参照している過去の請求額まで変わってしまうことがある。</a:t>
            </a:r>
          </a:p>
          <a:p>
            <a:pPr marL="182880" indent="-182880">
              <a:lnSpc>
                <a:spcPct val="14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このシステム: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使った時点の割引率を、使用記録の側に控えとして持つ。マスタを直しても過去の請求額は1円も動かない。</a:t>
            </a:r>
          </a:p>
          <a:p>
            <a:pPr marL="182880" indent="-182880">
              <a:lnSpc>
                <a:spcPct val="14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効いてくる場面: 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値上げ・料金改定のたびに過去分を確認し直す必要がない。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11880"/>
            <a:ext cx="11277295" cy="90855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68580" cy="90855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0332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ご確認いただきたいこと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77640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この「消さない」方針により、取り消した領収書や取り消した請求書が一覧に残り続けます(グレー表示で、集計からは外れます)。実務上、一覧が見づらくなるようであれば、既定で非表示にするなどの調整ができます。現場の感覚として、どちらが使いやすいかお聞かせくださ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77295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68580" cy="13716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956048"/>
            <a:ext cx="109481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「後から動かない」の副作用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257800"/>
            <a:ext cx="10902391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料金やクーポンの内容を直しても、過去分には反映されません。「過去にさかのぼって正しい金額に直したい」という場面があるなら、それは訂正の請求書を作る運用になります。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そうした遡及訂正が実務で発生するかどうか、あるとすれば年に何回くらいかを教えてください。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9144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第16章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90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31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まだ決まっていないこと・作りかけのこと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4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ご意見をいただきたい箇所を、章をまたいで一覧にしました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業務の決めごととして、ご判断いただきたいこと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第16章 まだ決まっていないこと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技術的な検討課題は別資料(doc/12)にまとめてあり、ここには含めていません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15568"/>
          <a:ext cx="11277294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797"/>
                <a:gridCol w="6202512"/>
                <a:gridCol w="4228985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章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決まっていないこと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決まらないと困ること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第3章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会員区分・会員状態・支払方法・支払状態に入る値の一覧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どれにも当てはまらない顧客が出る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第6章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同じスタッフの時間が重なる予約を、止めるか警告だけにするか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ダブルブッキングが起きる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第6章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キャンセル料の規定と、その記録場所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キャンセル料を請求できない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第7章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「リスク評価」「ES評価」の意味と段階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入力する人によって基準がばらつく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第8章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領収書の締め日と、取り消しを認める日数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締め後の訂正の可否が現場で判断できない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第9章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1日4件以上の訪問があるか(現状は3件まで)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4件目が記録できず給与に反映されない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第10章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クーポンの併用可否と、使用上限の単位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想定外の割引が通ってしまう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第11章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請求サイクル・消費税の扱い・請求書番号の付け方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請求書が発行できない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第11章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自治体助成・企業の福利厚生で請求先がお客様以外になるケース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その分の請求ができない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第12章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割当を決めるときに実際に見ている条件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自動割当の材料が揃わない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第13章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移動手当の規程(手段ごとの単価・上限・支給条件)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10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手当が計算できない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559552"/>
            <a:ext cx="11277295" cy="66167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559552"/>
            <a:ext cx="68580" cy="661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678424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上の11件は、いずれも「業務の決めごと」であって、システムの都合ではありません。決まり次第、そのとおりに作ります。現時点で決まっているものがあれば教えてください。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作りかけのもの(入れ物はあるが画面が無い)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第16章 まだ決まっていないこと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5632704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68580" cy="21031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2529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画面まで動くもの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52578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顧客・世帯構成員の登録と一覧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保育日報・事故報告の登録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領収書(実費報告)の登録・一覧・取り消し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勤怠(出勤簿)の入力と月次集計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割引クーポンの登録・配布・適用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115568"/>
            <a:ext cx="5632704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115568"/>
            <a:ext cx="68580" cy="2103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22529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記録する場所だけ決めてあるもの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527048"/>
            <a:ext cx="52578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顧客カルテ(写真の表示のしくみが未実装)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予約・サービスメニュー・スタッフ割当・受付枠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請求書・請求明細・入金・決済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特性・相性・移動時間の見積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移動手当の単価マスタ・移動区間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29000"/>
            <a:ext cx="11277295" cy="11159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68580" cy="111594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2044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「作りかけ」だからこそ、いま見ていただきたい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94760"/>
            <a:ext cx="10874959" cy="658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右側の項目は、記録する場所(シートと見出し)だけを先に決めた状態です。画面も無く、データも1件も入っていないので、「この項目は要らない」「この項目が足りない」というご指摘を、いま反映するのがいちばん安く済みます。
逆に、左側の「画面まで動くもの」も本番運用はまだ始めていないため、同じく変更できます。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92040"/>
            <a:ext cx="11277295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68580" cy="13258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001768"/>
            <a:ext cx="109481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本番環境について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303520"/>
            <a:ext cx="10902391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本番のサーバー・データベースはまだ用意していません。バックアップ・保存時の暗号化・アクセス権限の設定は、本番を作るときにまとめて行います。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現在動いているのは、開発用の環境と、動きを見ていただくための公開デモだけです。デモには実在するお客様の情報は入っていません。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9144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697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第17章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90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31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ご確認の進め方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4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お手数をおかけしますが、よろしくお願いいたします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ご確認の進め方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第17章 ご確認の進め方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772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68580" cy="74980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12984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40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234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ご自身の担当業務の章から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499616"/>
            <a:ext cx="1027145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全部を通して見る必要はありません。日々触っている業務の章(受付なら第6章、締めなら第8・9・11章)だけでも十分です。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93391"/>
            <a:ext cx="112772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93391"/>
            <a:ext cx="68580" cy="74980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2176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40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2112263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「記録している項目」を見て、足りないものを挙げる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377439"/>
            <a:ext cx="1027145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Excelの見出し行を見るつもりでご覧ください。「この項目が無いと困る」が1つでもあれば、それが一番ありがたいご指摘です。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71215"/>
            <a:ext cx="112772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71215"/>
            <a:ext cx="68580" cy="7498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540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40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2990087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「確認していただきたいこと」に答える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255263"/>
            <a:ext cx="1027145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質問の形で並べています。「これで問題ない」の一言でも構いません。分からない・判断できないものは飛ばしてください。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39"/>
            <a:ext cx="112772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68580" cy="7498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18288" bIns="18288"/>
          <a:lstStyle/>
          <a:p>
            <a:pPr algn="ctr">
              <a:lnSpc>
                <a:spcPct val="116000"/>
              </a:lnSpc>
              <a:buNone/>
            </a:pPr>
            <a:r>
              <a:rPr sz="1400" b="1">
                <a:solidFill>
                  <a:srgbClr val="FFFFFF"/>
                </a:solidFill>
                <a:latin typeface="Meiryo"/>
                <a:cs typeface="Meiryo"/>
                <a:ea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867911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気になったことは何でも書き添える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133087"/>
            <a:ext cx="1027145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110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「そもそもこの業務はこうではない」といった前提のズレのご指摘が、いちばん大きな手戻りを防ぎます。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45151"/>
            <a:ext cx="11277295" cy="90855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45151"/>
            <a:ext cx="68580" cy="90855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36591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B45309"/>
                </a:solidFill>
                <a:latin typeface="Meiryo"/>
                <a:cs typeface="Meiryo"/>
                <a:ea typeface="Meiryo"/>
              </a:rPr>
              <a:t>優先してご確認いただきたい章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10912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時間が限られている場合は、第6章(予約)・第8章(領収書)・第11章(請求と入金)・第13章(移動と手当)の4つを優先してください。この4つは、決まっていないことが多く、かつ金額に直結するため、後から直すときの影響がいちばん大きい箇所です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ご回答の書き方(例)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第17章 ご確認の進め方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190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9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形式は問いません。メール・チャット・この資料への書き込み、どれでも構いません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50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15568"/>
          <a:ext cx="11277294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05"/>
                <a:gridCol w="1756300"/>
                <a:gridCol w="7672258"/>
                <a:gridCol w="831931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章・ページ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対象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ご指摘・ご回答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急ぎ度</a:t>
                      </a:r>
                    </a:p>
                  </a:txBody>
                  <a:tcPr marL="64008" marR="64008" marT="27432" marB="27432" anchor="ctr">
                    <a:solidFill>
                      <a:srgbClr val="E2E8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第3章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顧客の項目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「鍵の受け渡し方法」が必要。宅配ボックス・キーボックス・手渡しの3種類がある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第6章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予約の状態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「仮予約」が必要。電話で押さえてから正式確定まで2〜3日空くことがある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高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第8章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締め日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締めは毎月20日。取り消しは25日まで認めている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第9章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訪問の件数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4件入る日が月に2〜3回ある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高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第10章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クーポンの併用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併用は不可。1回の訪問につき1枚まで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第12章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割当の条件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車の有無、お子様の年齢、過去の担当実績の3つを見ている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中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1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第5章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カルテの区分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この7つで問題ない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050" b="0">
                          <a:solidFill>
                            <a:srgbClr val="14223A"/>
                          </a:solidFill>
                          <a:latin typeface="Meiryo"/>
                          <a:cs typeface="Meiryo"/>
                          <a:ea typeface="Meiryo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251960"/>
            <a:ext cx="563270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68580" cy="11430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3616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急ぎ度の目安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663440"/>
            <a:ext cx="5257800" cy="640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高 </a:t>
            </a: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— これが無いと業務が回らない / 金額が合わない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中 </a:t>
            </a: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— 運用でしのげるが、あると助かる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低 </a:t>
            </a: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— いずれ欲しい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251960"/>
            <a:ext cx="563270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4251960"/>
            <a:ext cx="68580" cy="1143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43616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ご指摘の書き方のコツ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663440"/>
            <a:ext cx="5257800" cy="640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「なぜ必要か」を一言添えていただけると、似た抜けをこちらで一緒に探せます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0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実際の件数・頻度(月に◯回、全体の◯割)があると、優先順位を付けられます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32120"/>
            <a:ext cx="11277295" cy="454279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532120"/>
            <a:ext cx="68580" cy="454279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650992"/>
            <a:ext cx="10874959" cy="243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分量が多いので、章ごとに分けてご返信いただいても構いません。気づいた順にお送りいただくのがいちばん助かります。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277295" cy="52120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25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まとめ</a:t>
            </a:r>
            <a:r>
              <a:rPr sz="12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   第17章 ご確認の進め方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41832"/>
            <a:ext cx="11277295" cy="0"/>
          </a:xfrm>
          <a:prstGeom prst="line">
            <a:avLst/>
          </a:prstGeom>
          <a:ln w="1778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sz="100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3712463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68580" cy="219456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25295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369A1"/>
                </a:solidFill>
                <a:latin typeface="Meiryo"/>
                <a:cs typeface="Meiryo"/>
                <a:ea typeface="Meiryo"/>
              </a:rPr>
              <a:t>この資料は何だったか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3375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新しい業務システムが「何を記録するか」の一覧です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データベースをExcelのブックに置き換えて、シート(34枚)と見出し行の形でご説明しました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専門用語は括弧に添えるだけで、本文には使っていません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115568"/>
            <a:ext cx="3712463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115568"/>
            <a:ext cx="68580" cy="2194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225295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6D28D9"/>
                </a:solidFill>
                <a:latin typeface="Meiryo"/>
                <a:cs typeface="Meiryo"/>
                <a:ea typeface="Meiryo"/>
              </a:rPr>
              <a:t>お願いしたいこと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1527048"/>
            <a:ext cx="33375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項目の抜け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(記録したいのに一覧に無いもの)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選択肢の抜け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(状態・区分に足りない選択肢)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1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ルールの食い違い</a:t>
            </a: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(実際の運用とのズレ)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115568"/>
            <a:ext cx="3712463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115568"/>
            <a:ext cx="68580" cy="21945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225295"/>
            <a:ext cx="338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50" b="1" i="0">
                <a:solidFill>
                  <a:srgbClr val="047857"/>
                </a:solidFill>
                <a:latin typeface="Meiryo"/>
                <a:cs typeface="Meiryo"/>
                <a:ea typeface="Meiryo"/>
              </a:rPr>
              <a:t>いま見ていただく理由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527048"/>
            <a:ext cx="333756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2000"/>
              </a:lnSpc>
              <a:spcBef>
                <a:spcPts val="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本稼働前で、データが1件も入っていない段階です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いまなら、項目を足すのも作り直すのも短時間で済みます</a:t>
            </a:r>
          </a:p>
          <a:p>
            <a:pPr marL="182880" indent="-182880">
              <a:lnSpc>
                <a:spcPct val="132000"/>
              </a:lnSpc>
              <a:spcBef>
                <a:spcPts val="400"/>
              </a:spcBef>
              <a:buClr>
                <a:srgbClr val="0369A1"/>
              </a:buClr>
              <a:buFont typeface="Meiryo"/>
              <a:buChar char="▪"/>
            </a:pPr>
            <a:r>
              <a:rPr sz="1150" b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運用開始後だと、入力済みのデータを全件直す作業が付いてきます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77295" cy="90855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68580" cy="90855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576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050" b="1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この資料に無いもの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31920"/>
            <a:ext cx="10874959" cy="451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50" b="0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技術的な妥当性(安全性・性能・設計の作法)は、この資料の対象外です。そちらは別の資料(データベース構造レビュー資料)で、データベースの専門家に見ていただきます。ここでお願いしたいのは、業務をご存じの方にしか分からない「抜け」だけ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500" b="1" i="0">
                <a:solidFill>
                  <a:srgbClr val="14223A"/>
                </a:solidFill>
                <a:latin typeface="Meiryo"/>
                <a:cs typeface="Meiryo"/>
                <a:ea typeface="Meiryo"/>
              </a:rPr>
              <a:t>お忙しいところ恐れ入りますが、よろしくお願いいたします。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150" b="0" i="0">
                <a:solidFill>
                  <a:srgbClr val="64748B"/>
                </a:solidFill>
                <a:latin typeface="Meiryo"/>
                <a:cs typeface="Meiryo"/>
                <a:ea typeface="Meiryo"/>
              </a:rPr>
              <a:t>ご不明な点は、どの章のどのページかだけ教えていただければ、個別にご説明にうかがいます。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