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データベース設計は doc/12_データベース構造レビュー資料.pptx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この資料の目的と、先に押さえる4語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この資料でお伝えしたいこと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「どこに何が書いてあるか」と「なぜその置き方にしたか」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テーブル設計の詳細(doc/12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先に押さえておきたい4語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「窓口」と「実際に外とつなぐ部品」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業務ロジックは「メールを送る窓口」だけを知る。SendGridなのかGmailなのかは知らない。差し替えとテストがしやすくなる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業務ロジックを中心に置き、外側を全部「差し替え可能」にする設計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データベースも外部APIも画面も、すべて中心から見れば「外側」。依存の矢印が中心へ向かって一方通行になる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「送る予定」をデータベースに書いておき、後で送る方式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スプレッドシートへの書き戻しに使っている。送信が失敗しても、業務データの保存は確実に完了させられる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この4語だけで、以降の図はだいたい読めます</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特に「ポート / アダプタ」は本資料の中心です。この作りにした最大の理由は、同じ業務ロジックを本番(Node.js + PostgreSQL)とブラウザ内デモ(ブラウザ内DB)でそのまま動かせるようにするためでした(P16)。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 doc/10_GAS版連携の制約と方針.md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データはすべてスプレッドシート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認証は共有ソルトのSHA-256。セッショントークンをシートに直書き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顧客CSVの取り込みが全置換(欠損時に丸ごと消えるリスク)</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現場で本番稼働中。機能追加は凍結し、不具合修正のみ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。複数法人を1つの基盤に収容する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にし、スプレッドシートは互換維持のための「写し」として残す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将来の訪問看護事業への展開(カルテ・保存年限の管理)</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一斉切り替えを避ける</a:t>
            </a:r>
            <a:r>
              <a:rPr sz="1050" b="0">
                <a:solidFill>
                  <a:srgbClr val="14223A"/>
                </a:solidFill>
                <a:latin typeface="Meiryo"/>
                <a:cs typeface="Meiryo"/>
                <a:ea typeface="Meiryo"/>
              </a:rPr>
              <a:t>:GAS版と併存しながら段階的に移す</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228ファイル / 約25,900行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55ファイル / 692件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33テーブル</a:t>
            </a:r>
            <a:r>
              <a:rPr sz="1050" b="0">
                <a:solidFill>
                  <a:srgbClr val="14223A"/>
                </a:solidFill>
                <a:latin typeface="Meiryo"/>
                <a:cs typeface="Meiryo"/>
                <a:ea typeface="Meiryo"/>
              </a:rPr>
              <a:t> / マイグレーション1本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いまどこにいるか</a:t>
            </a:r>
          </a:p>
        </p:txBody>
      </p:sp>
      <p:sp>
        <p:nvSpPr>
          <p:cNvPr id="20" name="Rounded Rectangle 19"/>
          <p:cNvSpPr/>
          <p:nvPr/>
        </p:nvSpPr>
        <p:spPr>
          <a:xfrm>
            <a:off x="457200" y="3886200"/>
            <a:ext cx="11277295" cy="53035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886200"/>
            <a:ext cx="68580" cy="5303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23360"/>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3950208"/>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 / スタッフ管理 / RESERVA取込 / 公開デモ</a:t>
            </a:r>
          </a:p>
        </p:txBody>
      </p:sp>
      <p:sp>
        <p:nvSpPr>
          <p:cNvPr id="24" name="Rounded Rectangle 23"/>
          <p:cNvSpPr/>
          <p:nvPr/>
        </p:nvSpPr>
        <p:spPr>
          <a:xfrm>
            <a:off x="457200" y="4471416"/>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471416"/>
            <a:ext cx="6858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608576"/>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535424"/>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スプレッドシートへの書き戻し、メール送信(GASブリッジが未デプロイのため一度も動いていない)</a:t>
            </a:r>
          </a:p>
        </p:txBody>
      </p:sp>
      <p:sp>
        <p:nvSpPr>
          <p:cNvPr id="28" name="Rounded Rectangle 27"/>
          <p:cNvSpPr/>
          <p:nvPr/>
        </p:nvSpPr>
        <p:spPr>
          <a:xfrm>
            <a:off x="457200" y="5056631"/>
            <a:ext cx="11277295" cy="53035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056631"/>
            <a:ext cx="68580" cy="5303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3792"/>
            <a:ext cx="22860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スキーマのみ</a:t>
            </a:r>
          </a:p>
        </p:txBody>
      </p:sp>
      <p:sp>
        <p:nvSpPr>
          <p:cNvPr id="31" name="TextBox 30"/>
          <p:cNvSpPr txBox="1"/>
          <p:nvPr/>
        </p:nvSpPr>
        <p:spPr>
          <a:xfrm>
            <a:off x="3108960" y="5120640"/>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予約 / 請求・決済 / 顧客カルテ / 訪問割当の最適化 / 移動手当(表と制約はあるが、実装・API・画面は無い)</a:t>
            </a:r>
          </a:p>
        </p:txBody>
      </p:sp>
      <p:sp>
        <p:nvSpPr>
          <p:cNvPr id="32" name="Rounded Rectangle 31"/>
          <p:cNvSpPr/>
          <p:nvPr/>
        </p:nvSpPr>
        <p:spPr>
          <a:xfrm>
            <a:off x="457200" y="5641847"/>
            <a:ext cx="11277295" cy="530352"/>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41847"/>
            <a:ext cx="68580" cy="53035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577900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5" name="TextBox 34"/>
          <p:cNvSpPr txBox="1"/>
          <p:nvPr/>
        </p:nvSpPr>
        <p:spPr>
          <a:xfrm>
            <a:off x="3108960" y="5705855"/>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Cloud KMS / 再暗号化バッチ / 実データでの並行運用の照合</a:t>
            </a:r>
          </a:p>
        </p:txBody>
      </p:sp>
      <p:sp>
        <p:nvSpPr>
          <p:cNvPr id="36" name="TextBox 3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「未検証」「未着手」と書いたものは、提案書では実現済みのように読めてしまう部分です。先に区別をお伝えします。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まだ一度もデプロイしていない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この配置で守りたかったこと</a:t>
            </a:r>
          </a:p>
        </p:txBody>
      </p:sp>
      <p:sp>
        <p:nvSpPr>
          <p:cNvPr id="31" name="TextBox 30"/>
          <p:cNvSpPr txBox="1"/>
          <p:nvPr/>
        </p:nvSpPr>
        <p:spPr>
          <a:xfrm>
            <a:off x="667512" y="484632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 スプレッドシートは「写し」であり、止めるときはミラーの部品を外すだけ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Google系の外部連携は既存のGASブリッジ1本に集約した(新規の課金・認証情報の準備を避けるため)</a:t>
            </a:r>
          </a:p>
        </p:txBody>
      </p:sp>
      <p:sp>
        <p:nvSpPr>
          <p:cNvPr id="32" name="Rounded Rectangle 31"/>
          <p:cNvSpPr/>
          <p:nvPr/>
        </p:nvSpPr>
        <p:spPr>
          <a:xfrm>
            <a:off x="6245352" y="4434840"/>
            <a:ext cx="5486400" cy="12344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8138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メール・地図・予定・スプレッドシートの4系統がGASブリッジ1本に集中しています。実行時間制限とクォータがあり、SLAはなく、単一障害点です。しかもまだ一度もデプロイしていません。</a:t>
            </a:r>
          </a:p>
        </p:txBody>
      </p:sp>
      <p:sp>
        <p:nvSpPr>
          <p:cNvPr id="36" name="Rounded Rectangle 35"/>
          <p:cNvSpPr/>
          <p:nvPr/>
        </p:nvSpPr>
        <p:spPr>
          <a:xfrm>
            <a:off x="457200" y="5806440"/>
            <a:ext cx="11277295"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888736"/>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読み方:赤い注記は「まだ存在しないもの」。破線は、リクエストの完了を待たずに後から動く処理。オレンジの破線がスプレッドシートへの書き戻し経路です。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doc/07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727448"/>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402336">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行レベルセキュリティ・排他制約など、必要な制約をDB自身で強制できる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0.38</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19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764911"/>
            <a:ext cx="11277295" cy="617601"/>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764911"/>
            <a:ext cx="68580" cy="6176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備考欄について</a:t>
            </a:r>
          </a:p>
        </p:txBody>
      </p:sp>
      <p:sp>
        <p:nvSpPr>
          <p:cNvPr id="11" name="TextBox 10"/>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提案書に書いた方針から変更した箇所と、未配備のものだけを記載しています。変更の理由は各章で説明します。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9つの部品と、その間の依存の向き。業務ロジックをどこに閉じ込めたか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矢印は「依存する方向」。逆流は1本もない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ports。外部SDKを一切知らない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すべて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デモ用コードは本番ビルドに混ざらない:入口を空の実装に差し替え、CIが成果物そのものを検査する。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業務ロジックを中心に閉じ込める</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外に対する窓口の定義だけ</a:t>
            </a:r>
          </a:p>
          <a:p>
            <a:pPr algn="ctr">
              <a:lnSpc>
                <a:spcPct val="116000"/>
              </a:lnSpc>
              <a:buNone/>
            </a:pPr>
            <a:r>
              <a:rPr sz="1000" b="0">
                <a:solidFill>
                  <a:srgbClr val="14223A"/>
                </a:solidFill>
                <a:latin typeface="Meiryo"/>
                <a:cs typeface="Meiryo"/>
                <a:ea typeface="Meiryo"/>
              </a:rPr>
              <a:t>「保存する」「送る」「暗号化する」という
形(インターフェース)を28本定義している。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は誰が実装しているか知らない。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この形にした見返り</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外部サービスが無い環境でも黙って壊れず、何もしない実装に落ちる(地図・予定・AI・ミラー)。そして同じ業務ロジックが、本番でもブラウザ内デモでもそのまま動く。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正直に申し上げる例外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パスワードのハッシュ化を担う窓口だけ、ports ではなく usecases 側に定義されています。動作に影響はありませんが、置き場所の一貫性は崩れています。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28本</a:t>
            </a:r>
            <a:r>
              <a:rPr sz="1250" b="0" i="0">
                <a:solidFill>
                  <a:srgbClr val="64748B"/>
                </a:solidFill>
                <a:latin typeface="Meiryo"/>
                <a:cs typeface="Meiryo"/>
                <a:ea typeface="Meiryo"/>
              </a:rPr>
              <a:t>   core が「外にこれをやってほしい」と宣言しているものの全体</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データの読み書き(14本)</a:t>
            </a:r>
          </a:p>
        </p:txBody>
      </p:sp>
      <p:sp>
        <p:nvSpPr>
          <p:cNvPr id="9" name="TextBox 8"/>
          <p:cNvSpPr txBox="1"/>
          <p:nvPr/>
        </p:nvSpPr>
        <p:spPr>
          <a:xfrm>
            <a:off x="640080" y="1691640"/>
            <a:ext cx="3291840" cy="3383280"/>
          </a:xfrm>
          <a:prstGeom prst="rect">
            <a:avLst/>
          </a:prstGeom>
          <a:noFill/>
        </p:spPr>
        <p:txBody>
          <a:bodyPr wrap="square" lIns="0" rIns="0" tIns="0" bIns="0">
            <a:spAutoFit/>
          </a:bodyPr>
          <a:lstStyle/>
          <a:p>
            <a:pPr marL="182880" indent="-182880">
              <a:lnSpc>
                <a:spcPct val="125000"/>
              </a:lnSpc>
              <a:spcBef>
                <a:spcPts val="0"/>
              </a:spcBef>
              <a:buClr>
                <a:srgbClr val="0369A1"/>
              </a:buClr>
              <a:buFont typeface="Meiryo"/>
              <a:buChar char="▪"/>
            </a:pPr>
            <a:r>
              <a:rPr sz="1050" b="0">
                <a:solidFill>
                  <a:srgbClr val="14223A"/>
                </a:solidFill>
                <a:latin typeface="Meiryo"/>
                <a:cs typeface="Meiryo"/>
                <a:ea typeface="Meiryo"/>
              </a:rPr>
              <a:t>Tenant テナント</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Staff スタッフ</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Session セッション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PasswordResetCode 再設定コード</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 顧客</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FamilyMember 世帯構成員</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DailyReport 日報</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AccidentReport 事故報告</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Receipt 領収書</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AttendanceDay 勤怠</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 クーポン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CouponRedemption クーポン適用記録</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AppSettings 管理者設定</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TenantKey 暗号鍵</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6D28D9"/>
              </a:buClr>
              <a:buFont typeface="Meiryo"/>
              <a:buChar char="▪"/>
            </a:pPr>
            <a:r>
              <a:rPr sz="1050" b="0">
                <a:solidFill>
                  <a:srgbClr val="14223A"/>
                </a:solidFill>
                <a:latin typeface="Meiryo"/>
                <a:cs typeface="Meiryo"/>
                <a:ea typeface="Meiryo"/>
              </a:rPr>
              <a:t>ReportAi 日報の文章生成(Gemini)</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Notifier 通知(Google Chat)</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Mailer メール送信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Calendar 予定の読み取り</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Maps 距離の計算</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Storage 画像の保存(GCS想定)</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MirrorSender スプレッドシートへの送信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 送信予定の積み込み</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047857"/>
              </a:buClr>
              <a:buFont typeface="Meiryo"/>
              <a:buChar char="▪"/>
            </a:pPr>
            <a:r>
              <a:rPr sz="1050" b="0">
                <a:solidFill>
                  <a:srgbClr val="14223A"/>
                </a:solidFill>
                <a:latin typeface="Meiryo"/>
                <a:cs typeface="Meiryo"/>
                <a:ea typeface="Meiryo"/>
              </a:rPr>
              <a:t>UnitOfWork 複数の書き込みを1つのトランザクションに</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Crypto 資格情報の暗号化・復号</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KeyManagement 鍵を包む・ほどく(KMS)</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AuditLog 監査ログの記録</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「窓口だけ定義する」ことの実利</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テストでは偽の実装を渡すだけで済む。データベースも外部APIも起動しないため、692件のテストが約15秒で終わる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窓口の束(Container)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全ポートの実装をまとめた「束」を1つ作り、それを usecase に渡します。Node.js用とブラウザ用の2種類の束が、同じ型で用意されています。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「日報を保存する」で何が起きるか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Cookie照合 → 権限確認 → Origin照合 → 入力検証</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 + 送信予定(outbox)を揃って確定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要点:④で「日報の行」と「送信予定」を同じトランザクションで確定させる。片方だけ通ると、誰にも気づかれない取り残しが生まれる。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現行のGAS版との共存、認証、AI、そして公開デモ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この方針にした理由(doc/10)</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新規のGoogle API連携より、既存のGASブリッジを優先した。①新規の課金・認証情報の準備を避ける ②GAS側で実証済みのロジック(イベント分類・タグ解析・スタッフ名の照合)を再実装しない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スプレッドシートを止めるときは、ミラーのアダプタを外すだけで済む(業務ロジックは無変更)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多重に動かしても安全(SKIP LOCKED)。処理中のまま5分放置された行は再取得の対象になる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失敗を終端にしない設計</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失敗扱いになった件数はエラーログに出るので、運用が気づける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メール・地図・予定・スプレッドシートすべてがGAS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まだ一度もデプロイしていない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スプレッドシートへの書き戻しとメール送信は、一度も本番で動いたことがない。メール送信の処理はGAS側に存在すらしない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GASはカスタムヘッダーを読めないため、認証用の文字列をURLのクエリに付ける。実行ログやプロキシに残る。交換手順は未整備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SendGrid等)に逃がす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変更した理由:GAS版の既存パスワードをそのまま引き継ぎ、スタッフに再設定を強いないため。初回ログイン時に古い方式のハッシュを黙って新方式へ入れ替える。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総当たり・列挙を塞いだところ</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ロック中かどうかで応答を変えない(アカウントの有無が分かってしまうため)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書き込みを守るところ</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 → セッション全破棄」を1つのトランザクションで行う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ログインの成否・パスワード変更・管理者操作を「誰が・誰を」付きでログに残す</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絞り込みがアカウント単位のみ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認証は「失敗する経路」を数え上げて塞ぐ作業でした。テストも、失敗すべきときに失敗することを中心に書いています。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生成物より「元の入力」を残すことを優先している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生成物だけを残すと、あとから「元は何と書かれていたか」を確かめられない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AIが使えない環境では、何もしない実装に落ちる(画面は生成なしで動く)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doc/12 P13)</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サーバーへ行かせない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本番と同じものが動いている</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同じマイグレーション(33テーブル)・同じ行レベルセキュリティ・同じ業務ロジック・同じAPIルート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のサブパス配信で適用範囲の問題に悩まされないため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設定を読むのではなく、出来上がった成果物そのものをCIが検査する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デモ固有の脆さ(本番には影響しない)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は1.0未満。書き出しの完了を待つために内部の仕組みを直接呼んでいるため、バージョンを完全固定している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何をテストしていて、何をしていないか。そして判断いただきたいこと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テスト55ファイル / 692件。分布は意図的に偏らせている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勤怠計算は、GAS版をNodeで実行した結果を正解として合成データ19ケース+月次集計で完全一致。CSV解析は実サンプル398行で一致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全テーブル分の静的検査と、権限を落としたロールでの実挙動の両方</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制約が実際に効くこと</a:t>
            </a:r>
            <a:r>
              <a:rPr sz="1050" b="0">
                <a:solidFill>
                  <a:srgbClr val="14223A"/>
                </a:solidFill>
                <a:latin typeface="Meiryo"/>
                <a:cs typeface="Meiryo"/>
                <a:ea typeface="Meiryo"/>
              </a:rPr>
              <a:t>  CHECK・一意制約・複合外部キーが不正なINSERTを本当に拒否することを、本番と同じマイグレーションを当てたDB上で確認(拒否理由が狙った制約名であることまで見る)</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リポジトリ層はブラウザ内DBで検証しており、本番ドライバ固有の挙動差と EXPLAIN による索引の効き方は未確認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給与に直結する領域。実際の出勤簿との突き合わせはこれから</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新しく足したテストは「直した箇所を元に戻すと落ちること」を1つずつ確認してから残しています。通るだけのテストは、あとから読む人に誤解だけを与えるためです。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誤解を招きやすい点を先にお伝えします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README「実装状況」/ doc/07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325112"/>
        </p:xfrm>
        <a:graphic>
          <a:graphicData uri="http://schemas.openxmlformats.org/drawingml/2006/table">
            <a:tbl>
              <a:tblPr firstRow="1" bandRow="1">
                <a:tableStyleId>{5C22544A-7EE6-4342-B048-85BDC9FD1C3A}</a:tableStyleId>
              </a:tblPr>
              <a:tblGrid>
                <a:gridCol w="3969607"/>
                <a:gridCol w="1443493"/>
                <a:gridCol w="5864193"/>
              </a:tblGrid>
              <a:tr h="301752">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33テーブル、複合外部キー、FORCE。静的検査と実DB検証をCIで実行</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GASブリッジが未デプロイのため一度も動いていない。既定でミラーは無効</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予約・請求・カルテ</a:t>
                      </a:r>
                    </a:p>
                  </a:txBody>
                  <a:tcPr marL="64008" marR="64008" marT="27432" marB="27432" anchor="ctr">
                    <a:solidFill>
                      <a:srgbClr val="F8FAFC"/>
                    </a:solidFill>
                  </a:tcPr>
                </a:tc>
                <a:tc>
                  <a:txBody>
                    <a:bodyPr wrap="square"/>
                    <a:lstStyle/>
                    <a:p>
                      <a:pPr algn="ctr">
                        <a:lnSpc>
                          <a:spcPct val="115000"/>
                        </a:lnSpc>
                        <a:buNone/>
                      </a:pPr>
                      <a:r>
                        <a:rPr sz="1050" b="0">
                          <a:solidFill>
                            <a:srgbClr val="6D28D9"/>
                          </a:solidFill>
                          <a:latin typeface="Meiryo"/>
                          <a:cs typeface="Meiryo"/>
                          <a:ea typeface="Meiryo"/>
                        </a:rPr>
                        <a:t>スキーマのみ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表・制約・ドキュメントはある。リポジトリ実装・API・画面はこれから</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業種差の吸収(機能フラグ)</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tenant_features 等は設計方針のみで、テーブルは無い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実際の出勤簿での照合はこれから</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このページがいちばん大事かもしれません</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てしまいます。赤い行は着手すらしていません。ご判断いただきたいのは「この土台の上に、赤を積んでいってよいか」です。土台に構造的な問題があるなら、積む前に直したいと考え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優先度順。いずれも「直せない」ものではなく「今やるか、いつやるか」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doc/12_データベース構造レビュー資料.pptx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Appに集約。SLAは無く、認証用の文字列がURLに載る。しかもまだ一度もデプロイしていない。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メールだけ別経路に逃がす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先行整備した5ドメインの進め方</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予約・請求・カルテ・訪問最適化・移動手当は、表と制約だけ先に用意してある。予約の二重取りだけはDBで止められておらず、アプリ側の責任になっている。</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どのドメインから実装に進めるか / 二重取り防止をどこで担保するか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私の推奨:メール送信だけ別経路に逃がしたうえで、予約から実装に進めること。ただし意見ですので、ご判断をいただきたいです。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左は自信を持って言えること、右は判断いただきたいこと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この構成で守れていると考えているもの</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業務ロジックが外部SDKを一切知らない。結果として、同じコードがNode.jsとブラウザの両方で動く(公開デモで実証)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依存の矢印が中心へ向かって一方通行。逆流は1本もない(package.json で確認できる)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揃って成立すべき書き込みが、1つのトランザクションで確定する。壊れたらテストが落ちるようにしてある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認証の失敗経路(列挙・総当たり・割り込み・部分更新・クロスサイト)を数え上げて塞いだ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33テーブルすべてで同じスキーマ規約。新しい表を足す手順が決まっている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毎pushで静的検査・型検査・692件のテスト・本番ビルド・混入検査まで自動実行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先行整備した5ドメインを実装へ進める順番(③)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37列の肥大化、業務データを平文にした前提、予約の二重取り防止、廃棄手順、監査の時期(doc/12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いちばん知りたいこと</a:t>
            </a:r>
            <a:r>
              <a:rPr sz="1100" b="0">
                <a:solidFill>
                  <a:srgbClr val="14223A"/>
                </a:solidFill>
                <a:latin typeface="Meiryo"/>
                <a:cs typeface="Meiryo"/>
                <a:ea typeface="Meiryo"/>
              </a:rPr>
              <a:t>:自分では気づきようがない構造的な問題が、他にあるかどうか</a:t>
            </a:r>
          </a:p>
        </p:txBody>
      </p:sp>
      <p:sp>
        <p:nvSpPr>
          <p:cNvPr id="14" name="Rounded Rectangle 13"/>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doc/07 技術構成提案書 / doc/09 データベース構造解説 / doc/10 GAS版連携の制約と方針 / doc/11 アーキテクチャ説明スライド(HTML) / doc/12 データベース構造レビュー資料(PowerPoint)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