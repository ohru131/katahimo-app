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2026-09 時点 / データベース設計は doc/12_データベース構造レビュー資料.pptx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テーブル設計の詳細(doc/12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 doc/10_開発メモ / README「フェーズ状況」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:Phase 0〜8の段階移行</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規模(2026-09)</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204ファイル / 約20,600行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43ファイル / 343件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13テーブル</a:t>
            </a:r>
            <a:r>
              <a:rPr sz="1050" b="0">
                <a:solidFill>
                  <a:srgbClr val="14223A"/>
                </a:solidFill>
                <a:latin typeface="Meiryo"/>
                <a:cs typeface="Meiryo"/>
                <a:ea typeface="Meiryo"/>
              </a:rPr>
              <a:t> / マイグレーション8本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931920"/>
            <a:ext cx="11277295" cy="658368"/>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65836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133087"/>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4059935"/>
            <a:ext cx="8351215" cy="502920"/>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 / スタッフ管理 / RESERVA取込 / 公開デモ</a:t>
            </a:r>
          </a:p>
        </p:txBody>
      </p:sp>
      <p:sp>
        <p:nvSpPr>
          <p:cNvPr id="24" name="Rounded Rectangle 23"/>
          <p:cNvSpPr/>
          <p:nvPr/>
        </p:nvSpPr>
        <p:spPr>
          <a:xfrm>
            <a:off x="457200" y="4663440"/>
            <a:ext cx="11277295" cy="65836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663440"/>
            <a:ext cx="68580" cy="6583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864607"/>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791455"/>
            <a:ext cx="8351215" cy="502920"/>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394959"/>
            <a:ext cx="11277295" cy="658368"/>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94959"/>
            <a:ext cx="68580" cy="65836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59612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1" name="TextBox 30"/>
          <p:cNvSpPr txBox="1"/>
          <p:nvPr/>
        </p:nvSpPr>
        <p:spPr>
          <a:xfrm>
            <a:off x="3108960" y="5522975"/>
            <a:ext cx="8351215" cy="502920"/>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予約・請求・カルテ / Cloud KMS / 再暗号化バッチ / 並行運用の照合</a:t>
            </a:r>
          </a:p>
        </p:txBody>
      </p:sp>
      <p:sp>
        <p:nvSpPr>
          <p:cNvPr id="32" name="TextBox 31"/>
          <p:cNvSpPr txBox="1"/>
          <p:nvPr/>
        </p:nvSpPr>
        <p:spPr>
          <a:xfrm>
            <a:off x="457200" y="6144768"/>
            <a:ext cx="11277295" cy="274320"/>
          </a:xfrm>
          <a:prstGeom prst="rect">
            <a:avLst/>
          </a:prstGeom>
          <a:noFill/>
        </p:spPr>
        <p:txBody>
          <a:bodyPr wrap="square" lIns="0" rIns="0" tIns="0" bIns="0" anchor="t">
            <a:spAutoFit/>
          </a:bodyPr>
          <a:lstStyle/>
          <a:p>
            <a:pPr algn="l">
              <a:lnSpc>
                <a:spcPct val="125000"/>
              </a:lnSpc>
              <a:buNone/>
            </a:pPr>
            <a:r>
              <a:rPr sz="1100" b="0" i="0">
                <a:solidFill>
                  <a:srgbClr val="64748B"/>
                </a:solidFill>
                <a:latin typeface="Meiryo"/>
                <a:cs typeface="Meiryo"/>
                <a:ea typeface="Meiryo"/>
              </a:rPr>
              <a:t>本資料で「未検証」「未着手」と書いたものは、提案書では実現済みのように読めてしまう部分です。先に区別をお伝えします。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doc/07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0.38</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19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形(インターフェース)を26本定義している。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26本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データの読み書き(12本)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5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テストでは偽の実装を渡すだけで済む。データベースも外部APIも起動しないため、343件のテストが約20秒で終わる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この方針にした理由(doc/10)</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doc/12 P13)</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同じマイグレーション(13テーブル)・同じ行レベルセキュリティ・同じ業務ロジック・同じAPIルート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テスト43ファイル / 343件。分布は意図的に偏らせている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鍵の世代</a:t>
            </a:r>
            <a:r>
              <a:rPr sz="1050" b="0">
                <a:solidFill>
                  <a:srgbClr val="14223A"/>
                </a:solidFill>
                <a:latin typeface="Meiryo"/>
                <a:cs typeface="Meiryo"/>
                <a:ea typeface="Meiryo"/>
              </a:rPr>
              <a:t>  交換後も旧世代の暗号文を復号できること、解約後はどの世代も読めないこと</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給与に直結する領域。実際の出勤簿との突き合わせはPhase 7の予定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README「フェーズ状況」/ doc/07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3969607"/>
                <a:gridCol w="1443493"/>
                <a:gridCol w="5864193"/>
              </a:tblGrid>
              <a:tr h="301752">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438912">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13テーブル、複合外部キー、FORCE。静的検査と実DB検証をCIで実行</a:t>
                      </a:r>
                    </a:p>
                  </a:txBody>
                  <a:tcPr marL="64008" marR="64008" marT="27432" marB="27432" anchor="ctr">
                    <a:solidFill>
                      <a:srgbClr val="FFFFFF"/>
                    </a:solidFill>
                  </a:tcPr>
                </a:tc>
              </a:tr>
              <a:tr h="438912">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438912">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438912">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438912">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438912">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438912">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438912">
                <a:tc>
                  <a:txBody>
                    <a:bodyPr wrap="square"/>
                    <a:lstStyle/>
                    <a:p>
                      <a:pPr algn="l">
                        <a:lnSpc>
                          <a:spcPct val="115000"/>
                        </a:lnSpc>
                        <a:buNone/>
                      </a:pPr>
                      <a:r>
                        <a:rPr sz="1050" b="1">
                          <a:solidFill>
                            <a:srgbClr val="14223A"/>
                          </a:solidFill>
                          <a:latin typeface="Meiryo"/>
                          <a:cs typeface="Meiryo"/>
                          <a:ea typeface="Meiryo"/>
                        </a:rPr>
                        <a:t>予約・請求・カルテ・機能フラグ</a:t>
                      </a:r>
                    </a:p>
                  </a:txBody>
                  <a:tcPr marL="64008" marR="64008" marT="27432" marB="27432" anchor="ctr">
                    <a:solidFill>
                      <a:srgbClr val="F8FAFC"/>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提案書の差別化要因だが、スキーマにテーブルすら無い</a:t>
                      </a:r>
                    </a:p>
                  </a:txBody>
                  <a:tcPr marL="64008" marR="64008" marT="27432" marB="27432" anchor="ctr">
                    <a:solidFill>
                      <a:srgbClr val="F8FAFC"/>
                    </a:solidFill>
                  </a:tcPr>
                </a:tc>
              </a:tr>
              <a:tr h="438912">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FFFFF"/>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実際の出勤簿での照合はPhase 7</a:t>
                      </a:r>
                    </a:p>
                  </a:txBody>
                  <a:tcPr marL="64008" marR="64008" marT="27432" marB="27432" anchor="ctr">
                    <a:solidFill>
                      <a:srgbClr val="FFFFFF"/>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doc/12_データベース構造レビュー資料.pptx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予約・請求・カルテをどう積むか</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提案書の差別化要因が、まだスキーマにも無い。二重予約の防止や請求の整合性は、あとから足すと既存データの移行が伴う。</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いま土台に入れるか、要件が固まるまで後回しにするか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私の推奨:メール送信だけ別経路に逃がしたうえで、予約のスキーマを先に入れること。ただし意見ですので、ご判断をいただきたいです。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13テーブルすべてで同じスキーマ規約。新しい表を足す手順が決まっている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毎pushで静的検査・型検査・343件のテスト・本番ビルド・混入検査まで自動実行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予約・請求・カルテを土台に入れる順番(③)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35列の肥大化、業務データを平文にした前提、勤怠のJSON、金額の型、廃棄手順、監査の時期(doc/12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doc/07 技術構成提案書 / doc/09 データベース構造解説 / doc/10 開発メモ / doc/11 アーキテクチャ説明スライド(HTML) / doc/12 データベース構造レビュー資料(PowerPoint)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