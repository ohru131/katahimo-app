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13テーブル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2026-09 時点 /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資料の構成(全28ページ)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13テーブルの全体像と、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P6–16</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35列の肥大化ほか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P17–23</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これから足す機能と、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P24–28</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「この用語の使い方が違う」という指摘も歓迎です。詳細な定義・全列一覧は doc/09_データベース構造解説.md に記載しています。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Excelの1シートに相当。このシステムには13枚ある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この先の図を読むのに必要な7語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279392"/>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66928">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66928">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8FAFC"/>
                    </a:solidFill>
                  </a:tcPr>
                </a:tc>
              </a:tr>
              <a:tr h="566928">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FFFFF"/>
                    </a:solidFill>
                  </a:tcPr>
                </a:tc>
              </a:tr>
              <a:tr h="566928">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8FAFC"/>
                    </a:solidFill>
                  </a:tcPr>
                </a:tc>
              </a:tr>
              <a:tr h="566928">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表の設計変更の履歴。SQLのファイルを積み上げていく</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現在0000〜0007の8本。前に進むだけ(戻さない)</a:t>
                      </a:r>
                    </a:p>
                  </a:txBody>
                  <a:tcPr marL="64008" marR="64008" marT="27432" marB="27432" anchor="ctr">
                    <a:solidFill>
                      <a:srgbClr val="FFFFFF"/>
                    </a:solidFill>
                  </a:tcPr>
                </a:tc>
              </a:tr>
              <a:tr h="566928">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8FAFC"/>
                    </a:solidFill>
                  </a:tcPr>
                </a:tc>
              </a:tr>
              <a:tr h="566928">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FFFFF"/>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13テーブルの全体像と、テナント分離・データ保護・トランザクションの考え方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AI(Gemini)と通知が絡む</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口語メモから社内向け・保護者向けの文章を生成する。生成前の元テキストも列として残す。APIキーとWebhook URLは app_settings に暗号化して保存</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13テーブル</a:t>
            </a:r>
            <a:r>
              <a:rPr sz="1250" b="0" i="0">
                <a:solidFill>
                  <a:srgbClr val="64748B"/>
                </a:solidFill>
                <a:latin typeface="Meiryo"/>
                <a:cs typeface="Meiryo"/>
                <a:ea typeface="Meiryo"/>
              </a:rPr>
              <a:t>   マイグレーション8本 / tenants以外の12枚はすべて同じ形を守る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詳細なER図は doc/09 第2章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51560"/>
            <a:ext cx="14860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矢印 = 外部キーの参照</a:t>
            </a:r>
          </a:p>
        </p:txBody>
      </p:sp>
      <p:sp>
        <p:nvSpPr>
          <p:cNvPr id="8" name="Rounded Rectangle 7"/>
          <p:cNvSpPr/>
          <p:nvPr/>
        </p:nvSpPr>
        <p:spPr>
          <a:xfrm>
            <a:off x="2025586" y="1051560"/>
            <a:ext cx="1280985"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staff を参照</a:t>
            </a:r>
          </a:p>
        </p:txBody>
      </p:sp>
      <p:sp>
        <p:nvSpPr>
          <p:cNvPr id="9" name="Rounded Rectangle 8"/>
          <p:cNvSpPr/>
          <p:nvPr/>
        </p:nvSpPr>
        <p:spPr>
          <a:xfrm>
            <a:off x="3388868" y="1051560"/>
            <a:ext cx="1546415" cy="256032"/>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緑 = customers を参照</a:t>
            </a:r>
          </a:p>
        </p:txBody>
      </p:sp>
      <p:sp>
        <p:nvSpPr>
          <p:cNvPr id="10" name="Rounded Rectangle 9"/>
          <p:cNvSpPr/>
          <p:nvPr/>
        </p:nvSpPr>
        <p:spPr>
          <a:xfrm>
            <a:off x="5017579" y="1051560"/>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11" name="Rounded Rectangle 10"/>
          <p:cNvSpPr/>
          <p:nvPr/>
        </p:nvSpPr>
        <p:spPr>
          <a:xfrm>
            <a:off x="4892040" y="1417320"/>
            <a:ext cx="2377440" cy="402336"/>
          </a:xfrm>
          <a:prstGeom prst="roundRect">
            <a:avLst>
              <a:gd name="adj" fmla="val 1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tenants(法人マスタ)</a:t>
            </a:r>
          </a:p>
        </p:txBody>
      </p:sp>
      <p:sp>
        <p:nvSpPr>
          <p:cNvPr id="12" name="Rounded Rectangle 11"/>
          <p:cNvSpPr/>
          <p:nvPr/>
        </p:nvSpPr>
        <p:spPr>
          <a:xfrm>
            <a:off x="457200" y="2148840"/>
            <a:ext cx="3200400" cy="23957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4360" y="2212848"/>
            <a:ext cx="292608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認証・スタッフ・勤怠</a:t>
            </a:r>
          </a:p>
        </p:txBody>
      </p:sp>
      <p:sp>
        <p:nvSpPr>
          <p:cNvPr id="14" name="Rounded Rectangle 13"/>
          <p:cNvSpPr/>
          <p:nvPr/>
        </p:nvSpPr>
        <p:spPr>
          <a:xfrm>
            <a:off x="658368" y="2487168"/>
            <a:ext cx="2788920" cy="365760"/>
          </a:xfrm>
          <a:prstGeom prst="roundRect">
            <a:avLst>
              <a:gd name="adj" fmla="val 14000"/>
            </a:avLst>
          </a:prstGeom>
          <a:solidFill>
            <a:srgbClr val="FFFFFF"/>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staff(スタッフ)</a:t>
            </a:r>
          </a:p>
        </p:txBody>
      </p:sp>
      <p:sp>
        <p:nvSpPr>
          <p:cNvPr id="15" name="Rounded Rectangle 14"/>
          <p:cNvSpPr/>
          <p:nvPr/>
        </p:nvSpPr>
        <p:spPr>
          <a:xfrm>
            <a:off x="658368" y="2971800"/>
            <a:ext cx="2788920" cy="402336"/>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sessions</a:t>
            </a:r>
            <a:r>
              <a:rPr sz="950" b="0">
                <a:solidFill>
                  <a:srgbClr val="64748B"/>
                </a:solidFill>
                <a:latin typeface="Meiryo"/>
                <a:cs typeface="Meiryo"/>
                <a:ea typeface="Meiryo"/>
              </a:rPr>
              <a:t>  ログイン状態</a:t>
            </a:r>
          </a:p>
        </p:txBody>
      </p:sp>
      <p:sp>
        <p:nvSpPr>
          <p:cNvPr id="16" name="Rounded Rectangle 15"/>
          <p:cNvSpPr/>
          <p:nvPr/>
        </p:nvSpPr>
        <p:spPr>
          <a:xfrm>
            <a:off x="658368" y="3483864"/>
            <a:ext cx="2788920" cy="402336"/>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password_reset_codes</a:t>
            </a:r>
            <a:r>
              <a:rPr sz="950" b="0">
                <a:solidFill>
                  <a:srgbClr val="64748B"/>
                </a:solidFill>
                <a:latin typeface="Meiryo"/>
                <a:cs typeface="Meiryo"/>
                <a:ea typeface="Meiryo"/>
              </a:rPr>
              <a:t>  再設定コード</a:t>
            </a:r>
          </a:p>
        </p:txBody>
      </p:sp>
      <p:sp>
        <p:nvSpPr>
          <p:cNvPr id="17" name="Rounded Rectangle 16"/>
          <p:cNvSpPr/>
          <p:nvPr/>
        </p:nvSpPr>
        <p:spPr>
          <a:xfrm>
            <a:off x="658368" y="3995928"/>
            <a:ext cx="2788920" cy="402336"/>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attendance_days</a:t>
            </a:r>
            <a:r>
              <a:rPr sz="950" b="0">
                <a:solidFill>
                  <a:srgbClr val="64748B"/>
                </a:solidFill>
                <a:latin typeface="Meiryo"/>
                <a:cs typeface="Meiryo"/>
                <a:ea typeface="Meiryo"/>
              </a:rPr>
              <a:t>  勤怠1日分</a:t>
            </a:r>
          </a:p>
        </p:txBody>
      </p:sp>
      <p:cxnSp>
        <p:nvCxnSpPr>
          <p:cNvPr id="18" name="Connector 17"/>
          <p:cNvCxnSpPr/>
          <p:nvPr/>
        </p:nvCxnSpPr>
        <p:spPr>
          <a:xfrm>
            <a:off x="548640" y="2880360"/>
            <a:ext cx="274320" cy="0"/>
          </a:xfrm>
          <a:prstGeom prst="line">
            <a:avLst/>
          </a:prstGeom>
          <a:ln w="1524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48640" y="2880360"/>
            <a:ext cx="0" cy="1316736"/>
          </a:xfrm>
          <a:prstGeom prst="line">
            <a:avLst/>
          </a:prstGeom>
          <a:ln w="1524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8640" y="3172968"/>
            <a:ext cx="100584" cy="0"/>
          </a:xfrm>
          <a:prstGeom prst="line">
            <a:avLst/>
          </a:prstGeom>
          <a:ln w="1524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48640" y="3685032"/>
            <a:ext cx="100584" cy="0"/>
          </a:xfrm>
          <a:prstGeom prst="line">
            <a:avLst/>
          </a:prstGeom>
          <a:ln w="1524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48640" y="4197096"/>
            <a:ext cx="100584" cy="0"/>
          </a:xfrm>
          <a:prstGeom prst="line">
            <a:avLst/>
          </a:prstGeom>
          <a:ln w="1524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977639" y="2148840"/>
            <a:ext cx="4160520" cy="239572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14800" y="2212848"/>
            <a:ext cx="3840480" cy="228600"/>
          </a:xfrm>
          <a:prstGeom prst="rect">
            <a:avLst/>
          </a:prstGeom>
          <a:noFill/>
        </p:spPr>
        <p:txBody>
          <a:bodyPr wrap="square" lIns="0" rIns="0" tIns="0" bIns="0" anchor="t">
            <a:spAutoFit/>
          </a:bodyPr>
          <a:lstStyle/>
          <a:p>
            <a:pPr algn="l">
              <a:lnSpc>
                <a:spcPct val="125000"/>
              </a:lnSpc>
              <a:buNone/>
            </a:pPr>
            <a:r>
              <a:rPr sz="1050" b="1" i="0">
                <a:solidFill>
                  <a:srgbClr val="14223A"/>
                </a:solidFill>
                <a:latin typeface="Meiryo"/>
                <a:cs typeface="Meiryo"/>
                <a:ea typeface="Meiryo"/>
              </a:rPr>
              <a:t>訪問の記録(スタッフと顧客の両方を参照)</a:t>
            </a:r>
          </a:p>
        </p:txBody>
      </p:sp>
      <p:sp>
        <p:nvSpPr>
          <p:cNvPr id="25" name="Rounded Rectangle 24"/>
          <p:cNvSpPr/>
          <p:nvPr/>
        </p:nvSpPr>
        <p:spPr>
          <a:xfrm>
            <a:off x="4160520" y="2514600"/>
            <a:ext cx="3794760" cy="5486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daily_reports</a:t>
            </a:r>
          </a:p>
          <a:p>
            <a:pPr algn="ctr">
              <a:lnSpc>
                <a:spcPct val="116000"/>
              </a:lnSpc>
              <a:buNone/>
            </a:pPr>
            <a:r>
              <a:rPr sz="950" b="0">
                <a:solidFill>
                  <a:srgbClr val="64748B"/>
                </a:solidFill>
                <a:latin typeface="Meiryo"/>
                <a:cs typeface="Meiryo"/>
                <a:ea typeface="Meiryo"/>
              </a:rPr>
              <a:t>保育日報 / 本文5列</a:t>
            </a:r>
          </a:p>
        </p:txBody>
      </p:sp>
      <p:sp>
        <p:nvSpPr>
          <p:cNvPr id="26" name="Rounded Rectangle 25"/>
          <p:cNvSpPr/>
          <p:nvPr/>
        </p:nvSpPr>
        <p:spPr>
          <a:xfrm>
            <a:off x="4160520" y="3172968"/>
            <a:ext cx="3794760" cy="5486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accident_reports</a:t>
            </a:r>
          </a:p>
          <a:p>
            <a:pPr algn="ctr">
              <a:lnSpc>
                <a:spcPct val="116000"/>
              </a:lnSpc>
              <a:buNone/>
            </a:pPr>
            <a:r>
              <a:rPr sz="950" b="0">
                <a:solidFill>
                  <a:srgbClr val="64748B"/>
                </a:solidFill>
                <a:latin typeface="Meiryo"/>
                <a:cs typeface="Meiryo"/>
                <a:ea typeface="Meiryo"/>
              </a:rPr>
              <a:t>事故報告・ヒヤリハット / 本文11列</a:t>
            </a:r>
          </a:p>
        </p:txBody>
      </p:sp>
      <p:sp>
        <p:nvSpPr>
          <p:cNvPr id="27" name="Rounded Rectangle 26"/>
          <p:cNvSpPr/>
          <p:nvPr/>
        </p:nvSpPr>
        <p:spPr>
          <a:xfrm>
            <a:off x="4160520" y="3831335"/>
            <a:ext cx="3794760" cy="5486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receipts</a:t>
            </a:r>
          </a:p>
          <a:p>
            <a:pPr algn="ctr">
              <a:lnSpc>
                <a:spcPct val="116000"/>
              </a:lnSpc>
              <a:buNone/>
            </a:pPr>
            <a:r>
              <a:rPr sz="950" b="0">
                <a:solidFill>
                  <a:srgbClr val="64748B"/>
                </a:solidFill>
                <a:latin typeface="Meiryo"/>
                <a:cs typeface="Meiryo"/>
                <a:ea typeface="Meiryo"/>
              </a:rPr>
              <a:t>領収書 / 画像はGCS想定</a:t>
            </a:r>
          </a:p>
        </p:txBody>
      </p:sp>
      <p:sp>
        <p:nvSpPr>
          <p:cNvPr id="28" name="Rounded Rectangle 27"/>
          <p:cNvSpPr/>
          <p:nvPr/>
        </p:nvSpPr>
        <p:spPr>
          <a:xfrm>
            <a:off x="8503920" y="2148840"/>
            <a:ext cx="3227832" cy="239572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641080" y="2212848"/>
            <a:ext cx="292608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顧客(利用世帯)</a:t>
            </a:r>
          </a:p>
        </p:txBody>
      </p:sp>
      <p:sp>
        <p:nvSpPr>
          <p:cNvPr id="30" name="Rounded Rectangle 29"/>
          <p:cNvSpPr/>
          <p:nvPr/>
        </p:nvSpPr>
        <p:spPr>
          <a:xfrm>
            <a:off x="8686800" y="2487168"/>
            <a:ext cx="2880360" cy="3657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customers(顧客/35列)</a:t>
            </a:r>
          </a:p>
        </p:txBody>
      </p:sp>
      <p:sp>
        <p:nvSpPr>
          <p:cNvPr id="31" name="Rounded Rectangle 30"/>
          <p:cNvSpPr/>
          <p:nvPr/>
        </p:nvSpPr>
        <p:spPr>
          <a:xfrm>
            <a:off x="8686800" y="2971800"/>
            <a:ext cx="2880360" cy="402336"/>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family_members</a:t>
            </a:r>
            <a:r>
              <a:rPr sz="950" b="0">
                <a:solidFill>
                  <a:srgbClr val="64748B"/>
                </a:solidFill>
                <a:latin typeface="Meiryo"/>
                <a:cs typeface="Meiryo"/>
                <a:ea typeface="Meiryo"/>
              </a:rPr>
              <a:t>  世帯構成員</a:t>
            </a:r>
          </a:p>
        </p:txBody>
      </p:sp>
      <p:cxnSp>
        <p:nvCxnSpPr>
          <p:cNvPr id="32" name="Connector 31"/>
          <p:cNvCxnSpPr/>
          <p:nvPr/>
        </p:nvCxnSpPr>
        <p:spPr>
          <a:xfrm>
            <a:off x="8887968" y="2852928"/>
            <a:ext cx="0" cy="320040"/>
          </a:xfrm>
          <a:prstGeom prst="line">
            <a:avLst/>
          </a:prstGeom>
          <a:ln w="1524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686800" y="3520440"/>
            <a:ext cx="2880360" cy="86868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customers は RESERVA の顧客CSVの全項目を受けるため35列ある(第3章の論点①)</a:t>
            </a:r>
          </a:p>
        </p:txBody>
      </p:sp>
      <p:cxnSp>
        <p:nvCxnSpPr>
          <p:cNvPr id="34" name="Connector 33"/>
          <p:cNvCxnSpPr/>
          <p:nvPr/>
        </p:nvCxnSpPr>
        <p:spPr>
          <a:xfrm>
            <a:off x="3493008" y="2788920"/>
            <a:ext cx="621792" cy="0"/>
          </a:xfrm>
          <a:prstGeom prst="line">
            <a:avLst/>
          </a:prstGeom>
          <a:ln w="1651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001000" y="2788920"/>
            <a:ext cx="640080" cy="0"/>
          </a:xfrm>
          <a:prstGeom prst="line">
            <a:avLst/>
          </a:prstGeom>
          <a:ln w="1651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93008" y="3447287"/>
            <a:ext cx="621792" cy="0"/>
          </a:xfrm>
          <a:prstGeom prst="line">
            <a:avLst/>
          </a:prstGeom>
          <a:ln w="1651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001000" y="3447287"/>
            <a:ext cx="640080" cy="0"/>
          </a:xfrm>
          <a:prstGeom prst="line">
            <a:avLst/>
          </a:prstGeom>
          <a:ln w="1651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93008" y="4105655"/>
            <a:ext cx="621792" cy="0"/>
          </a:xfrm>
          <a:prstGeom prst="line">
            <a:avLst/>
          </a:prstGeom>
          <a:ln w="1651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001000" y="4105655"/>
            <a:ext cx="640080" cy="0"/>
          </a:xfrm>
          <a:prstGeom prst="line">
            <a:avLst/>
          </a:prstGeom>
          <a:ln w="1651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80760" y="1819656"/>
            <a:ext cx="0" cy="137160"/>
          </a:xfrm>
          <a:prstGeom prst="line">
            <a:avLst/>
          </a:prstGeom>
          <a:ln w="15240">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920240" y="1956816"/>
            <a:ext cx="8183880" cy="0"/>
          </a:xfrm>
          <a:prstGeom prst="line">
            <a:avLst/>
          </a:prstGeom>
          <a:ln w="15240">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920240" y="1956816"/>
            <a:ext cx="0" cy="164592"/>
          </a:xfrm>
          <a:prstGeom prst="line">
            <a:avLst/>
          </a:prstGeom>
          <a:ln w="15240">
            <a:solidFill>
              <a:srgbClr val="0F172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080760" y="1956816"/>
            <a:ext cx="0" cy="164592"/>
          </a:xfrm>
          <a:prstGeom prst="line">
            <a:avLst/>
          </a:prstGeom>
          <a:ln w="15240">
            <a:solidFill>
              <a:srgbClr val="0F172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04120" y="1956816"/>
            <a:ext cx="0" cy="164592"/>
          </a:xfrm>
          <a:prstGeom prst="line">
            <a:avLst/>
          </a:prstGeom>
          <a:ln w="15240">
            <a:solidFill>
              <a:srgbClr val="0F172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57200" y="4709160"/>
            <a:ext cx="11277295" cy="841248"/>
          </a:xfrm>
          <a:prstGeom prst="roundRect">
            <a:avLst>
              <a:gd name="adj" fmla="val 12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94360" y="4773168"/>
            <a:ext cx="3657600" cy="228600"/>
          </a:xfrm>
          <a:prstGeom prst="rect">
            <a:avLst/>
          </a:prstGeom>
          <a:noFill/>
        </p:spPr>
        <p:txBody>
          <a:bodyPr wrap="square" lIns="0" rIns="0" tIns="0" bIns="0" anchor="t">
            <a:spAutoFit/>
          </a:bodyPr>
          <a:lstStyle/>
          <a:p>
            <a:pPr algn="l">
              <a:lnSpc>
                <a:spcPct val="125000"/>
              </a:lnSpc>
              <a:buNone/>
            </a:pPr>
            <a:r>
              <a:rPr sz="1050" b="1" i="0">
                <a:solidFill>
                  <a:srgbClr val="14223A"/>
                </a:solidFill>
                <a:latin typeface="Meiryo"/>
                <a:cs typeface="Meiryo"/>
                <a:ea typeface="Meiryo"/>
              </a:rPr>
              <a:t>テナント基盤・外部連携(tenant_id のみを持つ)</a:t>
            </a:r>
          </a:p>
        </p:txBody>
      </p:sp>
      <p:sp>
        <p:nvSpPr>
          <p:cNvPr id="47" name="Rounded Rectangle 46"/>
          <p:cNvSpPr/>
          <p:nvPr/>
        </p:nvSpPr>
        <p:spPr>
          <a:xfrm>
            <a:off x="640080" y="5047488"/>
            <a:ext cx="3520440" cy="4114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369A1"/>
                </a:solidFill>
                <a:latin typeface="Meiryo"/>
                <a:cs typeface="Meiryo"/>
                <a:ea typeface="Meiryo"/>
              </a:rPr>
              <a:t>tenant_keys</a:t>
            </a:r>
            <a:r>
              <a:rPr sz="950" b="0">
                <a:solidFill>
                  <a:srgbClr val="64748B"/>
                </a:solidFill>
                <a:latin typeface="Meiryo"/>
                <a:cs typeface="Meiryo"/>
                <a:ea typeface="Meiryo"/>
              </a:rPr>
              <a:t>  テナントごとの暗号鍵(世代あり)</a:t>
            </a:r>
          </a:p>
        </p:txBody>
      </p:sp>
      <p:sp>
        <p:nvSpPr>
          <p:cNvPr id="48" name="Rounded Rectangle 47"/>
          <p:cNvSpPr/>
          <p:nvPr/>
        </p:nvSpPr>
        <p:spPr>
          <a:xfrm>
            <a:off x="4315968" y="5047488"/>
            <a:ext cx="3520440" cy="4114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369A1"/>
                </a:solidFill>
                <a:latin typeface="Meiryo"/>
                <a:cs typeface="Meiryo"/>
                <a:ea typeface="Meiryo"/>
              </a:rPr>
              <a:t>app_settings</a:t>
            </a:r>
            <a:r>
              <a:rPr sz="950" b="0">
                <a:solidFill>
                  <a:srgbClr val="64748B"/>
                </a:solidFill>
                <a:latin typeface="Meiryo"/>
                <a:cs typeface="Meiryo"/>
                <a:ea typeface="Meiryo"/>
              </a:rPr>
              <a:t>  APIキー・Webhook URL(暗号化)</a:t>
            </a:r>
          </a:p>
        </p:txBody>
      </p:sp>
      <p:sp>
        <p:nvSpPr>
          <p:cNvPr id="49" name="Rounded Rectangle 48"/>
          <p:cNvSpPr/>
          <p:nvPr/>
        </p:nvSpPr>
        <p:spPr>
          <a:xfrm>
            <a:off x="7991855" y="5047488"/>
            <a:ext cx="3520440" cy="4114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outbox_jobs</a:t>
            </a:r>
            <a:r>
              <a:rPr sz="950" b="0">
                <a:solidFill>
                  <a:srgbClr val="64748B"/>
                </a:solidFill>
                <a:latin typeface="Meiryo"/>
                <a:cs typeface="Meiryo"/>
                <a:ea typeface="Meiryo"/>
              </a:rPr>
              <a:t>  スプレッドシートへの書き戻し待ち行列</a:t>
            </a:r>
          </a:p>
        </p:txBody>
      </p:sp>
      <p:sp>
        <p:nvSpPr>
          <p:cNvPr id="50" name="Rounded Rectangle 49"/>
          <p:cNvSpPr/>
          <p:nvPr/>
        </p:nvSpPr>
        <p:spPr>
          <a:xfrm>
            <a:off x="457200" y="5569204"/>
            <a:ext cx="11277295" cy="813307"/>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457200" y="5569204"/>
            <a:ext cx="68580" cy="8133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例外は3つだけ</a:t>
            </a:r>
          </a:p>
        </p:txBody>
      </p:sp>
      <p:sp>
        <p:nvSpPr>
          <p:cNvPr id="53" name="TextBox 52"/>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a:t>
            </a:r>
            <a:r>
              <a:rPr sz="1250" b="0" i="0">
                <a:solidFill>
                  <a:srgbClr val="64748B"/>
                </a:solidFill>
                <a:latin typeface="Meiryo"/>
                <a:cs typeface="Meiryo"/>
                <a:ea typeface="Meiryo"/>
              </a:rPr>
              <a:t>   13枚の役割と、鍵になる制約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046220"/>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88036">
                <a:tc>
                  <a:txBody>
                    <a:bodyPr wrap="square"/>
                    <a:lstStyle/>
                    <a:p>
                      <a:pPr algn="l">
                        <a:lnSpc>
                          <a:spcPct val="115000"/>
                        </a:lnSpc>
                        <a:buNone/>
                      </a:pPr>
                      <a:r>
                        <a:rPr sz="105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50" b="0">
                          <a:solidFill>
                            <a:srgbClr val="64748B"/>
                          </a:solidFill>
                          <a:latin typeface="Meiryo"/>
                          <a:cs typeface="Meiryo"/>
                          <a:ea typeface="Meiryo"/>
                        </a:rPr>
                        <a:t>対象外</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顧客(利用世帯の代表者)。35列</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への複合FK</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同上</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領収書。画像はオブジェクトストレージ</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customer_id は空可。dedupe_key で重複検出</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r h="288036">
                <a:tc>
                  <a:txBody>
                    <a:bodyPr wrap="square"/>
                    <a:lstStyle/>
                    <a:p>
                      <a:pPr algn="l">
                        <a:lnSpc>
                          <a:spcPct val="115000"/>
                        </a:lnSpc>
                        <a:buNone/>
                      </a:pPr>
                      <a:r>
                        <a:rPr sz="105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8FAFC"/>
                    </a:solidFill>
                  </a:tcPr>
                </a:tc>
              </a:tr>
              <a:tr h="288036">
                <a:tc>
                  <a:txBody>
                    <a:bodyPr wrap="square"/>
                    <a:lstStyle/>
                    <a:p>
                      <a:pPr algn="l">
                        <a:lnSpc>
                          <a:spcPct val="115000"/>
                        </a:lnSpc>
                        <a:buNone/>
                      </a:pPr>
                      <a:r>
                        <a:rPr sz="105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1テナント1行。資格情報3列だけ暗号化</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230368"/>
            <a:ext cx="548640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23036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321807"/>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「複合FK」とは(第2章で図解します)</a:t>
            </a:r>
          </a:p>
        </p:txBody>
      </p:sp>
      <p:sp>
        <p:nvSpPr>
          <p:cNvPr id="11" name="TextBox 10"/>
          <p:cNvSpPr txBox="1"/>
          <p:nvPr/>
        </p:nvSpPr>
        <p:spPr>
          <a:xfrm>
            <a:off x="640080" y="5577840"/>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230368"/>
            <a:ext cx="5486400" cy="10515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230368"/>
            <a:ext cx="68580" cy="10515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321807"/>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この一覧に無いもの</a:t>
            </a:r>
          </a:p>
        </p:txBody>
      </p:sp>
      <p:sp>
        <p:nvSpPr>
          <p:cNvPr id="15" name="TextBox 14"/>
          <p:cNvSpPr txBox="1"/>
          <p:nvPr/>
        </p:nvSpPr>
        <p:spPr>
          <a:xfrm>
            <a:off x="6428232" y="5577840"/>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予約・請求・カルテのテーブルはまだ存在しません(第4章)。提案書では中心的な機能として書いていますが、スキーマには未着手です。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静的検査:全13テーブル分のSQLに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この形を適用した参照(全7本)</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532120"/>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532120"/>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879592"/>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この落とし穴は 2026-08 のレビューでご指摘いただいて塞いだものです。参照先には UNIQUE(tenant_id, id) を追加してあります。ON DELETE は全て no action(親を消せない)にしており、廃棄はテナント単位の物理削除で行う方針です。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2026-09に方針変更:アプリ側で暗号化するのは資格情報だけにした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この形にした理由(2026-08のレビュー反映)</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以前は「マスター鍵 + 法人ID」から鍵を計算する方式だった。これはマスター鍵が漏れれば全法人の鍵を誰でも再現できるため、実質1本の鍵と同じだった</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法人ごとに独立生成した鍵を包んで保存する形に変更した</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13テーブルで守っている共通ルール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704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71016"/>
            <a:ext cx="5120640" cy="237744"/>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主キーは必ず uuid のランダム値</a:t>
            </a:r>
          </a:p>
        </p:txBody>
      </p:sp>
      <p:sp>
        <p:nvSpPr>
          <p:cNvPr id="10" name="TextBox 9"/>
          <p:cNvSpPr txBox="1"/>
          <p:nvPr/>
        </p:nvSpPr>
        <p:spPr>
          <a:xfrm>
            <a:off x="658368" y="15453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20848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84832"/>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2185416"/>
            <a:ext cx="5120640" cy="237744"/>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日時は必ず timestamptz</a:t>
            </a:r>
          </a:p>
        </p:txBody>
      </p:sp>
      <p:sp>
        <p:nvSpPr>
          <p:cNvPr id="14" name="TextBox 13"/>
          <p:cNvSpPr txBox="1"/>
          <p:nvPr/>
        </p:nvSpPr>
        <p:spPr>
          <a:xfrm>
            <a:off x="658368" y="24597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9992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999232"/>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099816"/>
            <a:ext cx="5120640" cy="237744"/>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派生値は保存しない</a:t>
            </a:r>
          </a:p>
        </p:txBody>
      </p:sp>
      <p:sp>
        <p:nvSpPr>
          <p:cNvPr id="18" name="TextBox 17"/>
          <p:cNvSpPr txBox="1"/>
          <p:nvPr/>
        </p:nvSpPr>
        <p:spPr>
          <a:xfrm>
            <a:off x="658368" y="33741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9136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13632"/>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4014216"/>
            <a:ext cx="5120640" cy="237744"/>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削除しない</a:t>
            </a:r>
          </a:p>
        </p:txBody>
      </p:sp>
      <p:sp>
        <p:nvSpPr>
          <p:cNvPr id="22" name="TextBox 21"/>
          <p:cNvSpPr txBox="1"/>
          <p:nvPr/>
        </p:nvSpPr>
        <p:spPr>
          <a:xfrm>
            <a:off x="658368" y="42885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6245352" y="11704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1170432"/>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46520" y="1271016"/>
            <a:ext cx="5120640" cy="237744"/>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参照はすべて2列セットの外部キー</a:t>
            </a:r>
          </a:p>
        </p:txBody>
      </p:sp>
      <p:sp>
        <p:nvSpPr>
          <p:cNvPr id="26" name="TextBox 25"/>
          <p:cNvSpPr txBox="1"/>
          <p:nvPr/>
        </p:nvSpPr>
        <p:spPr>
          <a:xfrm>
            <a:off x="6446520" y="15453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(tenant_id, xxx_id) → (tenant_id, id)。法人跨ぎを構造的に防ぐ</a:t>
            </a:r>
          </a:p>
        </p:txBody>
      </p:sp>
      <p:sp>
        <p:nvSpPr>
          <p:cNvPr id="27" name="Rounded Rectangle 26"/>
          <p:cNvSpPr/>
          <p:nvPr/>
        </p:nvSpPr>
        <p:spPr>
          <a:xfrm>
            <a:off x="6245352" y="20848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2084832"/>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2185416"/>
            <a:ext cx="5120640" cy="237744"/>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索引・一意制約は tenant_id を先頭に</a:t>
            </a:r>
          </a:p>
        </p:txBody>
      </p:sp>
      <p:sp>
        <p:nvSpPr>
          <p:cNvPr id="30" name="TextBox 29"/>
          <p:cNvSpPr txBox="1"/>
          <p:nvPr/>
        </p:nvSpPr>
        <p:spPr>
          <a:xfrm>
            <a:off x="6446520" y="24597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staff(tenant_id, email) / customers(tenant_id, family_name)</a:t>
            </a:r>
          </a:p>
        </p:txBody>
      </p:sp>
      <p:sp>
        <p:nvSpPr>
          <p:cNvPr id="31" name="Rounded Rectangle 30"/>
          <p:cNvSpPr/>
          <p:nvPr/>
        </p:nvSpPr>
        <p:spPr>
          <a:xfrm>
            <a:off x="6245352" y="29992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999232"/>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3099816"/>
            <a:ext cx="5120640" cy="237744"/>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外部システム由来の値は隔離する</a:t>
            </a:r>
          </a:p>
        </p:txBody>
      </p:sp>
      <p:sp>
        <p:nvSpPr>
          <p:cNvPr id="34" name="TextBox 33"/>
          <p:cNvSpPr txBox="1"/>
          <p:nvPr/>
        </p:nvSpPr>
        <p:spPr>
          <a:xfrm>
            <a:off x="6446520" y="33741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external_source + external_id にまとめ、その組で一意にする</a:t>
            </a:r>
          </a:p>
        </p:txBody>
      </p:sp>
      <p:sp>
        <p:nvSpPr>
          <p:cNvPr id="35" name="Rounded Rectangle 34"/>
          <p:cNvSpPr/>
          <p:nvPr/>
        </p:nvSpPr>
        <p:spPr>
          <a:xfrm>
            <a:off x="6245352" y="3913632"/>
            <a:ext cx="5486400" cy="8046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3913632"/>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4014216"/>
            <a:ext cx="5120640" cy="237744"/>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マイグレーションは前に進むだけ</a:t>
            </a:r>
          </a:p>
        </p:txBody>
      </p:sp>
      <p:sp>
        <p:nvSpPr>
          <p:cNvPr id="38" name="TextBox 37"/>
          <p:cNvSpPr txBox="1"/>
          <p:nvPr/>
        </p:nvSpPr>
        <p:spPr>
          <a:xfrm>
            <a:off x="6446520" y="4288536"/>
            <a:ext cx="5166360" cy="402336"/>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0000〜0007の8本。戻す手順(down)は持たない</a:t>
            </a:r>
          </a:p>
        </p:txBody>
      </p:sp>
      <p:sp>
        <p:nvSpPr>
          <p:cNvPr id="39" name="Rounded Rectangle 38"/>
          <p:cNvSpPr/>
          <p:nvPr/>
        </p:nvSpPr>
        <p:spPr>
          <a:xfrm>
            <a:off x="457200" y="4956048"/>
            <a:ext cx="5486400" cy="12801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4956048"/>
            <a:ext cx="68580" cy="12801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04748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2" name="TextBox 41"/>
          <p:cNvSpPr txBox="1"/>
          <p:nvPr/>
        </p:nvSpPr>
        <p:spPr>
          <a:xfrm>
            <a:off x="640080" y="5303520"/>
            <a:ext cx="5138928" cy="85953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新しい表を足すときに考えることが少ない(同じ形をコピーすればよい)。RLSの張り忘れはCIが機械的に検出する。第4章で足す予定の予約・請求も、この形に載せる想定です。</a:t>
            </a:r>
          </a:p>
        </p:txBody>
      </p:sp>
      <p:sp>
        <p:nvSpPr>
          <p:cNvPr id="43" name="Rounded Rectangle 42"/>
          <p:cNvSpPr/>
          <p:nvPr/>
        </p:nvSpPr>
        <p:spPr>
          <a:xfrm>
            <a:off x="6245352" y="4956048"/>
            <a:ext cx="5486400" cy="12801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6245352" y="4956048"/>
            <a:ext cx="68580" cy="12801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28232" y="5047488"/>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46" name="TextBox 45"/>
          <p:cNvSpPr txBox="1"/>
          <p:nvPr/>
        </p:nvSpPr>
        <p:spPr>
          <a:xfrm>
            <a:off x="6428232" y="5303520"/>
            <a:ext cx="5138928" cy="85953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が35列に肥大化している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現状:1枚に7カテゴリが同居している</a:t>
            </a:r>
          </a:p>
        </p:txBody>
      </p:sp>
      <p:sp>
        <p:nvSpPr>
          <p:cNvPr id="9" name="Rounded Rectangle 8"/>
          <p:cNvSpPr/>
          <p:nvPr/>
        </p:nvSpPr>
        <p:spPr>
          <a:xfrm>
            <a:off x="457200" y="17373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92224"/>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922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196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945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94560"/>
            <a:ext cx="54864"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249424"/>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2494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2768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6517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651760"/>
            <a:ext cx="54864"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706624"/>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7066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7340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31089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3108960"/>
            <a:ext cx="54864"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3163824"/>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第三者情報・位置・自由記述</a:t>
            </a:r>
          </a:p>
        </p:txBody>
      </p:sp>
      <p:sp>
        <p:nvSpPr>
          <p:cNvPr id="27" name="TextBox 26"/>
          <p:cNvSpPr txBox="1"/>
          <p:nvPr/>
        </p:nvSpPr>
        <p:spPr>
          <a:xfrm>
            <a:off x="2542032" y="31638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28" name="TextBox 27"/>
          <p:cNvSpPr txBox="1"/>
          <p:nvPr/>
        </p:nvSpPr>
        <p:spPr>
          <a:xfrm>
            <a:off x="3154680" y="31912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 / 緯度経度</a:t>
            </a:r>
          </a:p>
        </p:txBody>
      </p:sp>
      <p:sp>
        <p:nvSpPr>
          <p:cNvPr id="29" name="Rounded Rectangle 28"/>
          <p:cNvSpPr/>
          <p:nvPr/>
        </p:nvSpPr>
        <p:spPr>
          <a:xfrm>
            <a:off x="457200" y="35661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566160"/>
            <a:ext cx="54864"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621024"/>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2" name="TextBox 31"/>
          <p:cNvSpPr txBox="1"/>
          <p:nvPr/>
        </p:nvSpPr>
        <p:spPr>
          <a:xfrm>
            <a:off x="2542032" y="36210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3" name="TextBox 32"/>
          <p:cNvSpPr txBox="1"/>
          <p:nvPr/>
        </p:nvSpPr>
        <p:spPr>
          <a:xfrm>
            <a:off x="3154680" y="36484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4" name="Rounded Rectangle 33"/>
          <p:cNvSpPr/>
          <p:nvPr/>
        </p:nvSpPr>
        <p:spPr>
          <a:xfrm>
            <a:off x="457200" y="40233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4023360"/>
            <a:ext cx="54864"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4078224"/>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37" name="TextBox 36"/>
          <p:cNvSpPr txBox="1"/>
          <p:nvPr/>
        </p:nvSpPr>
        <p:spPr>
          <a:xfrm>
            <a:off x="2542032" y="40782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38" name="TextBox 37"/>
          <p:cNvSpPr txBox="1"/>
          <p:nvPr/>
        </p:nvSpPr>
        <p:spPr>
          <a:xfrm>
            <a:off x="3154680" y="41056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39" name="Rounded Rectangle 38"/>
          <p:cNvSpPr/>
          <p:nvPr/>
        </p:nvSpPr>
        <p:spPr>
          <a:xfrm>
            <a:off x="457200" y="4480560"/>
            <a:ext cx="5394960" cy="38404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4480560"/>
            <a:ext cx="54864" cy="38404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4535424"/>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42" name="TextBox 41"/>
          <p:cNvSpPr txBox="1"/>
          <p:nvPr/>
        </p:nvSpPr>
        <p:spPr>
          <a:xfrm>
            <a:off x="2542032" y="453542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43" name="TextBox 42"/>
          <p:cNvSpPr txBox="1"/>
          <p:nvPr/>
        </p:nvSpPr>
        <p:spPr>
          <a:xfrm>
            <a:off x="3154680" y="4562856"/>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44" name="Rounded Rectangle 43"/>
          <p:cNvSpPr/>
          <p:nvPr/>
        </p:nvSpPr>
        <p:spPr>
          <a:xfrm>
            <a:off x="457200" y="493776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35列(1テーブル)</a:t>
            </a:r>
          </a:p>
        </p:txBody>
      </p:sp>
      <p:sp>
        <p:nvSpPr>
          <p:cNvPr id="45" name="TextBox 4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46" name="Rounded Rectangle 4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48" name="TextBox 4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49" name="Rounded Rectangle 4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51" name="TextBox 5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52" name="Rounded Rectangle 5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54" name="TextBox 5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55" name="Rounded Rectangle 5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57" name="TextBox 5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58" name="Rounded Rectangle 5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61" name="TextBox 6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62" name="Rounded Rectangle 6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65" name="TextBox 6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35列は多すぎるので分けるべき」か、「顧客マスタなら35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勤怠だけJSONを1列に押し込んでいる</a:t>
            </a:r>
            <a:r>
              <a:rPr sz="1250" b="0" i="0">
                <a:solidFill>
                  <a:srgbClr val="64748B"/>
                </a:solidFill>
                <a:latin typeface="Meiryo"/>
                <a:cs typeface="Meiryo"/>
                <a:ea typeface="Meiryo"/>
              </a:rPr>
              <a:t>   給与に直結する領域なのに、構造がデータベースから読めない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 attendance_days.row_data(jsonb)</a:t>
            </a:r>
          </a:p>
        </p:txBody>
      </p:sp>
      <p:sp>
        <p:nvSpPr>
          <p:cNvPr id="9" name="Rounded Rectangle 8"/>
          <p:cNvSpPr/>
          <p:nvPr/>
        </p:nvSpPr>
        <p:spPr>
          <a:xfrm>
            <a:off x="457200" y="1737360"/>
            <a:ext cx="5486400" cy="123444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1828800"/>
            <a:ext cx="5120640" cy="1051560"/>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Consolas"/>
                <a:cs typeface="Consolas"/>
                <a:ea typeface="Consolas"/>
              </a:rPr>
              <a:t>{ "C": "9:00", "D": "18:00", "E": "60",
  "F": "訪問", "G": "12.4", … }</a:t>
            </a:r>
          </a:p>
        </p:txBody>
      </p:sp>
      <p:sp>
        <p:nvSpPr>
          <p:cNvPr id="11" name="TextBox 10"/>
          <p:cNvSpPr txBox="1"/>
          <p:nvPr/>
        </p:nvSpPr>
        <p:spPr>
          <a:xfrm>
            <a:off x="640080" y="2487168"/>
            <a:ext cx="5120640" cy="41148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キーはスプレッドシートの列記号。意味はアプリ側のコードにしか書かれていない。</a:t>
            </a:r>
          </a:p>
        </p:txBody>
      </p:sp>
      <p:sp>
        <p:nvSpPr>
          <p:cNvPr id="12" name="TextBox 11"/>
          <p:cNvSpPr txBox="1"/>
          <p:nvPr/>
        </p:nvSpPr>
        <p:spPr>
          <a:xfrm>
            <a:off x="457200" y="3063240"/>
            <a:ext cx="5486400" cy="173736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そうした理由:キーが動的で、常に「1日分をまるごと読み書き」する用途しかなく、分解する利点が無かった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残業時間・移動距離などの計算結果は保存せず、毎回このJSONから計算している</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jsonb なので、必要になればSQLから個別キーを参照することもできる</a:t>
            </a:r>
          </a:p>
        </p:txBody>
      </p:sp>
      <p:sp>
        <p:nvSpPr>
          <p:cNvPr id="13" name="TextBox 12"/>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この形の弱点</a:t>
            </a:r>
          </a:p>
        </p:txBody>
      </p:sp>
      <p:sp>
        <p:nvSpPr>
          <p:cNvPr id="14" name="Rounded Rectangle 13"/>
          <p:cNvSpPr/>
          <p:nvPr/>
        </p:nvSpPr>
        <p:spPr>
          <a:xfrm>
            <a:off x="6245352" y="1719072"/>
            <a:ext cx="5486400" cy="676656"/>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0" y="1764792"/>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6" name="TextBox 15"/>
          <p:cNvSpPr txBox="1"/>
          <p:nvPr/>
        </p:nvSpPr>
        <p:spPr>
          <a:xfrm>
            <a:off x="6400800" y="2011679"/>
            <a:ext cx="5212080" cy="347472"/>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"9:00" のところに文字化けや空文字が入っても、DBは受け入れる</a:t>
            </a:r>
          </a:p>
        </p:txBody>
      </p:sp>
      <p:sp>
        <p:nvSpPr>
          <p:cNvPr id="17" name="Rounded Rectangle 16"/>
          <p:cNvSpPr/>
          <p:nvPr/>
        </p:nvSpPr>
        <p:spPr>
          <a:xfrm>
            <a:off x="6245352" y="2468879"/>
            <a:ext cx="5486400" cy="676656"/>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0" y="2514599"/>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列の意味がDBから読めない</a:t>
            </a:r>
          </a:p>
        </p:txBody>
      </p:sp>
      <p:sp>
        <p:nvSpPr>
          <p:cNvPr id="19" name="TextBox 18"/>
          <p:cNvSpPr txBox="1"/>
          <p:nvPr/>
        </p:nvSpPr>
        <p:spPr>
          <a:xfrm>
            <a:off x="6400800" y="2761487"/>
            <a:ext cx="5212080" cy="347472"/>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 が何かを知るにはアプリのコードを読むしかない。社労士への説明もしづらい</a:t>
            </a:r>
          </a:p>
        </p:txBody>
      </p:sp>
      <p:sp>
        <p:nvSpPr>
          <p:cNvPr id="20" name="Rounded Rectangle 19"/>
          <p:cNvSpPr/>
          <p:nvPr/>
        </p:nvSpPr>
        <p:spPr>
          <a:xfrm>
            <a:off x="6245352" y="3218687"/>
            <a:ext cx="5486400" cy="676656"/>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0" y="3264407"/>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22" name="TextBox 21"/>
          <p:cNvSpPr txBox="1"/>
          <p:nvPr/>
        </p:nvSpPr>
        <p:spPr>
          <a:xfrm>
            <a:off x="6400800" y="3511295"/>
            <a:ext cx="5212080" cy="347472"/>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「残業が多い月」を出すには全行のJSONを読んで計算する必要がある</a:t>
            </a:r>
          </a:p>
        </p:txBody>
      </p:sp>
      <p:sp>
        <p:nvSpPr>
          <p:cNvPr id="23" name="Rounded Rectangle 22"/>
          <p:cNvSpPr/>
          <p:nvPr/>
        </p:nvSpPr>
        <p:spPr>
          <a:xfrm>
            <a:off x="6245352" y="3968496"/>
            <a:ext cx="5486400" cy="676656"/>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0" y="4014215"/>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スプレッドシートの列構成に縛られる</a:t>
            </a:r>
          </a:p>
        </p:txBody>
      </p:sp>
      <p:sp>
        <p:nvSpPr>
          <p:cNvPr id="25" name="TextBox 24"/>
          <p:cNvSpPr txBox="1"/>
          <p:nvPr/>
        </p:nvSpPr>
        <p:spPr>
          <a:xfrm>
            <a:off x="6400800" y="4261104"/>
            <a:ext cx="5212080" cy="347472"/>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元のテンプレートの列記号に依存しており、様式変更に弱い</a:t>
            </a:r>
          </a:p>
        </p:txBody>
      </p:sp>
      <p:sp>
        <p:nvSpPr>
          <p:cNvPr id="26" name="Rounded Rectangle 25"/>
          <p:cNvSpPr/>
          <p:nvPr/>
        </p:nvSpPr>
        <p:spPr>
          <a:xfrm>
            <a:off x="457200" y="4791456"/>
            <a:ext cx="11277295" cy="813307"/>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791456"/>
            <a:ext cx="68580" cy="8133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4882896"/>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とくに気になっている点</a:t>
            </a:r>
          </a:p>
        </p:txBody>
      </p:sp>
      <p:sp>
        <p:nvSpPr>
          <p:cNvPr id="29" name="TextBox 28"/>
          <p:cNvSpPr txBox="1"/>
          <p:nvPr/>
        </p:nvSpPr>
        <p:spPr>
          <a:xfrm>
            <a:off x="640080" y="5138928"/>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勤怠は給与計算に直結します。現在は旧システム(Google Apps Script版)と同じ計算結果になることを合成データ19ケースで確認していますが、実際の出勤簿での照合はまだ行っていません。</a:t>
            </a:r>
          </a:p>
        </p:txBody>
      </p:sp>
      <p:sp>
        <p:nvSpPr>
          <p:cNvPr id="30" name="Rounded Rectangle 29"/>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3" name="TextBox 32"/>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給与直結の勤怠を、日報と同じように項目ごとの列へ分解すべきでしょうか。1日分をまるごと扱う使い方ならJSONのままで足りるでしょうか。判断の分かれ目をご教示ください。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金額を文字列型で持っている</a:t>
            </a:r>
            <a:r>
              <a:rPr sz="1250" b="0" i="0">
                <a:solidFill>
                  <a:srgbClr val="64748B"/>
                </a:solidFill>
                <a:latin typeface="Meiryo"/>
                <a:cs typeface="Meiryo"/>
                <a:ea typeface="Meiryo"/>
              </a:rPr>
              <a:t>   領収書の金額が text。請求機能を載せる前に直すべきか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packages/db/src/schema/receipts.ts / doc/07 第6章は「金額は整数」と書いている</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領収書の金額は、OCRで読み取った文字列をそのまま text 列に入れている。集計や請求の計算には使えない形。</a:t>
            </a:r>
          </a:p>
        </p:txBody>
      </p:sp>
      <p:sp>
        <p:nvSpPr>
          <p:cNvPr id="8" name="TextBox 7"/>
          <p:cNvSpPr txBox="1"/>
          <p:nvPr/>
        </p:nvSpPr>
        <p:spPr>
          <a:xfrm>
            <a:off x="457200" y="1463040"/>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 receipts の主な列</a:t>
            </a:r>
          </a:p>
        </p:txBody>
      </p:sp>
      <p:graphicFrame>
        <p:nvGraphicFramePr>
          <p:cNvPr id="9" name="Table 8"/>
          <p:cNvGraphicFramePr>
            <a:graphicFrameLocks noGrp="1"/>
          </p:cNvGraphicFramePr>
          <p:nvPr/>
        </p:nvGraphicFramePr>
        <p:xfrm>
          <a:off x="457200" y="1737360"/>
          <a:ext cx="5486399" cy="1664208"/>
        </p:xfrm>
        <a:graphic>
          <a:graphicData uri="http://schemas.openxmlformats.org/drawingml/2006/table">
            <a:tbl>
              <a:tblPr firstRow="1" bandRow="1">
                <a:tableStyleId>{5C22544A-7EE6-4342-B048-85BDC9FD1C3A}</a:tableStyleId>
              </a:tblPr>
              <a:tblGrid>
                <a:gridCol w="1350498"/>
                <a:gridCol w="1266092"/>
                <a:gridCol w="2869809"/>
              </a:tblGrid>
              <a:tr h="292608">
                <a:tc>
                  <a:txBody>
                    <a:bodyPr wrap="square"/>
                    <a:lstStyle/>
                    <a:p>
                      <a:pPr algn="l">
                        <a:lnSpc>
                          <a:spcPct val="115000"/>
                        </a:lnSpc>
                        <a:buNone/>
                      </a:pPr>
                      <a:r>
                        <a:rPr sz="1050" b="1">
                          <a:solidFill>
                            <a:srgbClr val="14223A"/>
                          </a:solidFill>
                          <a:latin typeface="Meiryo"/>
                          <a:cs typeface="Meiryo"/>
                          <a:ea typeface="Meiryo"/>
                        </a:rPr>
                        <a:t>列</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型</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中身</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amount</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text</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"1,000" や "1000円" のような文字列</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store_name</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text</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店舗名(正規化済み)</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dedupe_key</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text</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重複検出用の正規化文字列</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customer_id</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uuid(空可)</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顧客に紐付かない経費もあるため</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file_key</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text</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画像の保存キー(実体はGCS想定)</a:t>
                      </a:r>
                    </a:p>
                  </a:txBody>
                  <a:tcPr marL="64008" marR="64008" marT="27432" marB="27432" anchor="ctr">
                    <a:solidFill>
                      <a:srgbClr val="FFFFFF"/>
                    </a:solidFill>
                  </a:tcPr>
                </a:tc>
              </a:tr>
            </a:tbl>
          </a:graphicData>
        </a:graphic>
      </p:graphicFrame>
      <p:sp>
        <p:nvSpPr>
          <p:cNvPr id="10" name="TextBox 9"/>
          <p:cNvSpPr txBox="1"/>
          <p:nvPr/>
        </p:nvSpPr>
        <p:spPr>
          <a:xfrm>
            <a:off x="457200" y="3429000"/>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「1,000」と「1000」が別の値になり、合計が出せない</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「1000円」のような値が入っても、データベースは受け入れてしまう</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請求書を作る段階では必ず数値が必要になる</a:t>
            </a:r>
          </a:p>
        </p:txBody>
      </p:sp>
      <p:sp>
        <p:nvSpPr>
          <p:cNvPr id="11" name="Rounded Rectangle 10"/>
          <p:cNvSpPr/>
          <p:nvPr/>
        </p:nvSpPr>
        <p:spPr>
          <a:xfrm>
            <a:off x="6245352" y="146304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46304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572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提案書(doc/07 第6章)に書いていること</a:t>
            </a:r>
          </a:p>
        </p:txBody>
      </p:sp>
      <p:sp>
        <p:nvSpPr>
          <p:cNvPr id="14" name="TextBox 13"/>
          <p:cNvSpPr txBox="1"/>
          <p:nvPr/>
        </p:nvSpPr>
        <p:spPr>
          <a:xfrm>
            <a:off x="6455664" y="187452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「金額は常に整数(銭単位)で保持し、浮動小数は使わない」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請求明細の金額は生成列(データベースが計算して保証する列)にし、合計値との不整合はコミット時に検証する、とも書いている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つまり請求機能を作る段階の方針は決めてあるのに、いま入っている領収書の金額はその方針に合っていない</a:t>
            </a:r>
          </a:p>
        </p:txBody>
      </p:sp>
      <p:sp>
        <p:nvSpPr>
          <p:cNvPr id="15" name="Rounded Rectangle 14"/>
          <p:cNvSpPr/>
          <p:nvPr/>
        </p:nvSpPr>
        <p:spPr>
          <a:xfrm>
            <a:off x="6245352" y="3429000"/>
            <a:ext cx="5486400"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45352" y="3429000"/>
            <a:ext cx="68580" cy="13716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55664" y="3538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直すなら(運用前なので破壊的変更が可能)</a:t>
            </a:r>
          </a:p>
        </p:txBody>
      </p:sp>
      <p:sp>
        <p:nvSpPr>
          <p:cNvPr id="18" name="TextBox 17"/>
          <p:cNvSpPr txBox="1"/>
          <p:nvPr/>
        </p:nvSpPr>
        <p:spPr>
          <a:xfrm>
            <a:off x="6455664" y="3840480"/>
            <a:ext cx="5111496"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amount_yen integer</a:t>
            </a:r>
            <a:r>
              <a:rPr sz="1050" b="0">
                <a:solidFill>
                  <a:srgbClr val="14223A"/>
                </a:solidFill>
                <a:latin typeface="Meiryo"/>
                <a:cs typeface="Meiryo"/>
                <a:ea typeface="Meiryo"/>
              </a:rPr>
              <a:t> に変更し、OCRの生文字列は 別列(</a:t>
            </a:r>
            <a:r>
              <a:rPr sz="1050" b="0">
                <a:solidFill>
                  <a:srgbClr val="14223A"/>
                </a:solidFill>
                <a:latin typeface="Consolas"/>
                <a:cs typeface="Consolas"/>
                <a:ea typeface="Consolas"/>
              </a:rPr>
              <a:t>amount_raw text</a:t>
            </a:r>
            <a:r>
              <a:rPr sz="1050" b="0">
                <a:solidFill>
                  <a:srgbClr val="14223A"/>
                </a:solidFill>
                <a:latin typeface="Meiryo"/>
                <a:cs typeface="Meiryo"/>
                <a:ea typeface="Meiryo"/>
              </a:rPr>
              <a:t>)に残す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読み取れなかった場合は空(null)を許し、あとから人が直せるようにする</a:t>
            </a:r>
          </a:p>
        </p:txBody>
      </p:sp>
      <p:sp>
        <p:nvSpPr>
          <p:cNvPr id="19" name="Rounded Rectangle 18"/>
          <p:cNvSpPr/>
          <p:nvPr/>
        </p:nvSpPr>
        <p:spPr>
          <a:xfrm>
            <a:off x="457200" y="4864608"/>
            <a:ext cx="11277295" cy="813307"/>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64608"/>
            <a:ext cx="68580" cy="8133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4956048"/>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同じ問題が他にもある可能性</a:t>
            </a:r>
          </a:p>
        </p:txBody>
      </p:sp>
      <p:sp>
        <p:nvSpPr>
          <p:cNvPr id="22" name="TextBox 21"/>
          <p:cNvSpPr txBox="1"/>
          <p:nvPr/>
        </p:nvSpPr>
        <p:spPr>
          <a:xfrm>
            <a:off x="640080" y="5212080"/>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勤怠の row_data も時刻・距離を文字列で持っています("9:00" / "12.4")。「外部システムから来た文字列をそのまま入れる」という判断が、あとから型を必要とする場所で詰まる可能性があります。</a:t>
            </a:r>
          </a:p>
        </p:txBody>
      </p:sp>
      <p:sp>
        <p:nvSpPr>
          <p:cNvPr id="23" name="Rounded Rectangle 22"/>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26" name="TextBox 25"/>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金額・時刻・距離のような「計算に使う値」は、取り込み時点で数値へ正規化すべきでしょうか。変換できなかった値の扱い(取り込みを止める / 空にして人が直す / 生文字列を併存)の定石もご教示ください。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README「フェーズ状況」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graphicFrame>
        <p:nvGraphicFramePr>
          <p:cNvPr id="7" name="Table 6"/>
          <p:cNvGraphicFramePr>
            <a:graphicFrameLocks noGrp="1"/>
          </p:cNvGraphicFramePr>
          <p:nvPr/>
        </p:nvGraphicFramePr>
        <p:xfrm>
          <a:off x="457200" y="1170432"/>
          <a:ext cx="11277293" cy="4233672"/>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786384">
                <a:tc>
                  <a:txBody>
                    <a:bodyPr wrap="square"/>
                    <a:lstStyle/>
                    <a:p>
                      <a:pPr algn="l">
                        <a:lnSpc>
                          <a:spcPct val="115000"/>
                        </a:lnSpc>
                        <a:buNone/>
                      </a:pPr>
                      <a:r>
                        <a:rPr sz="1000" b="1">
                          <a:solidFill>
                            <a:srgbClr val="14223A"/>
                          </a:solidFill>
                          <a:latin typeface="Meiryo"/>
                          <a:cs typeface="Meiryo"/>
                          <a:ea typeface="Meiryo"/>
                        </a:rPr>
                        <a:t>updated_at をアプリが更新している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更新日時の列は、アプリのコードが毎回セットしている。データベースのトリガーは無い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管理ツールから直接UPDATEすると、更新日時が古いまま残る。スプレッドシートへの同期キーにも使っているため、取り残しの原因になりうる</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786384">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r h="786384">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786384">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786384">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この5件の優先順位付けが妥当かをご確認いただきたいです。特に「ON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これから足すもの・相談事項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拡張のしやすさをどう作ってあるか、そして直近で決めたいこと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まだ存在しない機能</a:t>
            </a:r>
            <a:r>
              <a:rPr sz="1250" b="0" i="0">
                <a:solidFill>
                  <a:srgbClr val="64748B"/>
                </a:solidFill>
                <a:latin typeface="Meiryo"/>
                <a:cs typeface="Meiryo"/>
                <a:ea typeface="Meiryo"/>
              </a:rPr>
              <a:t>   提案書の中心的な機能が、スキーマには無い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第4〜7章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13テーブルは「土台」にあたる部分です。差別化要因として提案書に書いた機能は、まだテーブルすら作っていません。</a:t>
            </a:r>
          </a:p>
        </p:txBody>
      </p:sp>
      <p:sp>
        <p:nvSpPr>
          <p:cNvPr id="8" name="Rounded Rectangle 7"/>
          <p:cNvSpPr/>
          <p:nvPr/>
        </p:nvSpPr>
        <p:spPr>
          <a:xfrm>
            <a:off x="457200" y="1481328"/>
            <a:ext cx="2724912" cy="2880360"/>
          </a:xfrm>
          <a:prstGeom prst="roundRect">
            <a:avLst>
              <a:gd name="adj" fmla="val 12000"/>
            </a:avLst>
          </a:prstGeom>
          <a:solidFill>
            <a:srgbClr val="FFFFFF"/>
          </a:solidFill>
          <a:ln w="16510">
            <a:solidFill>
              <a:srgbClr val="B91C1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予約・スケジュール</a:t>
            </a:r>
          </a:p>
        </p:txBody>
      </p:sp>
      <p:sp>
        <p:nvSpPr>
          <p:cNvPr id="11" name="Rounded Rectangle 10"/>
          <p:cNvSpPr/>
          <p:nvPr/>
        </p:nvSpPr>
        <p:spPr>
          <a:xfrm>
            <a:off x="621792" y="1956816"/>
            <a:ext cx="10058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未着手</a:t>
            </a:r>
          </a:p>
        </p:txBody>
      </p:sp>
      <p:sp>
        <p:nvSpPr>
          <p:cNvPr id="12" name="TextBox 11"/>
          <p:cNvSpPr txBox="1"/>
          <p:nvPr/>
        </p:nvSpPr>
        <p:spPr>
          <a:xfrm>
            <a:off x="621792" y="2286000"/>
            <a:ext cx="2395728" cy="2011680"/>
          </a:xfrm>
          <a:prstGeom prst="rect">
            <a:avLst/>
          </a:prstGeom>
          <a:noFill/>
        </p:spPr>
        <p:txBody>
          <a:bodyPr wrap="square" lIns="0" rIns="0" tIns="0" bIns="0">
            <a:spAutoFit/>
          </a:bodyPr>
          <a:lstStyle/>
          <a:p>
            <a:pPr marL="182880" indent="-182880">
              <a:lnSpc>
                <a:spcPct val="128000"/>
              </a:lnSpc>
              <a:spcBef>
                <a:spcPts val="0"/>
              </a:spcBef>
              <a:buClr>
                <a:srgbClr val="0369A1"/>
              </a:buClr>
              <a:buFont typeface="Meiryo"/>
              <a:buChar char="▪"/>
            </a:pPr>
            <a:r>
              <a:rPr sz="1000" b="0">
                <a:solidFill>
                  <a:srgbClr val="14223A"/>
                </a:solidFill>
                <a:latin typeface="Meiryo"/>
                <a:cs typeface="Meiryo"/>
                <a:ea typeface="Meiryo"/>
              </a:rPr>
              <a:t>reservations(スタッフ・顧客・時間帯)</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二重予約の防止は EXCLUDE USING gist 制約で
データベース側に強制させる想定</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初期化SQLで btree_gist 拡張は有効化済み(仕込み)</a:t>
            </a:r>
          </a:p>
        </p:txBody>
      </p:sp>
      <p:sp>
        <p:nvSpPr>
          <p:cNvPr id="13" name="Rounded Rectangle 12"/>
          <p:cNvSpPr/>
          <p:nvPr/>
        </p:nvSpPr>
        <p:spPr>
          <a:xfrm>
            <a:off x="3310128" y="1481328"/>
            <a:ext cx="2724912" cy="2880360"/>
          </a:xfrm>
          <a:prstGeom prst="roundRect">
            <a:avLst>
              <a:gd name="adj" fmla="val 12000"/>
            </a:avLst>
          </a:prstGeom>
          <a:solidFill>
            <a:srgbClr val="FFFFFF"/>
          </a:solidFill>
          <a:ln w="16510">
            <a:solidFill>
              <a:srgbClr val="B91C1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310128"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310128"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請求・決済</a:t>
            </a:r>
          </a:p>
        </p:txBody>
      </p:sp>
      <p:sp>
        <p:nvSpPr>
          <p:cNvPr id="16" name="Rounded Rectangle 15"/>
          <p:cNvSpPr/>
          <p:nvPr/>
        </p:nvSpPr>
        <p:spPr>
          <a:xfrm>
            <a:off x="3474720" y="1956816"/>
            <a:ext cx="10058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未着手</a:t>
            </a:r>
          </a:p>
        </p:txBody>
      </p:sp>
      <p:sp>
        <p:nvSpPr>
          <p:cNvPr id="17" name="TextBox 16"/>
          <p:cNvSpPr txBox="1"/>
          <p:nvPr/>
        </p:nvSpPr>
        <p:spPr>
          <a:xfrm>
            <a:off x="3474720" y="2286000"/>
            <a:ext cx="2395728" cy="2011680"/>
          </a:xfrm>
          <a:prstGeom prst="rect">
            <a:avLst/>
          </a:prstGeom>
          <a:noFill/>
        </p:spPr>
        <p:txBody>
          <a:bodyPr wrap="square" lIns="0" rIns="0" tIns="0" bIns="0">
            <a:spAutoFit/>
          </a:bodyPr>
          <a:lstStyle/>
          <a:p>
            <a:pPr marL="182880" indent="-182880">
              <a:lnSpc>
                <a:spcPct val="128000"/>
              </a:lnSpc>
              <a:spcBef>
                <a:spcPts val="0"/>
              </a:spcBef>
              <a:buClr>
                <a:srgbClr val="0369A1"/>
              </a:buClr>
              <a:buFont typeface="Meiryo"/>
              <a:buChar char="▪"/>
            </a:pPr>
            <a:r>
              <a:rPr sz="1000" b="0">
                <a:solidFill>
                  <a:srgbClr val="14223A"/>
                </a:solidFill>
                <a:latin typeface="Meiryo"/>
                <a:cs typeface="Meiryo"/>
                <a:ea typeface="Meiryo"/>
              </a:rPr>
              <a:t>invoices / invoice_lines / payments /
payment_allocations</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金額は整数(銭単位)。明細の金額は生成列にし、
合計との不整合をコミット時に検証</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レセプト請求(保険)はスコープ外</a:t>
            </a:r>
          </a:p>
        </p:txBody>
      </p:sp>
      <p:sp>
        <p:nvSpPr>
          <p:cNvPr id="18" name="Rounded Rectangle 17"/>
          <p:cNvSpPr/>
          <p:nvPr/>
        </p:nvSpPr>
        <p:spPr>
          <a:xfrm>
            <a:off x="6163056" y="1481328"/>
            <a:ext cx="2724912" cy="2880360"/>
          </a:xfrm>
          <a:prstGeom prst="roundRect">
            <a:avLst>
              <a:gd name="adj" fmla="val 12000"/>
            </a:avLst>
          </a:prstGeom>
          <a:solidFill>
            <a:srgbClr val="FFFFFF"/>
          </a:solidFill>
          <a:ln w="16510">
            <a:solidFill>
              <a:srgbClr val="B91C1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163056"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163056" y="1481328"/>
            <a:ext cx="272491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カルテ・記録</a:t>
            </a:r>
          </a:p>
        </p:txBody>
      </p:sp>
      <p:sp>
        <p:nvSpPr>
          <p:cNvPr id="21" name="Rounded Rectangle 20"/>
          <p:cNvSpPr/>
          <p:nvPr/>
        </p:nvSpPr>
        <p:spPr>
          <a:xfrm>
            <a:off x="6327648" y="1956816"/>
            <a:ext cx="10058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未着手</a:t>
            </a:r>
          </a:p>
        </p:txBody>
      </p:sp>
      <p:sp>
        <p:nvSpPr>
          <p:cNvPr id="22" name="TextBox 21"/>
          <p:cNvSpPr txBox="1"/>
          <p:nvPr/>
        </p:nvSpPr>
        <p:spPr>
          <a:xfrm>
            <a:off x="6327648" y="2286000"/>
            <a:ext cx="2395728" cy="2011680"/>
          </a:xfrm>
          <a:prstGeom prst="rect">
            <a:avLst/>
          </a:prstGeom>
          <a:noFill/>
        </p:spPr>
        <p:txBody>
          <a:bodyPr wrap="square" lIns="0" rIns="0" tIns="0" bIns="0">
            <a:spAutoFit/>
          </a:bodyPr>
          <a:lstStyle/>
          <a:p>
            <a:pPr marL="182880" indent="-182880">
              <a:lnSpc>
                <a:spcPct val="128000"/>
              </a:lnSpc>
              <a:spcBef>
                <a:spcPts val="0"/>
              </a:spcBef>
              <a:buClr>
                <a:srgbClr val="0369A1"/>
              </a:buClr>
              <a:buFont typeface="Meiryo"/>
              <a:buChar char="▪"/>
            </a:pPr>
            <a:r>
              <a:rPr sz="1000" b="0">
                <a:solidFill>
                  <a:srgbClr val="14223A"/>
                </a:solidFill>
                <a:latin typeface="Meiryo"/>
                <a:cs typeface="Meiryo"/>
                <a:ea typeface="Meiryo"/>
              </a:rPr>
              <a:t>care_records(共通)+ 訪問看護向けの
nursing_vitals / physician_instructions</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改訂履歴と保存年限の管理が要件になる</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法定保存年数は要確認事項として残っている</a:t>
            </a:r>
          </a:p>
        </p:txBody>
      </p:sp>
      <p:sp>
        <p:nvSpPr>
          <p:cNvPr id="23" name="Rounded Rectangle 22"/>
          <p:cNvSpPr/>
          <p:nvPr/>
        </p:nvSpPr>
        <p:spPr>
          <a:xfrm>
            <a:off x="9015984" y="1481328"/>
            <a:ext cx="2724912" cy="2880360"/>
          </a:xfrm>
          <a:prstGeom prst="roundRect">
            <a:avLst>
              <a:gd name="adj" fmla="val 12000"/>
            </a:avLst>
          </a:prstGeom>
          <a:solidFill>
            <a:srgbClr val="FFFFFF"/>
          </a:solidFill>
          <a:ln w="1651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015984" y="1481328"/>
            <a:ext cx="2724912"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015984" y="1481328"/>
            <a:ext cx="2724912"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業種差の吸収</a:t>
            </a:r>
          </a:p>
        </p:txBody>
      </p:sp>
      <p:sp>
        <p:nvSpPr>
          <p:cNvPr id="26" name="Rounded Rectangle 25"/>
          <p:cNvSpPr/>
          <p:nvPr/>
        </p:nvSpPr>
        <p:spPr>
          <a:xfrm>
            <a:off x="9180576" y="1956816"/>
            <a:ext cx="10058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設計のみ</a:t>
            </a:r>
          </a:p>
        </p:txBody>
      </p:sp>
      <p:sp>
        <p:nvSpPr>
          <p:cNvPr id="27" name="TextBox 26"/>
          <p:cNvSpPr txBox="1"/>
          <p:nvPr/>
        </p:nvSpPr>
        <p:spPr>
          <a:xfrm>
            <a:off x="9180576" y="2286000"/>
            <a:ext cx="2395728" cy="2011680"/>
          </a:xfrm>
          <a:prstGeom prst="rect">
            <a:avLst/>
          </a:prstGeom>
          <a:noFill/>
        </p:spPr>
        <p:txBody>
          <a:bodyPr wrap="square" lIns="0" rIns="0" tIns="0" bIns="0">
            <a:spAutoFit/>
          </a:bodyPr>
          <a:lstStyle/>
          <a:p>
            <a:pPr marL="182880" indent="-182880">
              <a:lnSpc>
                <a:spcPct val="128000"/>
              </a:lnSpc>
              <a:spcBef>
                <a:spcPts val="0"/>
              </a:spcBef>
              <a:buClr>
                <a:srgbClr val="0369A1"/>
              </a:buClr>
              <a:buFont typeface="Meiryo"/>
              <a:buChar char="▪"/>
            </a:pPr>
            <a:r>
              <a:rPr sz="1000" b="0">
                <a:solidFill>
                  <a:srgbClr val="14223A"/>
                </a:solidFill>
                <a:latin typeface="Meiryo"/>
                <a:cs typeface="Meiryo"/>
                <a:ea typeface="Meiryo"/>
              </a:rPr>
              <a:t>tenant_features(機能フラグ)で法人ごとに
使う機能を切り替える</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表示・検索用途に限ったJSONB列(custom_fields)</a:t>
            </a:r>
          </a:p>
          <a:p>
            <a:pPr marL="182880" indent="-182880">
              <a:lnSpc>
                <a:spcPct val="128000"/>
              </a:lnSpc>
              <a:spcBef>
                <a:spcPts val="700"/>
              </a:spcBef>
              <a:buClr>
                <a:srgbClr val="0369A1"/>
              </a:buClr>
              <a:buFont typeface="Meiryo"/>
              <a:buChar char="▪"/>
            </a:pPr>
            <a:r>
              <a:rPr sz="1000" b="0">
                <a:solidFill>
                  <a:srgbClr val="14223A"/>
                </a:solidFill>
                <a:latin typeface="Meiryo"/>
                <a:cs typeface="Meiryo"/>
                <a:ea typeface="Meiryo"/>
              </a:rPr>
              <a:t>請求・カルテの本体データはJSONBに置かない方針</a:t>
            </a:r>
          </a:p>
        </p:txBody>
      </p:sp>
      <p:sp>
        <p:nvSpPr>
          <p:cNvPr id="28" name="Rounded Rectangle 27"/>
          <p:cNvSpPr/>
          <p:nvPr/>
        </p:nvSpPr>
        <p:spPr>
          <a:xfrm>
            <a:off x="457200" y="4572000"/>
            <a:ext cx="5486400"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57200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681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「拡張しやすい形」にはしてあると考えている</a:t>
            </a:r>
          </a:p>
        </p:txBody>
      </p:sp>
      <p:sp>
        <p:nvSpPr>
          <p:cNvPr id="31" name="TextBox 30"/>
          <p:cNvSpPr txBox="1"/>
          <p:nvPr/>
        </p:nvSpPr>
        <p:spPr>
          <a:xfrm>
            <a:off x="667512" y="4983480"/>
            <a:ext cx="5111496"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表を1枚足す手順が決まっている(同じ規約をコピーし、RLSの張り忘れはCIが検出)</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業務ロジックはデータベースの実装から切り離してあるため、表の追加が画面まで波及しにくい</a:t>
            </a:r>
          </a:p>
        </p:txBody>
      </p:sp>
      <p:sp>
        <p:nvSpPr>
          <p:cNvPr id="32" name="Rounded Rectangle 31"/>
          <p:cNvSpPr/>
          <p:nvPr/>
        </p:nvSpPr>
        <p:spPr>
          <a:xfrm>
            <a:off x="6245352" y="4572000"/>
            <a:ext cx="5486400" cy="11430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572000"/>
            <a:ext cx="68580" cy="1143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6634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ただし後から足すのが高いものがある</a:t>
            </a:r>
          </a:p>
        </p:txBody>
      </p:sp>
      <p:sp>
        <p:nvSpPr>
          <p:cNvPr id="35" name="TextBox 34"/>
          <p:cNvSpPr txBox="1"/>
          <p:nvPr/>
        </p:nvSpPr>
        <p:spPr>
          <a:xfrm>
            <a:off x="6428232" y="4919472"/>
            <a:ext cx="5138928" cy="7223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予約の二重登録防止と請求の金額整合は、あとから入れると既存データの移行が伴います。「土台のうちに入れるべきか、後回しでよいか」を判断いただきたい部分です。</a:t>
            </a:r>
          </a:p>
        </p:txBody>
      </p:sp>
      <p:sp>
        <p:nvSpPr>
          <p:cNvPr id="36" name="Rounded Rectangle 35"/>
          <p:cNvSpPr/>
          <p:nvPr/>
        </p:nvSpPr>
        <p:spPr>
          <a:xfrm>
            <a:off x="457200" y="5756402"/>
            <a:ext cx="11277295" cy="62611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756402"/>
            <a:ext cx="68580" cy="62611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847842"/>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9" name="TextBox 38"/>
          <p:cNvSpPr txBox="1"/>
          <p:nvPr/>
        </p:nvSpPr>
        <p:spPr>
          <a:xfrm>
            <a:off x="640080" y="610387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予約・請求のスキーマを、運用開始前のいま入れておくべきでしょうか。それとも実際の運用で要件が固まってから作るほうが結果的に安いでしょうか。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直近で決めたい拡張</a:t>
            </a:r>
            <a:r>
              <a:rPr sz="1250" b="0" i="0">
                <a:solidFill>
                  <a:srgbClr val="64748B"/>
                </a:solidFill>
                <a:latin typeface="Meiryo"/>
                <a:cs typeface="Meiryo"/>
                <a:ea typeface="Meiryo"/>
              </a:rPr>
              <a:t>   領収書の「顧客請求 / 会社立替」の区別と、クーポンの記録</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現場からの要望。現状は表現できていない</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486400" cy="1874519"/>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188720"/>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現状:表現できていない2つのこと</a:t>
            </a:r>
          </a:p>
        </p:txBody>
      </p:sp>
      <p:sp>
        <p:nvSpPr>
          <p:cNvPr id="9" name="TextBox 8"/>
          <p:cNvSpPr txBox="1"/>
          <p:nvPr/>
        </p:nvSpPr>
        <p:spPr>
          <a:xfrm>
            <a:off x="640080" y="1508760"/>
            <a:ext cx="5120640" cy="18288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① 領収書の負担者</a:t>
            </a:r>
            <a:r>
              <a:rPr sz="1100" b="0">
                <a:solidFill>
                  <a:srgbClr val="14223A"/>
                </a:solidFill>
                <a:latin typeface="Meiryo"/>
                <a:cs typeface="Meiryo"/>
                <a:ea typeface="Meiryo"/>
              </a:rPr>
              <a:t>  顧客に紐付くか否か(customer_id が空か)でしか区別できない。ガレージ代のように「顧客の訪問に紐付くが会社が負担する」経費を表せない</a:t>
            </a:r>
          </a:p>
          <a:p>
            <a:pPr marL="182880" indent="-182880">
              <a:lnSpc>
                <a:spcPct val="132000"/>
              </a:lnSpc>
              <a:spcBef>
                <a:spcPts val="800"/>
              </a:spcBef>
              <a:buClr>
                <a:srgbClr val="0369A1"/>
              </a:buClr>
              <a:buFont typeface="Meiryo"/>
              <a:buChar char="▪"/>
            </a:pPr>
            <a:r>
              <a:rPr sz="1100" b="1">
                <a:solidFill>
                  <a:srgbClr val="14223A"/>
                </a:solidFill>
                <a:latin typeface="Meiryo"/>
                <a:cs typeface="Meiryo"/>
                <a:ea typeface="Meiryo"/>
              </a:rPr>
              <a:t>② クーポンの適用</a:t>
            </a:r>
            <a:r>
              <a:rPr sz="1100" b="0">
                <a:solidFill>
                  <a:srgbClr val="14223A"/>
                </a:solidFill>
                <a:latin typeface="Meiryo"/>
                <a:cs typeface="Meiryo"/>
                <a:ea typeface="Meiryo"/>
              </a:rPr>
              <a:t>  顧客メモの自由記述に「クーポン利用 25枚利用」などと書かれているだけ。残枚数も使用履歴も集計できない</a:t>
            </a:r>
          </a:p>
        </p:txBody>
      </p:sp>
      <p:sp>
        <p:nvSpPr>
          <p:cNvPr id="10" name="Rounded Rectangle 9"/>
          <p:cNvSpPr/>
          <p:nvPr/>
        </p:nvSpPr>
        <p:spPr>
          <a:xfrm>
            <a:off x="457200" y="3154680"/>
            <a:ext cx="5486400" cy="100584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3246120"/>
            <a:ext cx="5212080" cy="868680"/>
          </a:xfrm>
          <a:prstGeom prst="rect">
            <a:avLst/>
          </a:prstGeom>
          <a:noFill/>
        </p:spPr>
        <p:txBody>
          <a:bodyPr wrap="square" lIns="0" rIns="0" tIns="0" bIns="0" anchor="t">
            <a:spAutoFit/>
          </a:bodyPr>
          <a:lstStyle/>
          <a:p>
            <a:pPr algn="l">
              <a:lnSpc>
                <a:spcPct val="140000"/>
              </a:lnSpc>
              <a:buNone/>
            </a:pPr>
            <a:r>
              <a:rPr sz="1050" b="0" i="0">
                <a:solidFill>
                  <a:srgbClr val="14223A"/>
                </a:solidFill>
                <a:latin typeface="Consolas"/>
                <a:cs typeface="Consolas"/>
                <a:ea typeface="Consolas"/>
              </a:rPr>
              <a:t>customers.memo(自由記述)の実例:
  「月末払い承諾済 / クーポン利用 25枚利用 / 駐車場代 600円」</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拡張案</a:t>
            </a:r>
          </a:p>
        </p:txBody>
      </p:sp>
      <p:sp>
        <p:nvSpPr>
          <p:cNvPr id="13" name="Rounded Rectangle 12"/>
          <p:cNvSpPr/>
          <p:nvPr/>
        </p:nvSpPr>
        <p:spPr>
          <a:xfrm>
            <a:off x="6245352" y="1389888"/>
            <a:ext cx="5486400" cy="96012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463040"/>
            <a:ext cx="516636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receipts に列を1つ足す</a:t>
            </a:r>
          </a:p>
        </p:txBody>
      </p:sp>
      <p:sp>
        <p:nvSpPr>
          <p:cNvPr id="15" name="TextBox 14"/>
          <p:cNvSpPr txBox="1"/>
          <p:nvPr/>
        </p:nvSpPr>
        <p:spPr>
          <a:xfrm>
            <a:off x="6400800" y="1719072"/>
            <a:ext cx="5212080"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billing_type:顧客請求 / 会社負担 の2値。顧客に紐付かない領収書は必ず会社負担になるようデータベース側で制約する</a:t>
            </a:r>
          </a:p>
        </p:txBody>
      </p:sp>
      <p:sp>
        <p:nvSpPr>
          <p:cNvPr id="16" name="Rounded Rectangle 15"/>
          <p:cNvSpPr/>
          <p:nvPr/>
        </p:nvSpPr>
        <p:spPr>
          <a:xfrm>
            <a:off x="6245352" y="2487168"/>
            <a:ext cx="5486400" cy="585216"/>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51176"/>
            <a:ext cx="516636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coupons</a:t>
            </a:r>
          </a:p>
        </p:txBody>
      </p:sp>
      <p:sp>
        <p:nvSpPr>
          <p:cNvPr id="18" name="TextBox 17"/>
          <p:cNvSpPr txBox="1"/>
          <p:nvPr/>
        </p:nvSpPr>
        <p:spPr>
          <a:xfrm>
            <a:off x="6400800" y="2779776"/>
            <a:ext cx="5212080" cy="256032"/>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クーポンの定義(名称・種別・割引額または枚数)</a:t>
            </a:r>
          </a:p>
        </p:txBody>
      </p:sp>
      <p:sp>
        <p:nvSpPr>
          <p:cNvPr id="19" name="Rounded Rectangle 18"/>
          <p:cNvSpPr/>
          <p:nvPr/>
        </p:nvSpPr>
        <p:spPr>
          <a:xfrm>
            <a:off x="6245352" y="3145536"/>
            <a:ext cx="5486400" cy="585216"/>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209544"/>
            <a:ext cx="516636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customer_coupon_balances</a:t>
            </a:r>
          </a:p>
        </p:txBody>
      </p:sp>
      <p:sp>
        <p:nvSpPr>
          <p:cNvPr id="21" name="TextBox 20"/>
          <p:cNvSpPr txBox="1"/>
          <p:nvPr/>
        </p:nvSpPr>
        <p:spPr>
          <a:xfrm>
            <a:off x="6400800" y="3438144"/>
            <a:ext cx="5212080" cy="256032"/>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顧客ごとの残枚数・残額</a:t>
            </a:r>
          </a:p>
        </p:txBody>
      </p:sp>
      <p:sp>
        <p:nvSpPr>
          <p:cNvPr id="22" name="Rounded Rectangle 21"/>
          <p:cNvSpPr/>
          <p:nvPr/>
        </p:nvSpPr>
        <p:spPr>
          <a:xfrm>
            <a:off x="6245352" y="3803904"/>
            <a:ext cx="5486400" cy="585216"/>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0" y="3867912"/>
            <a:ext cx="516636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coupon_usages</a:t>
            </a:r>
          </a:p>
        </p:txBody>
      </p:sp>
      <p:sp>
        <p:nvSpPr>
          <p:cNvPr id="24" name="TextBox 23"/>
          <p:cNvSpPr txBox="1"/>
          <p:nvPr/>
        </p:nvSpPr>
        <p:spPr>
          <a:xfrm>
            <a:off x="6400800" y="4096512"/>
            <a:ext cx="5212080" cy="256032"/>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使用履歴。いつ・誰が・どの訪問(日報)で使ったか</a:t>
            </a:r>
          </a:p>
        </p:txBody>
      </p:sp>
      <p:sp>
        <p:nvSpPr>
          <p:cNvPr id="25" name="TextBox 24"/>
          <p:cNvSpPr txBox="1"/>
          <p:nvPr/>
        </p:nvSpPr>
        <p:spPr>
          <a:xfrm>
            <a:off x="6245352" y="4498848"/>
            <a:ext cx="5486400" cy="27432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3枚とも既存の規約(tenant_id + 複合外部キー + RLS)に載せる</a:t>
            </a:r>
          </a:p>
        </p:txBody>
      </p:sp>
      <p:sp>
        <p:nvSpPr>
          <p:cNvPr id="26" name="Rounded Rectangle 25"/>
          <p:cNvSpPr/>
          <p:nvPr/>
        </p:nvSpPr>
        <p:spPr>
          <a:xfrm>
            <a:off x="457200" y="4800600"/>
            <a:ext cx="5486400" cy="9601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800600"/>
            <a:ext cx="68580" cy="9601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7512" y="4910328"/>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この2件は将来の請求機能の入力になる</a:t>
            </a:r>
          </a:p>
        </p:txBody>
      </p:sp>
      <p:sp>
        <p:nvSpPr>
          <p:cNvPr id="29" name="TextBox 28"/>
          <p:cNvSpPr txBox="1"/>
          <p:nvPr/>
        </p:nvSpPr>
        <p:spPr>
          <a:xfrm>
            <a:off x="667512" y="5212080"/>
            <a:ext cx="5111496" cy="4571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billing_type は請求明細の分類、coupon_usages は値引き行として使える。先に区分だけ持っておけば、請求機能を作るときに過去分も請求できる</a:t>
            </a:r>
          </a:p>
        </p:txBody>
      </p:sp>
      <p:sp>
        <p:nvSpPr>
          <p:cNvPr id="30" name="Rounded Rectangle 29"/>
          <p:cNvSpPr/>
          <p:nvPr/>
        </p:nvSpPr>
        <p:spPr>
          <a:xfrm>
            <a:off x="6245352" y="4800600"/>
            <a:ext cx="5486400" cy="9601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45352" y="4800600"/>
            <a:ext cx="68580" cy="9601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28232" y="48920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気になっている点</a:t>
            </a:r>
          </a:p>
        </p:txBody>
      </p:sp>
      <p:sp>
        <p:nvSpPr>
          <p:cNvPr id="33" name="TextBox 32"/>
          <p:cNvSpPr txBox="1"/>
          <p:nvPr/>
        </p:nvSpPr>
        <p:spPr>
          <a:xfrm>
            <a:off x="6428232" y="5148072"/>
            <a:ext cx="5138928" cy="53949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問題④(金額が文字列)と同じ話が絡みます。クーポンの割引額を持つなら、金額の型を先に決める必要があります。</a:t>
            </a:r>
          </a:p>
        </p:txBody>
      </p:sp>
      <p:sp>
        <p:nvSpPr>
          <p:cNvPr id="34" name="Rounded Rectangle 33"/>
          <p:cNvSpPr/>
          <p:nvPr/>
        </p:nvSpPr>
        <p:spPr>
          <a:xfrm>
            <a:off x="457200" y="5756402"/>
            <a:ext cx="11277295" cy="62611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756402"/>
            <a:ext cx="68580" cy="62611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847842"/>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37" name="TextBox 36"/>
          <p:cNvSpPr txBox="1"/>
          <p:nvPr/>
        </p:nvSpPr>
        <p:spPr>
          <a:xfrm>
            <a:off x="640080" y="610387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請求機能とまとめて設計すべきか、いま区分とクーポンだけ先に入れてよいか。「先に小さく入れる」場合の注意点をご教示ください。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70432"/>
          <a:ext cx="11277293" cy="4242816"/>
        </p:xfrm>
        <a:graphic>
          <a:graphicData uri="http://schemas.openxmlformats.org/drawingml/2006/table">
            <a:tbl>
              <a:tblPr firstRow="1" bandRow="1">
                <a:tableStyleId>{5C22544A-7EE6-4342-B048-85BDC9FD1C3A}</a:tableStyleId>
              </a:tblPr>
              <a:tblGrid>
                <a:gridCol w="412583"/>
                <a:gridCol w="3575727"/>
                <a:gridCol w="504269"/>
                <a:gridCol w="6784714"/>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35列を分けるべきか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18</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13・19</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勤怠のJSON 1列を分解すべきか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20</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給与直結の領域。項目ごとの列にすべきか、1日単位で扱うならJSONで足りるか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計算に使う値の型をどこで決めるか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金額・時刻・距離を文字列のまま持つか、取り込み時に数値へ正規化するか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予約・請求を土台に入れる順番</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25</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あとから足すとデータ移行が伴う。今スキーマに入れるべきか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領収書の請求区分とクーポンの入れ方</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請求機能とまとめて設計するか、区分だけ先に入れるか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11・12</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13テーブルの定義。列ごとに「なぜこの形か」をコメントで書いてある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packages/db/drizzle/*.sql</a:t>
            </a:r>
            <a:r>
              <a:rPr sz="1050" b="0">
                <a:solidFill>
                  <a:srgbClr val="14223A"/>
                </a:solidFill>
                <a:latin typeface="Meiryo"/>
                <a:cs typeface="Meiryo"/>
                <a:ea typeface="Meiryo"/>
              </a:rPr>
              <a:t>  マイグレーション8本。RLSの FORCE 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packages/db/src/tenantScope.ts</a:t>
            </a:r>
            <a:r>
              <a:rPr sz="1050" b="0">
                <a:solidFill>
                  <a:srgbClr val="14223A"/>
                </a:solidFill>
                <a:latin typeface="Meiryo"/>
                <a:cs typeface="Meiryo"/>
                <a:ea typeface="Meiryo"/>
              </a:rPr>
              <a:t>  テナントを指定してトランザクションを開く入口</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業務ロジックが外部に求める窓口の定義(26本)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doc/09_データベース構造解説.md</a:t>
            </a:r>
            <a:r>
              <a:rPr sz="1050" b="0">
                <a:solidFill>
                  <a:srgbClr val="14223A"/>
                </a:solidFill>
                <a:latin typeface="Meiryo"/>
                <a:cs typeface="Meiryo"/>
                <a:ea typeface="Meiryo"/>
              </a:rPr>
              <a:t>  本資料の詳細版。ER図・全列一覧・レビュー観点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doc/07_技術構成提案書.md</a:t>
            </a:r>
            <a:r>
              <a:rPr sz="1050" b="0">
                <a:solidFill>
                  <a:srgbClr val="14223A"/>
                </a:solidFill>
                <a:latin typeface="Meiryo"/>
                <a:cs typeface="Meiryo"/>
                <a:ea typeface="Meiryo"/>
              </a:rPr>
              <a:t>  予約・請求・カルテの設計方針(第4〜7章)</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doc/11_アーキテクチャ説明スライド.html</a:t>
            </a:r>
            <a:r>
              <a:rPr sz="1050" b="0">
                <a:solidFill>
                  <a:srgbClr val="14223A"/>
                </a:solidFill>
                <a:latin typeface="Meiryo"/>
                <a:cs typeface="Meiryo"/>
                <a:ea typeface="Meiryo"/>
              </a:rPr>
              <a:t>  発表用スライド(ブラウザで開く)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doc/13_アーキテクチャ説明資料.pptx</a:t>
            </a:r>
            <a:r>
              <a:rPr sz="105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103120"/>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301752">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